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5.xml" ContentType="application/vnd.openxmlformats-officedocument.theme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heme/theme6.xml" ContentType="application/vnd.openxmlformats-officedocument.theme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notesSlides/notesSlide1.xml" ContentType="application/vnd.openxmlformats-officedocument.presentationml.notesSlide+xml"/>
  <Override PartName="/ppt/tags/tag304.xml" ContentType="application/vnd.openxmlformats-officedocument.presentationml.tags+xml"/>
  <Override PartName="/ppt/notesSlides/notesSlide2.xml" ContentType="application/vnd.openxmlformats-officedocument.presentationml.notesSlide+xml"/>
  <Override PartName="/ppt/tags/tag305.xml" ContentType="application/vnd.openxmlformats-officedocument.presentationml.tags+xml"/>
  <Override PartName="/ppt/notesSlides/notesSlide3.xml" ContentType="application/vnd.openxmlformats-officedocument.presentationml.notesSlide+xml"/>
  <Override PartName="/ppt/tags/tag306.xml" ContentType="application/vnd.openxmlformats-officedocument.presentationml.tags+xml"/>
  <Override PartName="/ppt/notesSlides/notesSlide4.xml" ContentType="application/vnd.openxmlformats-officedocument.presentationml.notesSlide+xml"/>
  <Override PartName="/ppt/tags/tag307.xml" ContentType="application/vnd.openxmlformats-officedocument.presentationml.tags+xml"/>
  <Override PartName="/ppt/notesSlides/notesSlide5.xml" ContentType="application/vnd.openxmlformats-officedocument.presentationml.notesSlide+xml"/>
  <Override PartName="/ppt/tags/tag308.xml" ContentType="application/vnd.openxmlformats-officedocument.presentationml.tags+xml"/>
  <Override PartName="/ppt/notesSlides/notesSlide6.xml" ContentType="application/vnd.openxmlformats-officedocument.presentationml.notesSlide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notesSlides/notesSlide7.xml" ContentType="application/vnd.openxmlformats-officedocument.presentationml.notesSlide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notesSlides/notesSlide8.xml" ContentType="application/vnd.openxmlformats-officedocument.presentationml.notesSlide+xml"/>
  <Override PartName="/ppt/tags/tag321.xml" ContentType="application/vnd.openxmlformats-officedocument.presentationml.tags+xml"/>
  <Override PartName="/ppt/notesSlides/notesSlide9.xml" ContentType="application/vnd.openxmlformats-officedocument.presentationml.notesSlide+xml"/>
  <Override PartName="/ppt/tags/tag322.xml" ContentType="application/vnd.openxmlformats-officedocument.presentationml.tags+xml"/>
  <Override PartName="/ppt/notesSlides/notesSlide10.xml" ContentType="application/vnd.openxmlformats-officedocument.presentationml.notesSlide+xml"/>
  <Override PartName="/ppt/tags/tag323.xml" ContentType="application/vnd.openxmlformats-officedocument.presentationml.tags+xml"/>
  <Override PartName="/ppt/notesSlides/notesSlide11.xml" ContentType="application/vnd.openxmlformats-officedocument.presentationml.notesSlide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notesSlides/notesSlide12.xml" ContentType="application/vnd.openxmlformats-officedocument.presentationml.notesSlide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8" r:id="rId3"/>
    <p:sldMasterId id="2147483676" r:id="rId4"/>
    <p:sldMasterId id="2147483684" r:id="rId5"/>
  </p:sldMasterIdLst>
  <p:notesMasterIdLst>
    <p:notesMasterId r:id="rId32"/>
  </p:notesMasterIdLst>
  <p:sldIdLst>
    <p:sldId id="261" r:id="rId6"/>
    <p:sldId id="262" r:id="rId7"/>
    <p:sldId id="265" r:id="rId8"/>
    <p:sldId id="264" r:id="rId9"/>
    <p:sldId id="263" r:id="rId10"/>
    <p:sldId id="266" r:id="rId11"/>
    <p:sldId id="270" r:id="rId12"/>
    <p:sldId id="280" r:id="rId13"/>
    <p:sldId id="279" r:id="rId14"/>
    <p:sldId id="272" r:id="rId15"/>
    <p:sldId id="271" r:id="rId16"/>
    <p:sldId id="259" r:id="rId17"/>
    <p:sldId id="260" r:id="rId18"/>
    <p:sldId id="257" r:id="rId19"/>
    <p:sldId id="267" r:id="rId20"/>
    <p:sldId id="258" r:id="rId21"/>
    <p:sldId id="256" r:id="rId22"/>
    <p:sldId id="268" r:id="rId23"/>
    <p:sldId id="269" r:id="rId24"/>
    <p:sldId id="281" r:id="rId25"/>
    <p:sldId id="273" r:id="rId26"/>
    <p:sldId id="274" r:id="rId27"/>
    <p:sldId id="275" r:id="rId28"/>
    <p:sldId id="276" r:id="rId29"/>
    <p:sldId id="277" r:id="rId30"/>
    <p:sldId id="27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91" d="100"/>
          <a:sy n="91" d="100"/>
        </p:scale>
        <p:origin x="6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1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E1BF13-8F4E-48FC-99BB-48F5EF3E4AE7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8DC23-CEF8-4557-9195-6E043D55A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23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A3944-0783-7B46-B297-A4502688E5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9889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A3944-0783-7B46-B297-A4502688E5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6176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A3944-0783-7B46-B297-A4502688E5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460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A3944-0783-7B46-B297-A4502688E5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7771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A3944-0783-7B46-B297-A4502688E5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611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A3944-0783-7B46-B297-A4502688E5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7747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EBCF4-26FC-4F76-8DA1-52FDDC328D4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heinhardt Pan Light" panose="020B0404020101020102" pitchFamily="34" charset="0"/>
                <a:ea typeface="+mn-ea"/>
                <a:cs typeface="Theinhardt Pan Light" panose="020B0404020101020102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heinhardt Pan Light" panose="020B0404020101020102" pitchFamily="34" charset="0"/>
              <a:ea typeface="+mn-ea"/>
              <a:cs typeface="Theinhardt Pan Light" panose="020B04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395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A3944-0783-7B46-B297-A4502688E5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3003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A3944-0783-7B46-B297-A4502688E5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7952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A3944-0783-7B46-B297-A4502688E5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4348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4A3944-0783-7B46-B297-A4502688E5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33328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5608CD-79BC-4CC4-8D92-071FE513304B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347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22.xml"/><Relationship Id="rId7" Type="http://schemas.openxmlformats.org/officeDocument/2006/relationships/slideMaster" Target="../slideMasters/slideMaster2.xml"/><Relationship Id="rId12" Type="http://schemas.openxmlformats.org/officeDocument/2006/relationships/image" Target="../media/image5.svg"/><Relationship Id="rId2" Type="http://schemas.openxmlformats.org/officeDocument/2006/relationships/tags" Target="../tags/tag21.xml"/><Relationship Id="rId1" Type="http://schemas.openxmlformats.org/officeDocument/2006/relationships/vmlDrawing" Target="../drawings/vmlDrawing2.vml"/><Relationship Id="rId6" Type="http://schemas.openxmlformats.org/officeDocument/2006/relationships/tags" Target="../tags/tag25.xml"/><Relationship Id="rId11" Type="http://schemas.openxmlformats.org/officeDocument/2006/relationships/image" Target="../media/image4.png"/><Relationship Id="rId5" Type="http://schemas.openxmlformats.org/officeDocument/2006/relationships/tags" Target="../tags/tag24.xml"/><Relationship Id="rId10" Type="http://schemas.openxmlformats.org/officeDocument/2006/relationships/image" Target="../media/image2.emf"/><Relationship Id="rId4" Type="http://schemas.openxmlformats.org/officeDocument/2006/relationships/tags" Target="../tags/tag23.xml"/><Relationship Id="rId9" Type="http://schemas.openxmlformats.org/officeDocument/2006/relationships/oleObject" Target="../embeddings/oleObject2.bin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image" Target="../media/image6.png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5.png"/><Relationship Id="rId2" Type="http://schemas.openxmlformats.org/officeDocument/2006/relationships/tags" Target="../tags/tag26.xml"/><Relationship Id="rId1" Type="http://schemas.openxmlformats.org/officeDocument/2006/relationships/vmlDrawing" Target="../drawings/vmlDrawing3.vml"/><Relationship Id="rId6" Type="http://schemas.openxmlformats.org/officeDocument/2006/relationships/tags" Target="../tags/tag30.xml"/><Relationship Id="rId11" Type="http://schemas.openxmlformats.org/officeDocument/2006/relationships/image" Target="../media/image1.emf"/><Relationship Id="rId5" Type="http://schemas.openxmlformats.org/officeDocument/2006/relationships/tags" Target="../tags/tag29.xml"/><Relationship Id="rId10" Type="http://schemas.openxmlformats.org/officeDocument/2006/relationships/oleObject" Target="../embeddings/oleObject3.bin"/><Relationship Id="rId4" Type="http://schemas.openxmlformats.org/officeDocument/2006/relationships/tags" Target="../tags/tag28.xml"/><Relationship Id="rId9" Type="http://schemas.openxmlformats.org/officeDocument/2006/relationships/slideMaster" Target="../slideMasters/slideMaster2.xml"/><Relationship Id="rId14" Type="http://schemas.openxmlformats.org/officeDocument/2006/relationships/image" Target="../media/image8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image" Target="../media/image7.png"/><Relationship Id="rId2" Type="http://schemas.openxmlformats.org/officeDocument/2006/relationships/tags" Target="../tags/tag33.xml"/><Relationship Id="rId16" Type="http://schemas.openxmlformats.org/officeDocument/2006/relationships/image" Target="../media/image1.emf"/><Relationship Id="rId1" Type="http://schemas.openxmlformats.org/officeDocument/2006/relationships/vmlDrawing" Target="../drawings/vmlDrawing4.v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5" Type="http://schemas.openxmlformats.org/officeDocument/2006/relationships/oleObject" Target="../embeddings/oleObject4.bin"/><Relationship Id="rId10" Type="http://schemas.openxmlformats.org/officeDocument/2006/relationships/tags" Target="../tags/tag41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2" Type="http://schemas.openxmlformats.org/officeDocument/2006/relationships/tags" Target="../tags/tag45.xml"/><Relationship Id="rId16" Type="http://schemas.openxmlformats.org/officeDocument/2006/relationships/image" Target="../media/image7.png"/><Relationship Id="rId1" Type="http://schemas.openxmlformats.org/officeDocument/2006/relationships/vmlDrawing" Target="../drawings/vmlDrawing5.v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5" Type="http://schemas.openxmlformats.org/officeDocument/2006/relationships/tags" Target="../tags/tag48.xml"/><Relationship Id="rId15" Type="http://schemas.openxmlformats.org/officeDocument/2006/relationships/image" Target="../media/image1.emf"/><Relationship Id="rId10" Type="http://schemas.openxmlformats.org/officeDocument/2006/relationships/tags" Target="../tags/tag53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oleObject" Target="../embeddings/oleObject5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image" Target="../media/image6.png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image" Target="../media/image5.png"/><Relationship Id="rId2" Type="http://schemas.openxmlformats.org/officeDocument/2006/relationships/tags" Target="../tags/tag56.xml"/><Relationship Id="rId1" Type="http://schemas.openxmlformats.org/officeDocument/2006/relationships/vmlDrawing" Target="../drawings/vmlDrawing6.vml"/><Relationship Id="rId6" Type="http://schemas.openxmlformats.org/officeDocument/2006/relationships/tags" Target="../tags/tag60.xml"/><Relationship Id="rId11" Type="http://schemas.openxmlformats.org/officeDocument/2006/relationships/image" Target="../media/image1.emf"/><Relationship Id="rId5" Type="http://schemas.openxmlformats.org/officeDocument/2006/relationships/tags" Target="../tags/tag59.xml"/><Relationship Id="rId10" Type="http://schemas.openxmlformats.org/officeDocument/2006/relationships/oleObject" Target="../embeddings/oleObject6.bin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2.xml"/><Relationship Id="rId14" Type="http://schemas.openxmlformats.org/officeDocument/2006/relationships/image" Target="../media/image8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image" Target="../media/image8.emf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oleObject" Target="../embeddings/oleObject7.bin"/><Relationship Id="rId2" Type="http://schemas.openxmlformats.org/officeDocument/2006/relationships/tags" Target="../tags/tag63.xml"/><Relationship Id="rId16" Type="http://schemas.openxmlformats.org/officeDocument/2006/relationships/image" Target="../media/image8.svg"/><Relationship Id="rId1" Type="http://schemas.openxmlformats.org/officeDocument/2006/relationships/vmlDrawing" Target="../drawings/vmlDrawing7.vml"/><Relationship Id="rId6" Type="http://schemas.openxmlformats.org/officeDocument/2006/relationships/tags" Target="../tags/tag67.xml"/><Relationship Id="rId11" Type="http://schemas.openxmlformats.org/officeDocument/2006/relationships/image" Target="../media/image7.png"/><Relationship Id="rId5" Type="http://schemas.openxmlformats.org/officeDocument/2006/relationships/tags" Target="../tags/tag66.xml"/><Relationship Id="rId15" Type="http://schemas.openxmlformats.org/officeDocument/2006/relationships/image" Target="../media/image6.png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image" Target="../media/image9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92.xml"/><Relationship Id="rId7" Type="http://schemas.openxmlformats.org/officeDocument/2006/relationships/slideMaster" Target="../slideMasters/slideMaster3.xml"/><Relationship Id="rId12" Type="http://schemas.openxmlformats.org/officeDocument/2006/relationships/image" Target="../media/image5.svg"/><Relationship Id="rId2" Type="http://schemas.openxmlformats.org/officeDocument/2006/relationships/tags" Target="../tags/tag91.xml"/><Relationship Id="rId1" Type="http://schemas.openxmlformats.org/officeDocument/2006/relationships/vmlDrawing" Target="../drawings/vmlDrawing9.vml"/><Relationship Id="rId6" Type="http://schemas.openxmlformats.org/officeDocument/2006/relationships/tags" Target="../tags/tag95.xml"/><Relationship Id="rId11" Type="http://schemas.openxmlformats.org/officeDocument/2006/relationships/image" Target="../media/image4.png"/><Relationship Id="rId5" Type="http://schemas.openxmlformats.org/officeDocument/2006/relationships/tags" Target="../tags/tag94.xml"/><Relationship Id="rId10" Type="http://schemas.openxmlformats.org/officeDocument/2006/relationships/image" Target="../media/image2.emf"/><Relationship Id="rId4" Type="http://schemas.openxmlformats.org/officeDocument/2006/relationships/tags" Target="../tags/tag93.xml"/><Relationship Id="rId9" Type="http://schemas.openxmlformats.org/officeDocument/2006/relationships/oleObject" Target="../embeddings/oleObject2.bin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image" Target="../media/image6.png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image" Target="../media/image5.png"/><Relationship Id="rId2" Type="http://schemas.openxmlformats.org/officeDocument/2006/relationships/tags" Target="../tags/tag96.xml"/><Relationship Id="rId1" Type="http://schemas.openxmlformats.org/officeDocument/2006/relationships/vmlDrawing" Target="../drawings/vmlDrawing10.vml"/><Relationship Id="rId6" Type="http://schemas.openxmlformats.org/officeDocument/2006/relationships/tags" Target="../tags/tag100.xml"/><Relationship Id="rId11" Type="http://schemas.openxmlformats.org/officeDocument/2006/relationships/image" Target="../media/image1.emf"/><Relationship Id="rId5" Type="http://schemas.openxmlformats.org/officeDocument/2006/relationships/tags" Target="../tags/tag99.xml"/><Relationship Id="rId10" Type="http://schemas.openxmlformats.org/officeDocument/2006/relationships/oleObject" Target="../embeddings/oleObject3.bin"/><Relationship Id="rId4" Type="http://schemas.openxmlformats.org/officeDocument/2006/relationships/tags" Target="../tags/tag98.xml"/><Relationship Id="rId9" Type="http://schemas.openxmlformats.org/officeDocument/2006/relationships/slideMaster" Target="../slideMasters/slideMaster3.xml"/><Relationship Id="rId14" Type="http://schemas.openxmlformats.org/officeDocument/2006/relationships/image" Target="../media/image8.sv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13" Type="http://schemas.openxmlformats.org/officeDocument/2006/relationships/tags" Target="../tags/tag114.xml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12" Type="http://schemas.openxmlformats.org/officeDocument/2006/relationships/tags" Target="../tags/tag113.xml"/><Relationship Id="rId17" Type="http://schemas.openxmlformats.org/officeDocument/2006/relationships/image" Target="../media/image7.png"/><Relationship Id="rId2" Type="http://schemas.openxmlformats.org/officeDocument/2006/relationships/tags" Target="../tags/tag103.xml"/><Relationship Id="rId16" Type="http://schemas.openxmlformats.org/officeDocument/2006/relationships/image" Target="../media/image1.emf"/><Relationship Id="rId1" Type="http://schemas.openxmlformats.org/officeDocument/2006/relationships/vmlDrawing" Target="../drawings/vmlDrawing11.vml"/><Relationship Id="rId6" Type="http://schemas.openxmlformats.org/officeDocument/2006/relationships/tags" Target="../tags/tag107.xml"/><Relationship Id="rId11" Type="http://schemas.openxmlformats.org/officeDocument/2006/relationships/tags" Target="../tags/tag112.xml"/><Relationship Id="rId5" Type="http://schemas.openxmlformats.org/officeDocument/2006/relationships/tags" Target="../tags/tag106.xml"/><Relationship Id="rId15" Type="http://schemas.openxmlformats.org/officeDocument/2006/relationships/oleObject" Target="../embeddings/oleObject4.bin"/><Relationship Id="rId10" Type="http://schemas.openxmlformats.org/officeDocument/2006/relationships/tags" Target="../tags/tag111.xml"/><Relationship Id="rId4" Type="http://schemas.openxmlformats.org/officeDocument/2006/relationships/tags" Target="../tags/tag105.xml"/><Relationship Id="rId9" Type="http://schemas.openxmlformats.org/officeDocument/2006/relationships/tags" Target="../tags/tag110.xml"/><Relationship Id="rId14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13" Type="http://schemas.openxmlformats.org/officeDocument/2006/relationships/slideMaster" Target="../slideMasters/slideMaster3.xml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tags" Target="../tags/tag125.xml"/><Relationship Id="rId2" Type="http://schemas.openxmlformats.org/officeDocument/2006/relationships/tags" Target="../tags/tag115.xml"/><Relationship Id="rId16" Type="http://schemas.openxmlformats.org/officeDocument/2006/relationships/image" Target="../media/image7.png"/><Relationship Id="rId1" Type="http://schemas.openxmlformats.org/officeDocument/2006/relationships/vmlDrawing" Target="../drawings/vmlDrawing12.v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5" Type="http://schemas.openxmlformats.org/officeDocument/2006/relationships/tags" Target="../tags/tag118.xml"/><Relationship Id="rId15" Type="http://schemas.openxmlformats.org/officeDocument/2006/relationships/image" Target="../media/image1.emf"/><Relationship Id="rId10" Type="http://schemas.openxmlformats.org/officeDocument/2006/relationships/tags" Target="../tags/tag123.xml"/><Relationship Id="rId4" Type="http://schemas.openxmlformats.org/officeDocument/2006/relationships/tags" Target="../tags/tag117.xml"/><Relationship Id="rId9" Type="http://schemas.openxmlformats.org/officeDocument/2006/relationships/tags" Target="../tags/tag122.xml"/><Relationship Id="rId14" Type="http://schemas.openxmlformats.org/officeDocument/2006/relationships/oleObject" Target="../embeddings/oleObject5.bin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32.xml"/><Relationship Id="rId13" Type="http://schemas.openxmlformats.org/officeDocument/2006/relationships/image" Target="../media/image6.png"/><Relationship Id="rId3" Type="http://schemas.openxmlformats.org/officeDocument/2006/relationships/tags" Target="../tags/tag127.xml"/><Relationship Id="rId7" Type="http://schemas.openxmlformats.org/officeDocument/2006/relationships/tags" Target="../tags/tag131.xml"/><Relationship Id="rId12" Type="http://schemas.openxmlformats.org/officeDocument/2006/relationships/image" Target="../media/image5.png"/><Relationship Id="rId2" Type="http://schemas.openxmlformats.org/officeDocument/2006/relationships/tags" Target="../tags/tag126.xml"/><Relationship Id="rId1" Type="http://schemas.openxmlformats.org/officeDocument/2006/relationships/vmlDrawing" Target="../drawings/vmlDrawing13.vml"/><Relationship Id="rId6" Type="http://schemas.openxmlformats.org/officeDocument/2006/relationships/tags" Target="../tags/tag130.xml"/><Relationship Id="rId11" Type="http://schemas.openxmlformats.org/officeDocument/2006/relationships/image" Target="../media/image1.emf"/><Relationship Id="rId5" Type="http://schemas.openxmlformats.org/officeDocument/2006/relationships/tags" Target="../tags/tag129.xml"/><Relationship Id="rId10" Type="http://schemas.openxmlformats.org/officeDocument/2006/relationships/oleObject" Target="../embeddings/oleObject6.bin"/><Relationship Id="rId4" Type="http://schemas.openxmlformats.org/officeDocument/2006/relationships/tags" Target="../tags/tag128.xml"/><Relationship Id="rId9" Type="http://schemas.openxmlformats.org/officeDocument/2006/relationships/slideMaster" Target="../slideMasters/slideMaster3.xml"/><Relationship Id="rId14" Type="http://schemas.openxmlformats.org/officeDocument/2006/relationships/image" Target="../media/image8.sv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39.xml"/><Relationship Id="rId13" Type="http://schemas.openxmlformats.org/officeDocument/2006/relationships/image" Target="../media/image8.emf"/><Relationship Id="rId3" Type="http://schemas.openxmlformats.org/officeDocument/2006/relationships/tags" Target="../tags/tag134.xml"/><Relationship Id="rId7" Type="http://schemas.openxmlformats.org/officeDocument/2006/relationships/tags" Target="../tags/tag138.xml"/><Relationship Id="rId12" Type="http://schemas.openxmlformats.org/officeDocument/2006/relationships/oleObject" Target="../embeddings/oleObject7.bin"/><Relationship Id="rId2" Type="http://schemas.openxmlformats.org/officeDocument/2006/relationships/tags" Target="../tags/tag133.xml"/><Relationship Id="rId16" Type="http://schemas.openxmlformats.org/officeDocument/2006/relationships/image" Target="../media/image8.svg"/><Relationship Id="rId1" Type="http://schemas.openxmlformats.org/officeDocument/2006/relationships/vmlDrawing" Target="../drawings/vmlDrawing14.vml"/><Relationship Id="rId6" Type="http://schemas.openxmlformats.org/officeDocument/2006/relationships/tags" Target="../tags/tag137.xml"/><Relationship Id="rId11" Type="http://schemas.openxmlformats.org/officeDocument/2006/relationships/image" Target="../media/image7.png"/><Relationship Id="rId5" Type="http://schemas.openxmlformats.org/officeDocument/2006/relationships/tags" Target="../tags/tag136.xml"/><Relationship Id="rId15" Type="http://schemas.openxmlformats.org/officeDocument/2006/relationships/image" Target="../media/image6.png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135.xml"/><Relationship Id="rId9" Type="http://schemas.openxmlformats.org/officeDocument/2006/relationships/tags" Target="../tags/tag140.xml"/><Relationship Id="rId14" Type="http://schemas.openxmlformats.org/officeDocument/2006/relationships/image" Target="../media/image9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162.xml"/><Relationship Id="rId7" Type="http://schemas.openxmlformats.org/officeDocument/2006/relationships/slideMaster" Target="../slideMasters/slideMaster4.xml"/><Relationship Id="rId12" Type="http://schemas.openxmlformats.org/officeDocument/2006/relationships/image" Target="../media/image5.svg"/><Relationship Id="rId2" Type="http://schemas.openxmlformats.org/officeDocument/2006/relationships/tags" Target="../tags/tag161.xml"/><Relationship Id="rId1" Type="http://schemas.openxmlformats.org/officeDocument/2006/relationships/vmlDrawing" Target="../drawings/vmlDrawing16.vml"/><Relationship Id="rId6" Type="http://schemas.openxmlformats.org/officeDocument/2006/relationships/tags" Target="../tags/tag165.xml"/><Relationship Id="rId11" Type="http://schemas.openxmlformats.org/officeDocument/2006/relationships/image" Target="../media/image4.png"/><Relationship Id="rId5" Type="http://schemas.openxmlformats.org/officeDocument/2006/relationships/tags" Target="../tags/tag164.xml"/><Relationship Id="rId10" Type="http://schemas.openxmlformats.org/officeDocument/2006/relationships/image" Target="../media/image2.emf"/><Relationship Id="rId4" Type="http://schemas.openxmlformats.org/officeDocument/2006/relationships/tags" Target="../tags/tag163.xml"/><Relationship Id="rId9" Type="http://schemas.openxmlformats.org/officeDocument/2006/relationships/oleObject" Target="../embeddings/oleObject2.bin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13" Type="http://schemas.openxmlformats.org/officeDocument/2006/relationships/image" Target="../media/image6.png"/><Relationship Id="rId3" Type="http://schemas.openxmlformats.org/officeDocument/2006/relationships/tags" Target="../tags/tag167.xml"/><Relationship Id="rId7" Type="http://schemas.openxmlformats.org/officeDocument/2006/relationships/tags" Target="../tags/tag171.xml"/><Relationship Id="rId12" Type="http://schemas.openxmlformats.org/officeDocument/2006/relationships/image" Target="../media/image5.png"/><Relationship Id="rId2" Type="http://schemas.openxmlformats.org/officeDocument/2006/relationships/tags" Target="../tags/tag166.xml"/><Relationship Id="rId1" Type="http://schemas.openxmlformats.org/officeDocument/2006/relationships/vmlDrawing" Target="../drawings/vmlDrawing17.vml"/><Relationship Id="rId6" Type="http://schemas.openxmlformats.org/officeDocument/2006/relationships/tags" Target="../tags/tag170.xml"/><Relationship Id="rId11" Type="http://schemas.openxmlformats.org/officeDocument/2006/relationships/image" Target="../media/image1.emf"/><Relationship Id="rId5" Type="http://schemas.openxmlformats.org/officeDocument/2006/relationships/tags" Target="../tags/tag169.xml"/><Relationship Id="rId10" Type="http://schemas.openxmlformats.org/officeDocument/2006/relationships/oleObject" Target="../embeddings/oleObject3.bin"/><Relationship Id="rId4" Type="http://schemas.openxmlformats.org/officeDocument/2006/relationships/tags" Target="../tags/tag168.xml"/><Relationship Id="rId9" Type="http://schemas.openxmlformats.org/officeDocument/2006/relationships/slideMaster" Target="../slideMasters/slideMaster4.xml"/><Relationship Id="rId14" Type="http://schemas.openxmlformats.org/officeDocument/2006/relationships/image" Target="../media/image8.sv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79.xml"/><Relationship Id="rId13" Type="http://schemas.openxmlformats.org/officeDocument/2006/relationships/tags" Target="../tags/tag184.xml"/><Relationship Id="rId3" Type="http://schemas.openxmlformats.org/officeDocument/2006/relationships/tags" Target="../tags/tag174.xml"/><Relationship Id="rId7" Type="http://schemas.openxmlformats.org/officeDocument/2006/relationships/tags" Target="../tags/tag178.xml"/><Relationship Id="rId12" Type="http://schemas.openxmlformats.org/officeDocument/2006/relationships/tags" Target="../tags/tag183.xml"/><Relationship Id="rId17" Type="http://schemas.openxmlformats.org/officeDocument/2006/relationships/image" Target="../media/image7.png"/><Relationship Id="rId2" Type="http://schemas.openxmlformats.org/officeDocument/2006/relationships/tags" Target="../tags/tag173.xml"/><Relationship Id="rId16" Type="http://schemas.openxmlformats.org/officeDocument/2006/relationships/image" Target="../media/image1.emf"/><Relationship Id="rId1" Type="http://schemas.openxmlformats.org/officeDocument/2006/relationships/vmlDrawing" Target="../drawings/vmlDrawing18.vml"/><Relationship Id="rId6" Type="http://schemas.openxmlformats.org/officeDocument/2006/relationships/tags" Target="../tags/tag177.xml"/><Relationship Id="rId11" Type="http://schemas.openxmlformats.org/officeDocument/2006/relationships/tags" Target="../tags/tag182.xml"/><Relationship Id="rId5" Type="http://schemas.openxmlformats.org/officeDocument/2006/relationships/tags" Target="../tags/tag176.xml"/><Relationship Id="rId15" Type="http://schemas.openxmlformats.org/officeDocument/2006/relationships/oleObject" Target="../embeddings/oleObject4.bin"/><Relationship Id="rId10" Type="http://schemas.openxmlformats.org/officeDocument/2006/relationships/tags" Target="../tags/tag181.xml"/><Relationship Id="rId4" Type="http://schemas.openxmlformats.org/officeDocument/2006/relationships/tags" Target="../tags/tag175.xml"/><Relationship Id="rId9" Type="http://schemas.openxmlformats.org/officeDocument/2006/relationships/tags" Target="../tags/tag180.xml"/><Relationship Id="rId14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13" Type="http://schemas.openxmlformats.org/officeDocument/2006/relationships/slideMaster" Target="../slideMasters/slideMaster4.xml"/><Relationship Id="rId3" Type="http://schemas.openxmlformats.org/officeDocument/2006/relationships/tags" Target="../tags/tag186.xml"/><Relationship Id="rId7" Type="http://schemas.openxmlformats.org/officeDocument/2006/relationships/tags" Target="../tags/tag190.xml"/><Relationship Id="rId12" Type="http://schemas.openxmlformats.org/officeDocument/2006/relationships/tags" Target="../tags/tag195.xml"/><Relationship Id="rId2" Type="http://schemas.openxmlformats.org/officeDocument/2006/relationships/tags" Target="../tags/tag185.xml"/><Relationship Id="rId16" Type="http://schemas.openxmlformats.org/officeDocument/2006/relationships/image" Target="../media/image7.png"/><Relationship Id="rId1" Type="http://schemas.openxmlformats.org/officeDocument/2006/relationships/vmlDrawing" Target="../drawings/vmlDrawing19.vml"/><Relationship Id="rId6" Type="http://schemas.openxmlformats.org/officeDocument/2006/relationships/tags" Target="../tags/tag189.xml"/><Relationship Id="rId11" Type="http://schemas.openxmlformats.org/officeDocument/2006/relationships/tags" Target="../tags/tag194.xml"/><Relationship Id="rId5" Type="http://schemas.openxmlformats.org/officeDocument/2006/relationships/tags" Target="../tags/tag188.xml"/><Relationship Id="rId15" Type="http://schemas.openxmlformats.org/officeDocument/2006/relationships/image" Target="../media/image1.emf"/><Relationship Id="rId10" Type="http://schemas.openxmlformats.org/officeDocument/2006/relationships/tags" Target="../tags/tag193.xml"/><Relationship Id="rId4" Type="http://schemas.openxmlformats.org/officeDocument/2006/relationships/tags" Target="../tags/tag187.xml"/><Relationship Id="rId9" Type="http://schemas.openxmlformats.org/officeDocument/2006/relationships/tags" Target="../tags/tag192.xml"/><Relationship Id="rId14" Type="http://schemas.openxmlformats.org/officeDocument/2006/relationships/oleObject" Target="../embeddings/oleObject5.bin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202.xml"/><Relationship Id="rId13" Type="http://schemas.openxmlformats.org/officeDocument/2006/relationships/image" Target="../media/image6.png"/><Relationship Id="rId3" Type="http://schemas.openxmlformats.org/officeDocument/2006/relationships/tags" Target="../tags/tag197.xml"/><Relationship Id="rId7" Type="http://schemas.openxmlformats.org/officeDocument/2006/relationships/tags" Target="../tags/tag201.xml"/><Relationship Id="rId12" Type="http://schemas.openxmlformats.org/officeDocument/2006/relationships/image" Target="../media/image5.png"/><Relationship Id="rId2" Type="http://schemas.openxmlformats.org/officeDocument/2006/relationships/tags" Target="../tags/tag196.xml"/><Relationship Id="rId1" Type="http://schemas.openxmlformats.org/officeDocument/2006/relationships/vmlDrawing" Target="../drawings/vmlDrawing20.vml"/><Relationship Id="rId6" Type="http://schemas.openxmlformats.org/officeDocument/2006/relationships/tags" Target="../tags/tag200.xml"/><Relationship Id="rId11" Type="http://schemas.openxmlformats.org/officeDocument/2006/relationships/image" Target="../media/image1.emf"/><Relationship Id="rId5" Type="http://schemas.openxmlformats.org/officeDocument/2006/relationships/tags" Target="../tags/tag199.xml"/><Relationship Id="rId10" Type="http://schemas.openxmlformats.org/officeDocument/2006/relationships/oleObject" Target="../embeddings/oleObject6.bin"/><Relationship Id="rId4" Type="http://schemas.openxmlformats.org/officeDocument/2006/relationships/tags" Target="../tags/tag198.xml"/><Relationship Id="rId9" Type="http://schemas.openxmlformats.org/officeDocument/2006/relationships/slideMaster" Target="../slideMasters/slideMaster4.xml"/><Relationship Id="rId14" Type="http://schemas.openxmlformats.org/officeDocument/2006/relationships/image" Target="../media/image8.sv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209.xml"/><Relationship Id="rId13" Type="http://schemas.openxmlformats.org/officeDocument/2006/relationships/image" Target="../media/image8.emf"/><Relationship Id="rId3" Type="http://schemas.openxmlformats.org/officeDocument/2006/relationships/tags" Target="../tags/tag204.xml"/><Relationship Id="rId7" Type="http://schemas.openxmlformats.org/officeDocument/2006/relationships/tags" Target="../tags/tag208.xml"/><Relationship Id="rId12" Type="http://schemas.openxmlformats.org/officeDocument/2006/relationships/oleObject" Target="../embeddings/oleObject7.bin"/><Relationship Id="rId2" Type="http://schemas.openxmlformats.org/officeDocument/2006/relationships/tags" Target="../tags/tag203.xml"/><Relationship Id="rId16" Type="http://schemas.openxmlformats.org/officeDocument/2006/relationships/image" Target="../media/image8.svg"/><Relationship Id="rId1" Type="http://schemas.openxmlformats.org/officeDocument/2006/relationships/vmlDrawing" Target="../drawings/vmlDrawing21.vml"/><Relationship Id="rId6" Type="http://schemas.openxmlformats.org/officeDocument/2006/relationships/tags" Target="../tags/tag207.xml"/><Relationship Id="rId11" Type="http://schemas.openxmlformats.org/officeDocument/2006/relationships/image" Target="../media/image7.png"/><Relationship Id="rId5" Type="http://schemas.openxmlformats.org/officeDocument/2006/relationships/tags" Target="../tags/tag206.xml"/><Relationship Id="rId15" Type="http://schemas.openxmlformats.org/officeDocument/2006/relationships/image" Target="../media/image6.png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205.xml"/><Relationship Id="rId9" Type="http://schemas.openxmlformats.org/officeDocument/2006/relationships/tags" Target="../tags/tag210.xml"/><Relationship Id="rId14" Type="http://schemas.openxmlformats.org/officeDocument/2006/relationships/image" Target="../media/image9.pn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232.xml"/><Relationship Id="rId7" Type="http://schemas.openxmlformats.org/officeDocument/2006/relationships/slideMaster" Target="../slideMasters/slideMaster5.xml"/><Relationship Id="rId12" Type="http://schemas.openxmlformats.org/officeDocument/2006/relationships/image" Target="../media/image5.svg"/><Relationship Id="rId2" Type="http://schemas.openxmlformats.org/officeDocument/2006/relationships/tags" Target="../tags/tag231.xml"/><Relationship Id="rId1" Type="http://schemas.openxmlformats.org/officeDocument/2006/relationships/vmlDrawing" Target="../drawings/vmlDrawing23.vml"/><Relationship Id="rId6" Type="http://schemas.openxmlformats.org/officeDocument/2006/relationships/tags" Target="../tags/tag235.xml"/><Relationship Id="rId11" Type="http://schemas.openxmlformats.org/officeDocument/2006/relationships/image" Target="../media/image4.png"/><Relationship Id="rId5" Type="http://schemas.openxmlformats.org/officeDocument/2006/relationships/tags" Target="../tags/tag234.xml"/><Relationship Id="rId10" Type="http://schemas.openxmlformats.org/officeDocument/2006/relationships/image" Target="../media/image2.emf"/><Relationship Id="rId4" Type="http://schemas.openxmlformats.org/officeDocument/2006/relationships/tags" Target="../tags/tag233.xml"/><Relationship Id="rId9" Type="http://schemas.openxmlformats.org/officeDocument/2006/relationships/oleObject" Target="../embeddings/oleObject2.bin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242.xml"/><Relationship Id="rId13" Type="http://schemas.openxmlformats.org/officeDocument/2006/relationships/image" Target="../media/image6.png"/><Relationship Id="rId3" Type="http://schemas.openxmlformats.org/officeDocument/2006/relationships/tags" Target="../tags/tag237.xml"/><Relationship Id="rId7" Type="http://schemas.openxmlformats.org/officeDocument/2006/relationships/tags" Target="../tags/tag241.xml"/><Relationship Id="rId12" Type="http://schemas.openxmlformats.org/officeDocument/2006/relationships/image" Target="../media/image5.png"/><Relationship Id="rId2" Type="http://schemas.openxmlformats.org/officeDocument/2006/relationships/tags" Target="../tags/tag236.xml"/><Relationship Id="rId1" Type="http://schemas.openxmlformats.org/officeDocument/2006/relationships/vmlDrawing" Target="../drawings/vmlDrawing24.vml"/><Relationship Id="rId6" Type="http://schemas.openxmlformats.org/officeDocument/2006/relationships/tags" Target="../tags/tag240.xml"/><Relationship Id="rId11" Type="http://schemas.openxmlformats.org/officeDocument/2006/relationships/image" Target="../media/image1.emf"/><Relationship Id="rId5" Type="http://schemas.openxmlformats.org/officeDocument/2006/relationships/tags" Target="../tags/tag239.xml"/><Relationship Id="rId10" Type="http://schemas.openxmlformats.org/officeDocument/2006/relationships/oleObject" Target="../embeddings/oleObject3.bin"/><Relationship Id="rId4" Type="http://schemas.openxmlformats.org/officeDocument/2006/relationships/tags" Target="../tags/tag238.xml"/><Relationship Id="rId9" Type="http://schemas.openxmlformats.org/officeDocument/2006/relationships/slideMaster" Target="../slideMasters/slideMaster5.xml"/><Relationship Id="rId14" Type="http://schemas.openxmlformats.org/officeDocument/2006/relationships/image" Target="../media/image8.sv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249.xml"/><Relationship Id="rId13" Type="http://schemas.openxmlformats.org/officeDocument/2006/relationships/tags" Target="../tags/tag254.xml"/><Relationship Id="rId3" Type="http://schemas.openxmlformats.org/officeDocument/2006/relationships/tags" Target="../tags/tag244.xml"/><Relationship Id="rId7" Type="http://schemas.openxmlformats.org/officeDocument/2006/relationships/tags" Target="../tags/tag248.xml"/><Relationship Id="rId12" Type="http://schemas.openxmlformats.org/officeDocument/2006/relationships/tags" Target="../tags/tag253.xml"/><Relationship Id="rId17" Type="http://schemas.openxmlformats.org/officeDocument/2006/relationships/image" Target="../media/image7.png"/><Relationship Id="rId2" Type="http://schemas.openxmlformats.org/officeDocument/2006/relationships/tags" Target="../tags/tag243.xml"/><Relationship Id="rId16" Type="http://schemas.openxmlformats.org/officeDocument/2006/relationships/image" Target="../media/image1.emf"/><Relationship Id="rId1" Type="http://schemas.openxmlformats.org/officeDocument/2006/relationships/vmlDrawing" Target="../drawings/vmlDrawing25.vml"/><Relationship Id="rId6" Type="http://schemas.openxmlformats.org/officeDocument/2006/relationships/tags" Target="../tags/tag247.xml"/><Relationship Id="rId11" Type="http://schemas.openxmlformats.org/officeDocument/2006/relationships/tags" Target="../tags/tag252.xml"/><Relationship Id="rId5" Type="http://schemas.openxmlformats.org/officeDocument/2006/relationships/tags" Target="../tags/tag246.xml"/><Relationship Id="rId15" Type="http://schemas.openxmlformats.org/officeDocument/2006/relationships/oleObject" Target="../embeddings/oleObject4.bin"/><Relationship Id="rId10" Type="http://schemas.openxmlformats.org/officeDocument/2006/relationships/tags" Target="../tags/tag251.xml"/><Relationship Id="rId4" Type="http://schemas.openxmlformats.org/officeDocument/2006/relationships/tags" Target="../tags/tag245.xml"/><Relationship Id="rId9" Type="http://schemas.openxmlformats.org/officeDocument/2006/relationships/tags" Target="../tags/tag250.xml"/><Relationship Id="rId14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261.xml"/><Relationship Id="rId13" Type="http://schemas.openxmlformats.org/officeDocument/2006/relationships/slideMaster" Target="../slideMasters/slideMaster5.xml"/><Relationship Id="rId3" Type="http://schemas.openxmlformats.org/officeDocument/2006/relationships/tags" Target="../tags/tag256.xml"/><Relationship Id="rId7" Type="http://schemas.openxmlformats.org/officeDocument/2006/relationships/tags" Target="../tags/tag260.xml"/><Relationship Id="rId12" Type="http://schemas.openxmlformats.org/officeDocument/2006/relationships/tags" Target="../tags/tag265.xml"/><Relationship Id="rId2" Type="http://schemas.openxmlformats.org/officeDocument/2006/relationships/tags" Target="../tags/tag255.xml"/><Relationship Id="rId16" Type="http://schemas.openxmlformats.org/officeDocument/2006/relationships/image" Target="../media/image7.png"/><Relationship Id="rId1" Type="http://schemas.openxmlformats.org/officeDocument/2006/relationships/vmlDrawing" Target="../drawings/vmlDrawing26.vml"/><Relationship Id="rId6" Type="http://schemas.openxmlformats.org/officeDocument/2006/relationships/tags" Target="../tags/tag259.xml"/><Relationship Id="rId11" Type="http://schemas.openxmlformats.org/officeDocument/2006/relationships/tags" Target="../tags/tag264.xml"/><Relationship Id="rId5" Type="http://schemas.openxmlformats.org/officeDocument/2006/relationships/tags" Target="../tags/tag258.xml"/><Relationship Id="rId15" Type="http://schemas.openxmlformats.org/officeDocument/2006/relationships/image" Target="../media/image1.emf"/><Relationship Id="rId10" Type="http://schemas.openxmlformats.org/officeDocument/2006/relationships/tags" Target="../tags/tag263.xml"/><Relationship Id="rId4" Type="http://schemas.openxmlformats.org/officeDocument/2006/relationships/tags" Target="../tags/tag257.xml"/><Relationship Id="rId9" Type="http://schemas.openxmlformats.org/officeDocument/2006/relationships/tags" Target="../tags/tag262.xml"/><Relationship Id="rId14" Type="http://schemas.openxmlformats.org/officeDocument/2006/relationships/oleObject" Target="../embeddings/oleObject5.bin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272.xml"/><Relationship Id="rId13" Type="http://schemas.openxmlformats.org/officeDocument/2006/relationships/image" Target="../media/image6.png"/><Relationship Id="rId3" Type="http://schemas.openxmlformats.org/officeDocument/2006/relationships/tags" Target="../tags/tag267.xml"/><Relationship Id="rId7" Type="http://schemas.openxmlformats.org/officeDocument/2006/relationships/tags" Target="../tags/tag271.xml"/><Relationship Id="rId12" Type="http://schemas.openxmlformats.org/officeDocument/2006/relationships/image" Target="../media/image5.png"/><Relationship Id="rId2" Type="http://schemas.openxmlformats.org/officeDocument/2006/relationships/tags" Target="../tags/tag266.xml"/><Relationship Id="rId1" Type="http://schemas.openxmlformats.org/officeDocument/2006/relationships/vmlDrawing" Target="../drawings/vmlDrawing27.vml"/><Relationship Id="rId6" Type="http://schemas.openxmlformats.org/officeDocument/2006/relationships/tags" Target="../tags/tag270.xml"/><Relationship Id="rId11" Type="http://schemas.openxmlformats.org/officeDocument/2006/relationships/image" Target="../media/image1.emf"/><Relationship Id="rId5" Type="http://schemas.openxmlformats.org/officeDocument/2006/relationships/tags" Target="../tags/tag269.xml"/><Relationship Id="rId10" Type="http://schemas.openxmlformats.org/officeDocument/2006/relationships/oleObject" Target="../embeddings/oleObject6.bin"/><Relationship Id="rId4" Type="http://schemas.openxmlformats.org/officeDocument/2006/relationships/tags" Target="../tags/tag268.xml"/><Relationship Id="rId9" Type="http://schemas.openxmlformats.org/officeDocument/2006/relationships/slideMaster" Target="../slideMasters/slideMaster5.xml"/><Relationship Id="rId14" Type="http://schemas.openxmlformats.org/officeDocument/2006/relationships/image" Target="../media/image8.sv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279.xml"/><Relationship Id="rId13" Type="http://schemas.openxmlformats.org/officeDocument/2006/relationships/image" Target="../media/image8.emf"/><Relationship Id="rId3" Type="http://schemas.openxmlformats.org/officeDocument/2006/relationships/tags" Target="../tags/tag274.xml"/><Relationship Id="rId7" Type="http://schemas.openxmlformats.org/officeDocument/2006/relationships/tags" Target="../tags/tag278.xml"/><Relationship Id="rId12" Type="http://schemas.openxmlformats.org/officeDocument/2006/relationships/oleObject" Target="../embeddings/oleObject7.bin"/><Relationship Id="rId2" Type="http://schemas.openxmlformats.org/officeDocument/2006/relationships/tags" Target="../tags/tag273.xml"/><Relationship Id="rId16" Type="http://schemas.openxmlformats.org/officeDocument/2006/relationships/image" Target="../media/image8.svg"/><Relationship Id="rId1" Type="http://schemas.openxmlformats.org/officeDocument/2006/relationships/vmlDrawing" Target="../drawings/vmlDrawing28.vml"/><Relationship Id="rId6" Type="http://schemas.openxmlformats.org/officeDocument/2006/relationships/tags" Target="../tags/tag277.xml"/><Relationship Id="rId11" Type="http://schemas.openxmlformats.org/officeDocument/2006/relationships/image" Target="../media/image7.png"/><Relationship Id="rId5" Type="http://schemas.openxmlformats.org/officeDocument/2006/relationships/tags" Target="../tags/tag276.xml"/><Relationship Id="rId15" Type="http://schemas.openxmlformats.org/officeDocument/2006/relationships/image" Target="../media/image6.png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275.xml"/><Relationship Id="rId9" Type="http://schemas.openxmlformats.org/officeDocument/2006/relationships/tags" Target="../tags/tag280.xml"/><Relationship Id="rId14" Type="http://schemas.openxmlformats.org/officeDocument/2006/relationships/image" Target="../media/image9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282.xml"/><Relationship Id="rId7" Type="http://schemas.openxmlformats.org/officeDocument/2006/relationships/slideMaster" Target="../slideMasters/slideMaster5.xml"/><Relationship Id="rId12" Type="http://schemas.openxmlformats.org/officeDocument/2006/relationships/image" Target="../media/image50.svg"/><Relationship Id="rId2" Type="http://schemas.openxmlformats.org/officeDocument/2006/relationships/tags" Target="../tags/tag281.xml"/><Relationship Id="rId1" Type="http://schemas.openxmlformats.org/officeDocument/2006/relationships/vmlDrawing" Target="../drawings/vmlDrawing29.vml"/><Relationship Id="rId6" Type="http://schemas.openxmlformats.org/officeDocument/2006/relationships/tags" Target="../tags/tag285.xml"/><Relationship Id="rId11" Type="http://schemas.openxmlformats.org/officeDocument/2006/relationships/image" Target="../media/image10.png"/><Relationship Id="rId5" Type="http://schemas.openxmlformats.org/officeDocument/2006/relationships/tags" Target="../tags/tag284.xml"/><Relationship Id="rId10" Type="http://schemas.openxmlformats.org/officeDocument/2006/relationships/image" Target="../media/image2.emf"/><Relationship Id="rId4" Type="http://schemas.openxmlformats.org/officeDocument/2006/relationships/tags" Target="../tags/tag283.xml"/><Relationship Id="rId9" Type="http://schemas.openxmlformats.org/officeDocument/2006/relationships/oleObject" Target="../embeddings/oleObject8.bin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294.xml"/><Relationship Id="rId3" Type="http://schemas.openxmlformats.org/officeDocument/2006/relationships/tags" Target="../tags/tag289.xml"/><Relationship Id="rId7" Type="http://schemas.openxmlformats.org/officeDocument/2006/relationships/tags" Target="../tags/tag293.xml"/><Relationship Id="rId2" Type="http://schemas.openxmlformats.org/officeDocument/2006/relationships/tags" Target="../tags/tag288.xml"/><Relationship Id="rId1" Type="http://schemas.openxmlformats.org/officeDocument/2006/relationships/vmlDrawing" Target="../drawings/vmlDrawing31.vml"/><Relationship Id="rId6" Type="http://schemas.openxmlformats.org/officeDocument/2006/relationships/tags" Target="../tags/tag292.xml"/><Relationship Id="rId11" Type="http://schemas.openxmlformats.org/officeDocument/2006/relationships/image" Target="../media/image1.emf"/><Relationship Id="rId5" Type="http://schemas.openxmlformats.org/officeDocument/2006/relationships/tags" Target="../tags/tag291.xml"/><Relationship Id="rId10" Type="http://schemas.openxmlformats.org/officeDocument/2006/relationships/oleObject" Target="../embeddings/oleObject10.bin"/><Relationship Id="rId4" Type="http://schemas.openxmlformats.org/officeDocument/2006/relationships/tags" Target="../tags/tag290.xml"/><Relationship Id="rId9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301.xml"/><Relationship Id="rId3" Type="http://schemas.openxmlformats.org/officeDocument/2006/relationships/tags" Target="../tags/tag296.xml"/><Relationship Id="rId7" Type="http://schemas.openxmlformats.org/officeDocument/2006/relationships/tags" Target="../tags/tag300.xml"/><Relationship Id="rId2" Type="http://schemas.openxmlformats.org/officeDocument/2006/relationships/tags" Target="../tags/tag295.xml"/><Relationship Id="rId1" Type="http://schemas.openxmlformats.org/officeDocument/2006/relationships/vmlDrawing" Target="../drawings/vmlDrawing32.vml"/><Relationship Id="rId6" Type="http://schemas.openxmlformats.org/officeDocument/2006/relationships/tags" Target="../tags/tag299.xml"/><Relationship Id="rId11" Type="http://schemas.openxmlformats.org/officeDocument/2006/relationships/image" Target="../media/image1.emf"/><Relationship Id="rId5" Type="http://schemas.openxmlformats.org/officeDocument/2006/relationships/tags" Target="../tags/tag298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297.xml"/><Relationship Id="rId9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2324-AA30-43F8-8585-A0CBA46E1AFD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67A5B-D4BB-4509-AD74-6B03E12E0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54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2324-AA30-43F8-8585-A0CBA46E1AFD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67A5B-D4BB-4509-AD74-6B03E12E0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2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2324-AA30-43F8-8585-A0CBA46E1AFD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67A5B-D4BB-4509-AD74-6B03E12E0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619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2324-AA30-43F8-8585-A0CBA46E1AFD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67A5B-D4BB-4509-AD74-6B03E12E0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48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2324-AA30-43F8-8585-A0CBA46E1AFD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67A5B-D4BB-4509-AD74-6B03E12E0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641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2324-AA30-43F8-8585-A0CBA46E1AFD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67A5B-D4BB-4509-AD74-6B03E12E0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51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2324-AA30-43F8-8585-A0CBA46E1AFD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67A5B-D4BB-4509-AD74-6B03E12E0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1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2324-AA30-43F8-8585-A0CBA46E1AFD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67A5B-D4BB-4509-AD74-6B03E12E0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384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2324-AA30-43F8-8585-A0CBA46E1AFD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67A5B-D4BB-4509-AD74-6B03E12E0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2324-AA30-43F8-8585-A0CBA46E1AFD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67A5B-D4BB-4509-AD74-6B03E12E0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307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2324-AA30-43F8-8585-A0CBA46E1AFD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67A5B-D4BB-4509-AD74-6B03E12E0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010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Layouts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EBFC2AB-CB7A-4475-8A97-799AAC535F6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1272509" y="5115944"/>
            <a:ext cx="972679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1400" dirty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5"/>
            </p:custDataLst>
          </p:nvPr>
        </p:nvSpPr>
        <p:spPr>
          <a:xfrm>
            <a:off x="1272509" y="4698335"/>
            <a:ext cx="9726795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2000" dirty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1272509" y="3731056"/>
            <a:ext cx="9726795" cy="6771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EE9B21-6C25-4327-AF43-A071A9EF521B}"/>
              </a:ext>
            </a:extLst>
          </p:cNvPr>
          <p:cNvCxnSpPr/>
          <p:nvPr userDrawn="1"/>
        </p:nvCxnSpPr>
        <p:spPr>
          <a:xfrm>
            <a:off x="1257300" y="5054600"/>
            <a:ext cx="1092817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Graphic 18">
            <a:extLst>
              <a:ext uri="{FF2B5EF4-FFF2-40B4-BE49-F238E27FC236}">
                <a16:creationId xmlns:a16="http://schemas.microsoft.com/office/drawing/2014/main" id="{5B731D40-5C11-4421-9FA9-BFF375FA03E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36338" y="275887"/>
            <a:ext cx="2306599" cy="10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618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Layou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42232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1569982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796EC9-21BC-451B-8C4E-0E8AC839F97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39704"/>
            <a:ext cx="9838591" cy="4571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00925B4-5B70-4C69-B633-0348E294959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736" y="6335550"/>
            <a:ext cx="935291" cy="4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4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 bwMode="black"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903861"/>
            <a:ext cx="6967728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13"/>
            </p:custDataLst>
          </p:nvPr>
        </p:nvSpPr>
        <p:spPr>
          <a:xfrm>
            <a:off x="8173370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E9A0CD-DA55-4EC3-7CB8-DC64072D9A12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7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827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think-cell Slide" r:id="rId14" imgW="413" imgH="416" progId="TCLayout.ActiveDocument.1">
                  <p:embed/>
                </p:oleObj>
              </mc:Choice>
              <mc:Fallback>
                <p:oleObj name="think-cell Slide" r:id="rId14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 bwMode="black"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903861"/>
            <a:ext cx="6967728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12"/>
            </p:custDataLst>
          </p:nvPr>
        </p:nvSpPr>
        <p:spPr>
          <a:xfrm>
            <a:off x="8173370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E9A0CD-DA55-4EC3-7CB8-DC64072D9A12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7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532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42232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b="0" baseline="0" dirty="0"/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1569982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rtl="0"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796EC9-21BC-451B-8C4E-0E8AC839F97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39704"/>
            <a:ext cx="9838591" cy="4571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00925B4-5B70-4C69-B633-0348E294959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736" y="6335550"/>
            <a:ext cx="935291" cy="4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125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F8909-5EC3-2ADB-3CFC-5C51B4F63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B5530-9BE6-8DF0-AB43-108006DB8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95710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2">
              <a:alpha val="7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4433589-769E-4F84-AE9A-6BFCEB3A976D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76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think-cell Slide" r:id="rId12" imgW="572" imgH="588" progId="TCLayout.ActiveDocument.1">
                  <p:embed/>
                </p:oleObj>
              </mc:Choice>
              <mc:Fallback>
                <p:oleObj name="think-cell Slide" r:id="rId12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519011"/>
            <a:ext cx="6967728" cy="384721"/>
          </a:xfrm>
        </p:spPr>
        <p:txBody>
          <a:bodyPr vert="horz" wrap="square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1042232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32BCC680-F1EE-427D-A8F1-412B25A3F0FA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A4884569-9420-43F0-ACB0-9A0654F18D0B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1569982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829A8F-5193-4BAE-AAFA-333B8DBBEE62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939704"/>
            <a:ext cx="7522464" cy="4571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6BE6700-EC25-4E06-8788-6036F785DB8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4736" y="6335550"/>
            <a:ext cx="935291" cy="4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696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Layouts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EBFC2AB-CB7A-4475-8A97-799AAC535F6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1272509" y="5115944"/>
            <a:ext cx="972679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1400" dirty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5"/>
            </p:custDataLst>
          </p:nvPr>
        </p:nvSpPr>
        <p:spPr>
          <a:xfrm>
            <a:off x="1272509" y="4698335"/>
            <a:ext cx="9726795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2000" dirty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1272509" y="3731056"/>
            <a:ext cx="9726795" cy="6771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EE9B21-6C25-4327-AF43-A071A9EF521B}"/>
              </a:ext>
            </a:extLst>
          </p:cNvPr>
          <p:cNvCxnSpPr/>
          <p:nvPr userDrawn="1"/>
        </p:nvCxnSpPr>
        <p:spPr>
          <a:xfrm>
            <a:off x="1257300" y="5054600"/>
            <a:ext cx="1092817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Graphic 18">
            <a:extLst>
              <a:ext uri="{FF2B5EF4-FFF2-40B4-BE49-F238E27FC236}">
                <a16:creationId xmlns:a16="http://schemas.microsoft.com/office/drawing/2014/main" id="{5B731D40-5C11-4421-9FA9-BFF375FA03E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36338" y="275887"/>
            <a:ext cx="2306599" cy="10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553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Layou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4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42232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1569982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796EC9-21BC-451B-8C4E-0E8AC839F97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39704"/>
            <a:ext cx="9838591" cy="4571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00925B4-5B70-4C69-B633-0348E294959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736" y="6335550"/>
            <a:ext cx="935291" cy="4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352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 bwMode="black"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903861"/>
            <a:ext cx="6967728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13"/>
            </p:custDataLst>
          </p:nvPr>
        </p:nvSpPr>
        <p:spPr>
          <a:xfrm>
            <a:off x="8173370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E9A0CD-DA55-4EC3-7CB8-DC64072D9A12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7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074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think-cell Slide" r:id="rId14" imgW="413" imgH="416" progId="TCLayout.ActiveDocument.1">
                  <p:embed/>
                </p:oleObj>
              </mc:Choice>
              <mc:Fallback>
                <p:oleObj name="think-cell Slide" r:id="rId14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 bwMode="black"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903861"/>
            <a:ext cx="6967728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12"/>
            </p:custDataLst>
          </p:nvPr>
        </p:nvSpPr>
        <p:spPr>
          <a:xfrm>
            <a:off x="8173370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E9A0CD-DA55-4EC3-7CB8-DC64072D9A12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7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1041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42232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b="0" baseline="0" dirty="0"/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1569982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rtl="0"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796EC9-21BC-451B-8C4E-0E8AC839F97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39704"/>
            <a:ext cx="9838591" cy="4571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00925B4-5B70-4C69-B633-0348E294959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736" y="6335550"/>
            <a:ext cx="935291" cy="4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536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F8909-5EC3-2ADB-3CFC-5C51B4F63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B5530-9BE6-8DF0-AB43-108006DB8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45532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2">
              <a:alpha val="7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4433589-769E-4F84-AE9A-6BFCEB3A976D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76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0" name="think-cell Slide" r:id="rId12" imgW="572" imgH="588" progId="TCLayout.ActiveDocument.1">
                  <p:embed/>
                </p:oleObj>
              </mc:Choice>
              <mc:Fallback>
                <p:oleObj name="think-cell Slide" r:id="rId12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519011"/>
            <a:ext cx="6967728" cy="384721"/>
          </a:xfrm>
        </p:spPr>
        <p:txBody>
          <a:bodyPr vert="horz" wrap="square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1042232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32BCC680-F1EE-427D-A8F1-412B25A3F0FA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A4884569-9420-43F0-ACB0-9A0654F18D0B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1569982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829A8F-5193-4BAE-AAFA-333B8DBBEE62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939704"/>
            <a:ext cx="7522464" cy="4571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6BE6700-EC25-4E06-8788-6036F785DB8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4736" y="6335550"/>
            <a:ext cx="935291" cy="4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17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Layouts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EBFC2AB-CB7A-4475-8A97-799AAC535F6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1272509" y="5115944"/>
            <a:ext cx="972679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1400" dirty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5"/>
            </p:custDataLst>
          </p:nvPr>
        </p:nvSpPr>
        <p:spPr>
          <a:xfrm>
            <a:off x="1272509" y="4698335"/>
            <a:ext cx="9726795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2000" dirty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1272509" y="3731056"/>
            <a:ext cx="9726795" cy="6771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EE9B21-6C25-4327-AF43-A071A9EF521B}"/>
              </a:ext>
            </a:extLst>
          </p:cNvPr>
          <p:cNvCxnSpPr/>
          <p:nvPr userDrawn="1"/>
        </p:nvCxnSpPr>
        <p:spPr>
          <a:xfrm>
            <a:off x="1257300" y="5054600"/>
            <a:ext cx="1092817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Graphic 18">
            <a:extLst>
              <a:ext uri="{FF2B5EF4-FFF2-40B4-BE49-F238E27FC236}">
                <a16:creationId xmlns:a16="http://schemas.microsoft.com/office/drawing/2014/main" id="{5B731D40-5C11-4421-9FA9-BFF375FA03E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36338" y="275887"/>
            <a:ext cx="2306599" cy="10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3232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Layou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42232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1569982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796EC9-21BC-451B-8C4E-0E8AC839F97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39704"/>
            <a:ext cx="9838591" cy="4571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00925B4-5B70-4C69-B633-0348E294959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736" y="6335550"/>
            <a:ext cx="935291" cy="4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156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 bwMode="black"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903861"/>
            <a:ext cx="6967728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13"/>
            </p:custDataLst>
          </p:nvPr>
        </p:nvSpPr>
        <p:spPr>
          <a:xfrm>
            <a:off x="8173370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E9A0CD-DA55-4EC3-7CB8-DC64072D9A12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7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2546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think-cell Slide" r:id="rId14" imgW="413" imgH="416" progId="TCLayout.ActiveDocument.1">
                  <p:embed/>
                </p:oleObj>
              </mc:Choice>
              <mc:Fallback>
                <p:oleObj name="think-cell Slide" r:id="rId14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 bwMode="black"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903861"/>
            <a:ext cx="6967728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12"/>
            </p:custDataLst>
          </p:nvPr>
        </p:nvSpPr>
        <p:spPr>
          <a:xfrm>
            <a:off x="8173370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E9A0CD-DA55-4EC3-7CB8-DC64072D9A12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7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918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42232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b="0" baseline="0" dirty="0"/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1569982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rtl="0"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796EC9-21BC-451B-8C4E-0E8AC839F97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39704"/>
            <a:ext cx="9838591" cy="4571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00925B4-5B70-4C69-B633-0348E294959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736" y="6335550"/>
            <a:ext cx="935291" cy="4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26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F8909-5EC3-2ADB-3CFC-5C51B4F63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B5530-9BE6-8DF0-AB43-108006DB8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30000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2">
              <a:alpha val="7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4433589-769E-4F84-AE9A-6BFCEB3A976D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76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8" name="think-cell Slide" r:id="rId12" imgW="572" imgH="588" progId="TCLayout.ActiveDocument.1">
                  <p:embed/>
                </p:oleObj>
              </mc:Choice>
              <mc:Fallback>
                <p:oleObj name="think-cell Slide" r:id="rId12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519011"/>
            <a:ext cx="6967728" cy="384721"/>
          </a:xfrm>
        </p:spPr>
        <p:txBody>
          <a:bodyPr vert="horz" wrap="square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1042232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32BCC680-F1EE-427D-A8F1-412B25A3F0FA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A4884569-9420-43F0-ACB0-9A0654F18D0B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1569982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829A8F-5193-4BAE-AAFA-333B8DBBEE62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939704"/>
            <a:ext cx="7522464" cy="4571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6BE6700-EC25-4E06-8788-6036F785DB8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4736" y="6335550"/>
            <a:ext cx="935291" cy="4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6978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Layouts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EBFC2AB-CB7A-4475-8A97-799AAC535F6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1272509" y="5115944"/>
            <a:ext cx="972679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1400" dirty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5"/>
            </p:custDataLst>
          </p:nvPr>
        </p:nvSpPr>
        <p:spPr>
          <a:xfrm>
            <a:off x="1272509" y="4698335"/>
            <a:ext cx="9726795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2000" dirty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1272509" y="3731056"/>
            <a:ext cx="9726795" cy="6771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EE9B21-6C25-4327-AF43-A071A9EF521B}"/>
              </a:ext>
            </a:extLst>
          </p:cNvPr>
          <p:cNvCxnSpPr/>
          <p:nvPr userDrawn="1"/>
        </p:nvCxnSpPr>
        <p:spPr>
          <a:xfrm>
            <a:off x="1257300" y="5054600"/>
            <a:ext cx="1092817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Graphic 18">
            <a:extLst>
              <a:ext uri="{FF2B5EF4-FFF2-40B4-BE49-F238E27FC236}">
                <a16:creationId xmlns:a16="http://schemas.microsoft.com/office/drawing/2014/main" id="{5B731D40-5C11-4421-9FA9-BFF375FA03E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36338" y="275887"/>
            <a:ext cx="2306599" cy="10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3161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Layou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0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42232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1569982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796EC9-21BC-451B-8C4E-0E8AC839F97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39704"/>
            <a:ext cx="9838591" cy="4571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00925B4-5B70-4C69-B633-0348E294959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736" y="6335550"/>
            <a:ext cx="935291" cy="4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3281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4"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 bwMode="black"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903861"/>
            <a:ext cx="6967728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13"/>
            </p:custDataLst>
          </p:nvPr>
        </p:nvSpPr>
        <p:spPr>
          <a:xfrm>
            <a:off x="8173370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E9A0CD-DA55-4EC3-7CB8-DC64072D9A12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7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0662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8" name="think-cell Slide" r:id="rId14" imgW="413" imgH="416" progId="TCLayout.ActiveDocument.1">
                  <p:embed/>
                </p:oleObj>
              </mc:Choice>
              <mc:Fallback>
                <p:oleObj name="think-cell Slide" r:id="rId14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 bwMode="black"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903861"/>
            <a:ext cx="6967728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12"/>
            </p:custDataLst>
          </p:nvPr>
        </p:nvSpPr>
        <p:spPr>
          <a:xfrm>
            <a:off x="8173370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E9A0CD-DA55-4EC3-7CB8-DC64072D9A12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7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5179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2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42232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b="0" baseline="0" dirty="0"/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1569982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rtl="0"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796EC9-21BC-451B-8C4E-0E8AC839F97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39704"/>
            <a:ext cx="9838591" cy="4571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00925B4-5B70-4C69-B633-0348E294959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736" y="6335550"/>
            <a:ext cx="935291" cy="4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726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F8909-5EC3-2ADB-3CFC-5C51B4F63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B5530-9BE6-8DF0-AB43-108006DB8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40362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2">
              <a:alpha val="7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4433589-769E-4F84-AE9A-6BFCEB3A976D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76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6" name="think-cell Slide" r:id="rId12" imgW="572" imgH="588" progId="TCLayout.ActiveDocument.1">
                  <p:embed/>
                </p:oleObj>
              </mc:Choice>
              <mc:Fallback>
                <p:oleObj name="think-cell Slide" r:id="rId12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519011"/>
            <a:ext cx="6967728" cy="384721"/>
          </a:xfrm>
        </p:spPr>
        <p:txBody>
          <a:bodyPr vert="horz" wrap="square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1042232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32BCC680-F1EE-427D-A8F1-412B25A3F0FA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A4884569-9420-43F0-ACB0-9A0654F18D0B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1569982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829A8F-5193-4BAE-AAFA-333B8DBBEE62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939704"/>
            <a:ext cx="7522464" cy="4571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6BE6700-EC25-4E06-8788-6036F785DB8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4736" y="6335550"/>
            <a:ext cx="935291" cy="4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98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EBFC2AB-CB7A-4475-8A97-799AAC535F6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0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1272509" y="5115944"/>
            <a:ext cx="972679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1400" dirty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5"/>
            </p:custDataLst>
          </p:nvPr>
        </p:nvSpPr>
        <p:spPr>
          <a:xfrm>
            <a:off x="1272509" y="4698335"/>
            <a:ext cx="9726795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2000" dirty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1272509" y="3731056"/>
            <a:ext cx="9726795" cy="6771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EE9B21-6C25-4327-AF43-A071A9EF521B}"/>
              </a:ext>
            </a:extLst>
          </p:cNvPr>
          <p:cNvCxnSpPr/>
          <p:nvPr userDrawn="1"/>
        </p:nvCxnSpPr>
        <p:spPr>
          <a:xfrm>
            <a:off x="1257300" y="5054600"/>
            <a:ext cx="1092817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Graphic 18">
            <a:extLst>
              <a:ext uri="{FF2B5EF4-FFF2-40B4-BE49-F238E27FC236}">
                <a16:creationId xmlns:a16="http://schemas.microsoft.com/office/drawing/2014/main" id="{5B731D40-5C11-4421-9FA9-BFF375FA03E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36338" y="275887"/>
            <a:ext cx="2306599" cy="10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7063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73D8DC90-D4FE-4631-A1A9-CA1B69D93B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3" name="think-cell Slide" r:id="rId5" imgW="359" imgH="358" progId="TCLayout.ActiveDocument.1">
                  <p:embed/>
                </p:oleObj>
              </mc:Choice>
              <mc:Fallback>
                <p:oleObj name="think-cell Slide" r:id="rId5" imgW="359" imgH="35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73D8DC90-D4FE-4631-A1A9-CA1B69D93B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148EB099-F6D6-4597-A0F9-1D0CFE0503E2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000" b="0" i="0" baseline="0" dirty="0" err="1">
              <a:solidFill>
                <a:schemeClr val="tx1"/>
              </a:solidFill>
              <a:latin typeface="Verdana Pro" panose="020B0604030504040204" pitchFamily="34" charset="0"/>
              <a:ea typeface="Verdana" panose="020B0604030504040204" pitchFamily="34" charset="0"/>
              <a:cs typeface="Tahoma" panose="020B0604030504040204" pitchFamily="34" charset="0"/>
              <a:sym typeface="Verdana Pro" panose="020B0604030504040204" pitchFamily="34" charset="0"/>
            </a:endParaRPr>
          </a:p>
        </p:txBody>
      </p:sp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gray">
          <a:xfrm>
            <a:off x="278210" y="260648"/>
            <a:ext cx="11635580" cy="314028"/>
          </a:xfrm>
        </p:spPr>
        <p:txBody>
          <a:bodyPr rIns="1440000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5" name="doc id"/>
          <p:cNvSpPr>
            <a:spLocks noChangeArrowheads="1"/>
          </p:cNvSpPr>
          <p:nvPr userDrawn="1"/>
        </p:nvSpPr>
        <p:spPr bwMode="gray">
          <a:xfrm flipH="1">
            <a:off x="10658002" y="51835"/>
            <a:ext cx="1231563" cy="94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1193860"/>
            <a:endParaRPr lang="ru-RU" sz="600" baseline="0" noProof="0" dirty="0">
              <a:solidFill>
                <a:schemeClr val="accent6"/>
              </a:solidFill>
              <a:latin typeface="+mn-lt"/>
              <a:ea typeface="+mn-ea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1CDBC913-C0BE-4956-B2D3-61042020019F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1750284" y="6589501"/>
            <a:ext cx="163506" cy="123111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US"/>
            </a:defPPr>
            <a:lvl1pPr marL="0" lvl="0" indent="0" algn="r" defTabSz="914400" eaLnBrk="1" latinLnBrk="0" hangingPunct="1">
              <a:spcBef>
                <a:spcPct val="20000"/>
              </a:spcBef>
              <a:buFont typeface="Arial" pitchFamily="34" charset="0"/>
              <a:buNone/>
              <a:defRPr sz="900">
                <a:latin typeface="Verdana Pro Light" panose="020B0304030504040204" pitchFamily="34" charset="0"/>
                <a:ea typeface="Verdana" panose="020B0604030504040204" pitchFamily="34" charset="0"/>
                <a:cs typeface="Tahoma" panose="020B0604030504040204" pitchFamily="34" charset="0"/>
              </a:defRPr>
            </a:lvl1pPr>
            <a:lvl2pPr marL="742950" lvl="1" indent="-285750" defTabSz="91440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>
                <a:latin typeface="+mn-lt"/>
              </a:defRPr>
            </a:lvl2pPr>
            <a:lvl3pPr marL="1143000" lvl="2" indent="-228600" defTabSz="91440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>
                <a:latin typeface="+mn-lt"/>
              </a:defRPr>
            </a:lvl3pPr>
            <a:lvl4pPr marL="1600200" lvl="3" indent="-228600" defTabSz="91440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>
                <a:latin typeface="+mn-lt"/>
              </a:defRPr>
            </a:lvl4pPr>
            <a:lvl5pPr marL="2057400" lvl="4" indent="-228600" defTabSz="91440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>
                <a:latin typeface="+mn-lt"/>
              </a:defRPr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lvl="0" algn="r"/>
            <a:fld id="{42C328C1-A84F-4A39-A664-DBA00541A8C6}" type="slidenum">
              <a:rPr lang="ru-RU" sz="800" smtClean="0"/>
              <a:pPr lvl="0" algn="r"/>
              <a:t>‹#›</a:t>
            </a:fld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344931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514">
          <p15:clr>
            <a:srgbClr val="F26B43"/>
          </p15:clr>
        </p15:guide>
        <p15:guide id="2" pos="168">
          <p15:clr>
            <a:srgbClr val="F26B43"/>
          </p15:clr>
        </p15:guide>
        <p15:guide id="3" orient="horz" pos="680">
          <p15:clr>
            <a:srgbClr val="F26B43"/>
          </p15:clr>
        </p15:guide>
        <p15:guide id="4" orient="horz" pos="3976">
          <p15:clr>
            <a:srgbClr val="F26B43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6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884725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113DFDDF-7DA2-4E92-8555-8B9DB1295FAA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7"/>
            </p:custDataLst>
          </p:nvPr>
        </p:nvSpPr>
        <p:spPr>
          <a:xfrm>
            <a:off x="7156704" y="89320"/>
            <a:ext cx="4480560" cy="123111"/>
          </a:xfrm>
        </p:spPr>
        <p:txBody>
          <a:bodyPr vert="horz" wrap="square" lIns="0" tIns="0" rIns="0" bIns="0" rtlCol="0" anchor="ctr" anchorCtr="0">
            <a:spAutoFit/>
          </a:bodyPr>
          <a:lstStyle>
            <a:lvl1pPr algn="r">
              <a:defRPr lang="en-US" sz="800" dirty="0"/>
            </a:lvl1pPr>
          </a:lstStyle>
          <a:p>
            <a:pPr lvl="0" algn="r"/>
            <a:r>
              <a:rPr lang="en-US" dirty="0"/>
              <a:t>Chapter › Topic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9196518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0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884725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156704" y="89319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391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13" Type="http://schemas.openxmlformats.org/officeDocument/2006/relationships/tags" Target="../tags/tag4.xml"/><Relationship Id="rId18" Type="http://schemas.openxmlformats.org/officeDocument/2006/relationships/tags" Target="../tags/tag9.xml"/><Relationship Id="rId26" Type="http://schemas.openxmlformats.org/officeDocument/2006/relationships/tags" Target="../tags/tag17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12.xml"/><Relationship Id="rId7" Type="http://schemas.openxmlformats.org/officeDocument/2006/relationships/slideLayout" Target="../slideLayouts/slideLayout18.xml"/><Relationship Id="rId12" Type="http://schemas.openxmlformats.org/officeDocument/2006/relationships/tags" Target="../tags/tag3.xml"/><Relationship Id="rId17" Type="http://schemas.openxmlformats.org/officeDocument/2006/relationships/tags" Target="../tags/tag8.xml"/><Relationship Id="rId25" Type="http://schemas.openxmlformats.org/officeDocument/2006/relationships/tags" Target="../tags/tag16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7.xml"/><Relationship Id="rId20" Type="http://schemas.openxmlformats.org/officeDocument/2006/relationships/tags" Target="../tags/tag11.xml"/><Relationship Id="rId29" Type="http://schemas.openxmlformats.org/officeDocument/2006/relationships/tags" Target="../tags/tag2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ags" Target="../tags/tag2.xml"/><Relationship Id="rId24" Type="http://schemas.openxmlformats.org/officeDocument/2006/relationships/tags" Target="../tags/tag15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6.xml"/><Relationship Id="rId23" Type="http://schemas.openxmlformats.org/officeDocument/2006/relationships/tags" Target="../tags/tag14.xml"/><Relationship Id="rId28" Type="http://schemas.openxmlformats.org/officeDocument/2006/relationships/tags" Target="../tags/tag19.xml"/><Relationship Id="rId10" Type="http://schemas.openxmlformats.org/officeDocument/2006/relationships/tags" Target="../tags/tag1.xml"/><Relationship Id="rId19" Type="http://schemas.openxmlformats.org/officeDocument/2006/relationships/tags" Target="../tags/tag10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15.xml"/><Relationship Id="rId9" Type="http://schemas.openxmlformats.org/officeDocument/2006/relationships/vmlDrawing" Target="../drawings/vmlDrawing1.vml"/><Relationship Id="rId14" Type="http://schemas.openxmlformats.org/officeDocument/2006/relationships/tags" Target="../tags/tag5.xml"/><Relationship Id="rId22" Type="http://schemas.openxmlformats.org/officeDocument/2006/relationships/tags" Target="../tags/tag13.xml"/><Relationship Id="rId27" Type="http://schemas.openxmlformats.org/officeDocument/2006/relationships/tags" Target="../tags/tag18.xml"/><Relationship Id="rId30" Type="http://schemas.openxmlformats.org/officeDocument/2006/relationships/oleObject" Target="../embeddings/oleObject1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13" Type="http://schemas.openxmlformats.org/officeDocument/2006/relationships/tags" Target="../tags/tag74.xml"/><Relationship Id="rId18" Type="http://schemas.openxmlformats.org/officeDocument/2006/relationships/tags" Target="../tags/tag79.xml"/><Relationship Id="rId26" Type="http://schemas.openxmlformats.org/officeDocument/2006/relationships/tags" Target="../tags/tag87.xml"/><Relationship Id="rId3" Type="http://schemas.openxmlformats.org/officeDocument/2006/relationships/slideLayout" Target="../slideLayouts/slideLayout21.xml"/><Relationship Id="rId21" Type="http://schemas.openxmlformats.org/officeDocument/2006/relationships/tags" Target="../tags/tag82.xml"/><Relationship Id="rId7" Type="http://schemas.openxmlformats.org/officeDocument/2006/relationships/slideLayout" Target="../slideLayouts/slideLayout25.xml"/><Relationship Id="rId12" Type="http://schemas.openxmlformats.org/officeDocument/2006/relationships/tags" Target="../tags/tag73.xml"/><Relationship Id="rId17" Type="http://schemas.openxmlformats.org/officeDocument/2006/relationships/tags" Target="../tags/tag78.xml"/><Relationship Id="rId25" Type="http://schemas.openxmlformats.org/officeDocument/2006/relationships/tags" Target="../tags/tag86.xml"/><Relationship Id="rId2" Type="http://schemas.openxmlformats.org/officeDocument/2006/relationships/slideLayout" Target="../slideLayouts/slideLayout20.xml"/><Relationship Id="rId16" Type="http://schemas.openxmlformats.org/officeDocument/2006/relationships/tags" Target="../tags/tag77.xml"/><Relationship Id="rId20" Type="http://schemas.openxmlformats.org/officeDocument/2006/relationships/tags" Target="../tags/tag81.xml"/><Relationship Id="rId29" Type="http://schemas.openxmlformats.org/officeDocument/2006/relationships/tags" Target="../tags/tag9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ags" Target="../tags/tag72.xml"/><Relationship Id="rId24" Type="http://schemas.openxmlformats.org/officeDocument/2006/relationships/tags" Target="../tags/tag85.xml"/><Relationship Id="rId5" Type="http://schemas.openxmlformats.org/officeDocument/2006/relationships/slideLayout" Target="../slideLayouts/slideLayout23.xml"/><Relationship Id="rId15" Type="http://schemas.openxmlformats.org/officeDocument/2006/relationships/tags" Target="../tags/tag76.xml"/><Relationship Id="rId23" Type="http://schemas.openxmlformats.org/officeDocument/2006/relationships/tags" Target="../tags/tag84.xml"/><Relationship Id="rId28" Type="http://schemas.openxmlformats.org/officeDocument/2006/relationships/tags" Target="../tags/tag89.xml"/><Relationship Id="rId10" Type="http://schemas.openxmlformats.org/officeDocument/2006/relationships/tags" Target="../tags/tag71.xml"/><Relationship Id="rId19" Type="http://schemas.openxmlformats.org/officeDocument/2006/relationships/tags" Target="../tags/tag80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22.xml"/><Relationship Id="rId9" Type="http://schemas.openxmlformats.org/officeDocument/2006/relationships/vmlDrawing" Target="../drawings/vmlDrawing8.vml"/><Relationship Id="rId14" Type="http://schemas.openxmlformats.org/officeDocument/2006/relationships/tags" Target="../tags/tag75.xml"/><Relationship Id="rId22" Type="http://schemas.openxmlformats.org/officeDocument/2006/relationships/tags" Target="../tags/tag83.xml"/><Relationship Id="rId27" Type="http://schemas.openxmlformats.org/officeDocument/2006/relationships/tags" Target="../tags/tag88.xml"/><Relationship Id="rId30" Type="http://schemas.openxmlformats.org/officeDocument/2006/relationships/oleObject" Target="../embeddings/oleObject1.bin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13" Type="http://schemas.openxmlformats.org/officeDocument/2006/relationships/tags" Target="../tags/tag144.xml"/><Relationship Id="rId18" Type="http://schemas.openxmlformats.org/officeDocument/2006/relationships/tags" Target="../tags/tag149.xml"/><Relationship Id="rId26" Type="http://schemas.openxmlformats.org/officeDocument/2006/relationships/tags" Target="../tags/tag157.xml"/><Relationship Id="rId3" Type="http://schemas.openxmlformats.org/officeDocument/2006/relationships/slideLayout" Target="../slideLayouts/slideLayout28.xml"/><Relationship Id="rId21" Type="http://schemas.openxmlformats.org/officeDocument/2006/relationships/tags" Target="../tags/tag152.xml"/><Relationship Id="rId7" Type="http://schemas.openxmlformats.org/officeDocument/2006/relationships/slideLayout" Target="../slideLayouts/slideLayout32.xml"/><Relationship Id="rId12" Type="http://schemas.openxmlformats.org/officeDocument/2006/relationships/tags" Target="../tags/tag143.xml"/><Relationship Id="rId17" Type="http://schemas.openxmlformats.org/officeDocument/2006/relationships/tags" Target="../tags/tag148.xml"/><Relationship Id="rId25" Type="http://schemas.openxmlformats.org/officeDocument/2006/relationships/tags" Target="../tags/tag156.xml"/><Relationship Id="rId2" Type="http://schemas.openxmlformats.org/officeDocument/2006/relationships/slideLayout" Target="../slideLayouts/slideLayout27.xml"/><Relationship Id="rId16" Type="http://schemas.openxmlformats.org/officeDocument/2006/relationships/tags" Target="../tags/tag147.xml"/><Relationship Id="rId20" Type="http://schemas.openxmlformats.org/officeDocument/2006/relationships/tags" Target="../tags/tag151.xml"/><Relationship Id="rId29" Type="http://schemas.openxmlformats.org/officeDocument/2006/relationships/tags" Target="../tags/tag160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tags" Target="../tags/tag142.xml"/><Relationship Id="rId24" Type="http://schemas.openxmlformats.org/officeDocument/2006/relationships/tags" Target="../tags/tag155.xml"/><Relationship Id="rId5" Type="http://schemas.openxmlformats.org/officeDocument/2006/relationships/slideLayout" Target="../slideLayouts/slideLayout30.xml"/><Relationship Id="rId15" Type="http://schemas.openxmlformats.org/officeDocument/2006/relationships/tags" Target="../tags/tag146.xml"/><Relationship Id="rId23" Type="http://schemas.openxmlformats.org/officeDocument/2006/relationships/tags" Target="../tags/tag154.xml"/><Relationship Id="rId28" Type="http://schemas.openxmlformats.org/officeDocument/2006/relationships/tags" Target="../tags/tag159.xml"/><Relationship Id="rId10" Type="http://schemas.openxmlformats.org/officeDocument/2006/relationships/tags" Target="../tags/tag141.xml"/><Relationship Id="rId19" Type="http://schemas.openxmlformats.org/officeDocument/2006/relationships/tags" Target="../tags/tag150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29.xml"/><Relationship Id="rId9" Type="http://schemas.openxmlformats.org/officeDocument/2006/relationships/vmlDrawing" Target="../drawings/vmlDrawing15.vml"/><Relationship Id="rId14" Type="http://schemas.openxmlformats.org/officeDocument/2006/relationships/tags" Target="../tags/tag145.xml"/><Relationship Id="rId22" Type="http://schemas.openxmlformats.org/officeDocument/2006/relationships/tags" Target="../tags/tag153.xml"/><Relationship Id="rId27" Type="http://schemas.openxmlformats.org/officeDocument/2006/relationships/tags" Target="../tags/tag158.xml"/><Relationship Id="rId30" Type="http://schemas.openxmlformats.org/officeDocument/2006/relationships/oleObject" Target="../embeddings/oleObject1.bin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vmlDrawing" Target="../drawings/vmlDrawing22.vml"/><Relationship Id="rId18" Type="http://schemas.openxmlformats.org/officeDocument/2006/relationships/tags" Target="../tags/tag215.xml"/><Relationship Id="rId26" Type="http://schemas.openxmlformats.org/officeDocument/2006/relationships/tags" Target="../tags/tag223.xml"/><Relationship Id="rId3" Type="http://schemas.openxmlformats.org/officeDocument/2006/relationships/slideLayout" Target="../slideLayouts/slideLayout35.xml"/><Relationship Id="rId21" Type="http://schemas.openxmlformats.org/officeDocument/2006/relationships/tags" Target="../tags/tag218.xml"/><Relationship Id="rId34" Type="http://schemas.openxmlformats.org/officeDocument/2006/relationships/oleObject" Target="../embeddings/oleObject1.bin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5.xml"/><Relationship Id="rId17" Type="http://schemas.openxmlformats.org/officeDocument/2006/relationships/tags" Target="../tags/tag214.xml"/><Relationship Id="rId25" Type="http://schemas.openxmlformats.org/officeDocument/2006/relationships/tags" Target="../tags/tag222.xml"/><Relationship Id="rId33" Type="http://schemas.openxmlformats.org/officeDocument/2006/relationships/tags" Target="../tags/tag230.xml"/><Relationship Id="rId2" Type="http://schemas.openxmlformats.org/officeDocument/2006/relationships/slideLayout" Target="../slideLayouts/slideLayout34.xml"/><Relationship Id="rId16" Type="http://schemas.openxmlformats.org/officeDocument/2006/relationships/tags" Target="../tags/tag213.xml"/><Relationship Id="rId20" Type="http://schemas.openxmlformats.org/officeDocument/2006/relationships/tags" Target="../tags/tag217.xml"/><Relationship Id="rId29" Type="http://schemas.openxmlformats.org/officeDocument/2006/relationships/tags" Target="../tags/tag226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tags" Target="../tags/tag221.xml"/><Relationship Id="rId32" Type="http://schemas.openxmlformats.org/officeDocument/2006/relationships/tags" Target="../tags/tag229.xml"/><Relationship Id="rId5" Type="http://schemas.openxmlformats.org/officeDocument/2006/relationships/slideLayout" Target="../slideLayouts/slideLayout37.xml"/><Relationship Id="rId15" Type="http://schemas.openxmlformats.org/officeDocument/2006/relationships/tags" Target="../tags/tag212.xml"/><Relationship Id="rId23" Type="http://schemas.openxmlformats.org/officeDocument/2006/relationships/tags" Target="../tags/tag220.xml"/><Relationship Id="rId28" Type="http://schemas.openxmlformats.org/officeDocument/2006/relationships/tags" Target="../tags/tag225.xml"/><Relationship Id="rId10" Type="http://schemas.openxmlformats.org/officeDocument/2006/relationships/slideLayout" Target="../slideLayouts/slideLayout42.xml"/><Relationship Id="rId19" Type="http://schemas.openxmlformats.org/officeDocument/2006/relationships/tags" Target="../tags/tag216.xml"/><Relationship Id="rId31" Type="http://schemas.openxmlformats.org/officeDocument/2006/relationships/tags" Target="../tags/tag228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tags" Target="../tags/tag211.xml"/><Relationship Id="rId22" Type="http://schemas.openxmlformats.org/officeDocument/2006/relationships/tags" Target="../tags/tag219.xml"/><Relationship Id="rId27" Type="http://schemas.openxmlformats.org/officeDocument/2006/relationships/tags" Target="../tags/tag224.xml"/><Relationship Id="rId30" Type="http://schemas.openxmlformats.org/officeDocument/2006/relationships/tags" Target="../tags/tag227.xml"/><Relationship Id="rId35" Type="http://schemas.openxmlformats.org/officeDocument/2006/relationships/image" Target="../media/image1.emf"/><Relationship Id="rId8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12324-AA30-43F8-8585-A0CBA46E1AFD}" type="datetimeFigureOut">
              <a:rPr lang="en-US" smtClean="0"/>
              <a:t>20-Feb-26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67A5B-D4BB-4509-AD74-6B03E12E0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18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think-cell Slide" r:id="rId30" imgW="413" imgH="416" progId="TCLayout.ActiveDocument.1">
                  <p:embed/>
                </p:oleObj>
              </mc:Choice>
              <mc:Fallback>
                <p:oleObj name="think-cell Slide" r:id="rId3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56998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marL="203200" marR="0" lvl="0" indent="-212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408336"/>
            <a:ext cx="455253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all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987738" y="2170800"/>
            <a:ext cx="3049253" cy="46166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Above Chart Exhibit Title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887072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70" name="LegendLines" hidden="1">
            <a:extLst>
              <a:ext uri="{FF2B5EF4-FFF2-40B4-BE49-F238E27FC236}">
                <a16:creationId xmlns:a16="http://schemas.microsoft.com/office/drawing/2014/main" id="{24197982-5E33-4734-880F-D8056C492CFB}"/>
              </a:ext>
            </a:extLst>
          </p:cNvPr>
          <p:cNvGrpSpPr/>
          <p:nvPr userDrawn="1"/>
        </p:nvGrpSpPr>
        <p:grpSpPr>
          <a:xfrm>
            <a:off x="10317304" y="3281705"/>
            <a:ext cx="1319960" cy="958286"/>
            <a:chOff x="10162879" y="3243772"/>
            <a:chExt cx="1319960" cy="958286"/>
          </a:xfrm>
        </p:grpSpPr>
        <p:sp>
          <p:nvSpPr>
            <p:cNvPr id="171" name="Legend1">
              <a:extLst>
                <a:ext uri="{FF2B5EF4-FFF2-40B4-BE49-F238E27FC236}">
                  <a16:creationId xmlns:a16="http://schemas.microsoft.com/office/drawing/2014/main" id="{D2F49C76-13A3-4F26-A1B2-1D667523081F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72" name="Legend2">
              <a:extLst>
                <a:ext uri="{FF2B5EF4-FFF2-40B4-BE49-F238E27FC236}">
                  <a16:creationId xmlns:a16="http://schemas.microsoft.com/office/drawing/2014/main" id="{3394A4AA-E635-4E89-8DC6-9791DF4C3E56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73" name="Legend3">
              <a:extLst>
                <a:ext uri="{FF2B5EF4-FFF2-40B4-BE49-F238E27FC236}">
                  <a16:creationId xmlns:a16="http://schemas.microsoft.com/office/drawing/2014/main" id="{CE932BE8-0B21-4A74-B932-3DB0212529EE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74" name="LineLegend3">
              <a:extLst>
                <a:ext uri="{FF2B5EF4-FFF2-40B4-BE49-F238E27FC236}">
                  <a16:creationId xmlns:a16="http://schemas.microsoft.com/office/drawing/2014/main" id="{6C311A2A-4A06-4F1B-985D-F5721D00DC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5" name="LineLegend2">
              <a:extLst>
                <a:ext uri="{FF2B5EF4-FFF2-40B4-BE49-F238E27FC236}">
                  <a16:creationId xmlns:a16="http://schemas.microsoft.com/office/drawing/2014/main" id="{584FB680-4CD4-409F-8A13-6F557C9B831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6" name="LineLegend1">
              <a:extLst>
                <a:ext uri="{FF2B5EF4-FFF2-40B4-BE49-F238E27FC236}">
                  <a16:creationId xmlns:a16="http://schemas.microsoft.com/office/drawing/2014/main" id="{5CB99EC2-E839-44D8-AA59-6EA2E1F03EF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177" name="LegendMoons" hidden="1">
            <a:extLst>
              <a:ext uri="{FF2B5EF4-FFF2-40B4-BE49-F238E27FC236}">
                <a16:creationId xmlns:a16="http://schemas.microsoft.com/office/drawing/2014/main" id="{13958D18-5C08-4F98-A2BF-2002B3D31DDF}"/>
              </a:ext>
            </a:extLst>
          </p:cNvPr>
          <p:cNvGrpSpPr/>
          <p:nvPr userDrawn="1"/>
        </p:nvGrpSpPr>
        <p:grpSpPr>
          <a:xfrm>
            <a:off x="10688315" y="1408336"/>
            <a:ext cx="948949" cy="1731859"/>
            <a:chOff x="7723680" y="1702457"/>
            <a:chExt cx="948949" cy="1731859"/>
          </a:xfrm>
        </p:grpSpPr>
        <p:sp>
          <p:nvSpPr>
            <p:cNvPr id="178" name="Legend1">
              <a:extLst>
                <a:ext uri="{FF2B5EF4-FFF2-40B4-BE49-F238E27FC236}">
                  <a16:creationId xmlns:a16="http://schemas.microsoft.com/office/drawing/2014/main" id="{55EB1182-2370-4939-9091-529977534DCA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86" name="Legend2">
              <a:extLst>
                <a:ext uri="{FF2B5EF4-FFF2-40B4-BE49-F238E27FC236}">
                  <a16:creationId xmlns:a16="http://schemas.microsoft.com/office/drawing/2014/main" id="{C9798873-AD79-4749-8C0C-8494394BEA88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98" name="Legend3">
              <a:extLst>
                <a:ext uri="{FF2B5EF4-FFF2-40B4-BE49-F238E27FC236}">
                  <a16:creationId xmlns:a16="http://schemas.microsoft.com/office/drawing/2014/main" id="{C163B6FE-0716-4566-B4C9-42C7C3C966B0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99" name="Legend4">
              <a:extLst>
                <a:ext uri="{FF2B5EF4-FFF2-40B4-BE49-F238E27FC236}">
                  <a16:creationId xmlns:a16="http://schemas.microsoft.com/office/drawing/2014/main" id="{FC8FD795-0632-4256-ACBA-738877E20311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00" name="Legend5">
              <a:extLst>
                <a:ext uri="{FF2B5EF4-FFF2-40B4-BE49-F238E27FC236}">
                  <a16:creationId xmlns:a16="http://schemas.microsoft.com/office/drawing/2014/main" id="{27662E8E-7A4A-496D-B5CE-14D9F71FB06A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grpSp>
          <p:nvGrpSpPr>
            <p:cNvPr id="201" name="MoonLegend1">
              <a:extLst>
                <a:ext uri="{FF2B5EF4-FFF2-40B4-BE49-F238E27FC236}">
                  <a16:creationId xmlns:a16="http://schemas.microsoft.com/office/drawing/2014/main" id="{CC4121C0-C245-4BBD-A796-7D27CD84A5C1}"/>
                </a:ext>
              </a:extLst>
            </p:cNvPr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2533FFD2-31BF-4EB2-BFAB-5FA6917A1171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15" name="Arc 214">
                <a:extLst>
                  <a:ext uri="{FF2B5EF4-FFF2-40B4-BE49-F238E27FC236}">
                    <a16:creationId xmlns:a16="http://schemas.microsoft.com/office/drawing/2014/main" id="{D291FCFE-0414-4175-8447-CBE70E882591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  <p:grpSp>
          <p:nvGrpSpPr>
            <p:cNvPr id="202" name="MoonLegend2">
              <a:extLst>
                <a:ext uri="{FF2B5EF4-FFF2-40B4-BE49-F238E27FC236}">
                  <a16:creationId xmlns:a16="http://schemas.microsoft.com/office/drawing/2014/main" id="{EACACF61-20F1-4EFF-8F67-DE369665C3FF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6A25F403-52B5-475B-91C0-5E2357192968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13" name="Arc 212">
                <a:extLst>
                  <a:ext uri="{FF2B5EF4-FFF2-40B4-BE49-F238E27FC236}">
                    <a16:creationId xmlns:a16="http://schemas.microsoft.com/office/drawing/2014/main" id="{8BD76F35-D712-4518-AF4E-DACC6084B985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  <p:grpSp>
          <p:nvGrpSpPr>
            <p:cNvPr id="203" name="MoonLegend3">
              <a:extLst>
                <a:ext uri="{FF2B5EF4-FFF2-40B4-BE49-F238E27FC236}">
                  <a16:creationId xmlns:a16="http://schemas.microsoft.com/office/drawing/2014/main" id="{7A83CA34-F46D-4F6A-9F26-8BE16206395A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9A0FEDE4-9809-4DBE-A5D3-13FD6D9A3C7B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11" name="Arc 210">
                <a:extLst>
                  <a:ext uri="{FF2B5EF4-FFF2-40B4-BE49-F238E27FC236}">
                    <a16:creationId xmlns:a16="http://schemas.microsoft.com/office/drawing/2014/main" id="{4843CBF4-19BC-4C71-98DA-3E8F89930ADB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  <p:grpSp>
          <p:nvGrpSpPr>
            <p:cNvPr id="204" name="MoonLegend4">
              <a:extLst>
                <a:ext uri="{FF2B5EF4-FFF2-40B4-BE49-F238E27FC236}">
                  <a16:creationId xmlns:a16="http://schemas.microsoft.com/office/drawing/2014/main" id="{15C7287D-BBAE-4A75-8D7B-019EA1257209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1F737151-9B87-40DD-B526-8021B4B4F663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09" name="Arc 208">
                <a:extLst>
                  <a:ext uri="{FF2B5EF4-FFF2-40B4-BE49-F238E27FC236}">
                    <a16:creationId xmlns:a16="http://schemas.microsoft.com/office/drawing/2014/main" id="{071214B7-A723-4395-BF16-72605F1A15B1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  <p:grpSp>
          <p:nvGrpSpPr>
            <p:cNvPr id="205" name="MoonLegend5">
              <a:extLst>
                <a:ext uri="{FF2B5EF4-FFF2-40B4-BE49-F238E27FC236}">
                  <a16:creationId xmlns:a16="http://schemas.microsoft.com/office/drawing/2014/main" id="{932D4A1D-1CE3-4728-B843-6A973BD9E481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E3092167-5024-42F9-9C1A-1C7988845CF2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07" name="Arc 206">
                <a:extLst>
                  <a:ext uri="{FF2B5EF4-FFF2-40B4-BE49-F238E27FC236}">
                    <a16:creationId xmlns:a16="http://schemas.microsoft.com/office/drawing/2014/main" id="{120B02B2-D551-4881-9469-FFA64DD12125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6" name="LegendBoxes" hidden="1">
            <a:extLst>
              <a:ext uri="{FF2B5EF4-FFF2-40B4-BE49-F238E27FC236}">
                <a16:creationId xmlns:a16="http://schemas.microsoft.com/office/drawing/2014/main" id="{08E31C11-7753-488A-9E81-BB817CAA7B0A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217" name="RectangleLegend1">
              <a:extLst>
                <a:ext uri="{FF2B5EF4-FFF2-40B4-BE49-F238E27FC236}">
                  <a16:creationId xmlns:a16="http://schemas.microsoft.com/office/drawing/2014/main" id="{32F36D60-0F88-4057-93B0-B291C182E23E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8" name="RectangleLegend2">
              <a:extLst>
                <a:ext uri="{FF2B5EF4-FFF2-40B4-BE49-F238E27FC236}">
                  <a16:creationId xmlns:a16="http://schemas.microsoft.com/office/drawing/2014/main" id="{4A78725E-06AD-479E-B406-0AF43E2C2060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9" name="RectangleLegend3">
              <a:extLst>
                <a:ext uri="{FF2B5EF4-FFF2-40B4-BE49-F238E27FC236}">
                  <a16:creationId xmlns:a16="http://schemas.microsoft.com/office/drawing/2014/main" id="{D3EA14FA-84F6-4E0E-BE12-65F24074FC0E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0" name="RectangleLegend4">
              <a:extLst>
                <a:ext uri="{FF2B5EF4-FFF2-40B4-BE49-F238E27FC236}">
                  <a16:creationId xmlns:a16="http://schemas.microsoft.com/office/drawing/2014/main" id="{3EE5986A-2C4F-483E-90CF-1A0F23F81DF3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1" name="RectangleLegend5">
              <a:extLst>
                <a:ext uri="{FF2B5EF4-FFF2-40B4-BE49-F238E27FC236}">
                  <a16:creationId xmlns:a16="http://schemas.microsoft.com/office/drawing/2014/main" id="{7B3CC25A-0DCB-475E-B8DD-4E05950539F5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2" name="Legend1">
              <a:extLst>
                <a:ext uri="{FF2B5EF4-FFF2-40B4-BE49-F238E27FC236}">
                  <a16:creationId xmlns:a16="http://schemas.microsoft.com/office/drawing/2014/main" id="{3B088D5F-D021-43F1-88A6-B21FB83295EB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23" name="Legend2">
              <a:extLst>
                <a:ext uri="{FF2B5EF4-FFF2-40B4-BE49-F238E27FC236}">
                  <a16:creationId xmlns:a16="http://schemas.microsoft.com/office/drawing/2014/main" id="{D97C0C8F-C184-474B-AF62-CB9CCB627764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24" name="Legend3">
              <a:extLst>
                <a:ext uri="{FF2B5EF4-FFF2-40B4-BE49-F238E27FC236}">
                  <a16:creationId xmlns:a16="http://schemas.microsoft.com/office/drawing/2014/main" id="{DE684621-D6AD-4258-8E2E-022317940756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25" name="Legend4">
              <a:extLst>
                <a:ext uri="{FF2B5EF4-FFF2-40B4-BE49-F238E27FC236}">
                  <a16:creationId xmlns:a16="http://schemas.microsoft.com/office/drawing/2014/main" id="{02A17A7D-7305-47FF-9096-8144CF2777BA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26" name="Legend5">
              <a:extLst>
                <a:ext uri="{FF2B5EF4-FFF2-40B4-BE49-F238E27FC236}">
                  <a16:creationId xmlns:a16="http://schemas.microsoft.com/office/drawing/2014/main" id="{EC58FF0D-5D53-4E64-83D9-FB154115A8F9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213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think-cell Slide" r:id="rId30" imgW="413" imgH="416" progId="TCLayout.ActiveDocument.1">
                  <p:embed/>
                </p:oleObj>
              </mc:Choice>
              <mc:Fallback>
                <p:oleObj name="think-cell Slide" r:id="rId3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56998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marL="203200" marR="0" lvl="0" indent="-212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408336"/>
            <a:ext cx="455253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all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987738" y="2170800"/>
            <a:ext cx="3049253" cy="46166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Above Chart Exhibit Title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887072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70" name="LegendLines" hidden="1">
            <a:extLst>
              <a:ext uri="{FF2B5EF4-FFF2-40B4-BE49-F238E27FC236}">
                <a16:creationId xmlns:a16="http://schemas.microsoft.com/office/drawing/2014/main" id="{24197982-5E33-4734-880F-D8056C492CFB}"/>
              </a:ext>
            </a:extLst>
          </p:cNvPr>
          <p:cNvGrpSpPr/>
          <p:nvPr userDrawn="1"/>
        </p:nvGrpSpPr>
        <p:grpSpPr>
          <a:xfrm>
            <a:off x="10317304" y="3281705"/>
            <a:ext cx="1319960" cy="958286"/>
            <a:chOff x="10162879" y="3243772"/>
            <a:chExt cx="1319960" cy="958286"/>
          </a:xfrm>
        </p:grpSpPr>
        <p:sp>
          <p:nvSpPr>
            <p:cNvPr id="171" name="Legend1">
              <a:extLst>
                <a:ext uri="{FF2B5EF4-FFF2-40B4-BE49-F238E27FC236}">
                  <a16:creationId xmlns:a16="http://schemas.microsoft.com/office/drawing/2014/main" id="{D2F49C76-13A3-4F26-A1B2-1D667523081F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72" name="Legend2">
              <a:extLst>
                <a:ext uri="{FF2B5EF4-FFF2-40B4-BE49-F238E27FC236}">
                  <a16:creationId xmlns:a16="http://schemas.microsoft.com/office/drawing/2014/main" id="{3394A4AA-E635-4E89-8DC6-9791DF4C3E56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73" name="Legend3">
              <a:extLst>
                <a:ext uri="{FF2B5EF4-FFF2-40B4-BE49-F238E27FC236}">
                  <a16:creationId xmlns:a16="http://schemas.microsoft.com/office/drawing/2014/main" id="{CE932BE8-0B21-4A74-B932-3DB0212529EE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74" name="LineLegend3">
              <a:extLst>
                <a:ext uri="{FF2B5EF4-FFF2-40B4-BE49-F238E27FC236}">
                  <a16:creationId xmlns:a16="http://schemas.microsoft.com/office/drawing/2014/main" id="{6C311A2A-4A06-4F1B-985D-F5721D00DC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5" name="LineLegend2">
              <a:extLst>
                <a:ext uri="{FF2B5EF4-FFF2-40B4-BE49-F238E27FC236}">
                  <a16:creationId xmlns:a16="http://schemas.microsoft.com/office/drawing/2014/main" id="{584FB680-4CD4-409F-8A13-6F557C9B831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6" name="LineLegend1">
              <a:extLst>
                <a:ext uri="{FF2B5EF4-FFF2-40B4-BE49-F238E27FC236}">
                  <a16:creationId xmlns:a16="http://schemas.microsoft.com/office/drawing/2014/main" id="{5CB99EC2-E839-44D8-AA59-6EA2E1F03EF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177" name="LegendMoons" hidden="1">
            <a:extLst>
              <a:ext uri="{FF2B5EF4-FFF2-40B4-BE49-F238E27FC236}">
                <a16:creationId xmlns:a16="http://schemas.microsoft.com/office/drawing/2014/main" id="{13958D18-5C08-4F98-A2BF-2002B3D31DDF}"/>
              </a:ext>
            </a:extLst>
          </p:cNvPr>
          <p:cNvGrpSpPr/>
          <p:nvPr userDrawn="1"/>
        </p:nvGrpSpPr>
        <p:grpSpPr>
          <a:xfrm>
            <a:off x="10688315" y="1408336"/>
            <a:ext cx="948949" cy="1731859"/>
            <a:chOff x="7723680" y="1702457"/>
            <a:chExt cx="948949" cy="1731859"/>
          </a:xfrm>
        </p:grpSpPr>
        <p:sp>
          <p:nvSpPr>
            <p:cNvPr id="178" name="Legend1">
              <a:extLst>
                <a:ext uri="{FF2B5EF4-FFF2-40B4-BE49-F238E27FC236}">
                  <a16:creationId xmlns:a16="http://schemas.microsoft.com/office/drawing/2014/main" id="{55EB1182-2370-4939-9091-529977534DCA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86" name="Legend2">
              <a:extLst>
                <a:ext uri="{FF2B5EF4-FFF2-40B4-BE49-F238E27FC236}">
                  <a16:creationId xmlns:a16="http://schemas.microsoft.com/office/drawing/2014/main" id="{C9798873-AD79-4749-8C0C-8494394BEA88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98" name="Legend3">
              <a:extLst>
                <a:ext uri="{FF2B5EF4-FFF2-40B4-BE49-F238E27FC236}">
                  <a16:creationId xmlns:a16="http://schemas.microsoft.com/office/drawing/2014/main" id="{C163B6FE-0716-4566-B4C9-42C7C3C966B0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99" name="Legend4">
              <a:extLst>
                <a:ext uri="{FF2B5EF4-FFF2-40B4-BE49-F238E27FC236}">
                  <a16:creationId xmlns:a16="http://schemas.microsoft.com/office/drawing/2014/main" id="{FC8FD795-0632-4256-ACBA-738877E20311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00" name="Legend5">
              <a:extLst>
                <a:ext uri="{FF2B5EF4-FFF2-40B4-BE49-F238E27FC236}">
                  <a16:creationId xmlns:a16="http://schemas.microsoft.com/office/drawing/2014/main" id="{27662E8E-7A4A-496D-B5CE-14D9F71FB06A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grpSp>
          <p:nvGrpSpPr>
            <p:cNvPr id="201" name="MoonLegend1">
              <a:extLst>
                <a:ext uri="{FF2B5EF4-FFF2-40B4-BE49-F238E27FC236}">
                  <a16:creationId xmlns:a16="http://schemas.microsoft.com/office/drawing/2014/main" id="{CC4121C0-C245-4BBD-A796-7D27CD84A5C1}"/>
                </a:ext>
              </a:extLst>
            </p:cNvPr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2533FFD2-31BF-4EB2-BFAB-5FA6917A1171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15" name="Arc 214">
                <a:extLst>
                  <a:ext uri="{FF2B5EF4-FFF2-40B4-BE49-F238E27FC236}">
                    <a16:creationId xmlns:a16="http://schemas.microsoft.com/office/drawing/2014/main" id="{D291FCFE-0414-4175-8447-CBE70E882591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  <p:grpSp>
          <p:nvGrpSpPr>
            <p:cNvPr id="202" name="MoonLegend2">
              <a:extLst>
                <a:ext uri="{FF2B5EF4-FFF2-40B4-BE49-F238E27FC236}">
                  <a16:creationId xmlns:a16="http://schemas.microsoft.com/office/drawing/2014/main" id="{EACACF61-20F1-4EFF-8F67-DE369665C3FF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6A25F403-52B5-475B-91C0-5E2357192968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13" name="Arc 212">
                <a:extLst>
                  <a:ext uri="{FF2B5EF4-FFF2-40B4-BE49-F238E27FC236}">
                    <a16:creationId xmlns:a16="http://schemas.microsoft.com/office/drawing/2014/main" id="{8BD76F35-D712-4518-AF4E-DACC6084B985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  <p:grpSp>
          <p:nvGrpSpPr>
            <p:cNvPr id="203" name="MoonLegend3">
              <a:extLst>
                <a:ext uri="{FF2B5EF4-FFF2-40B4-BE49-F238E27FC236}">
                  <a16:creationId xmlns:a16="http://schemas.microsoft.com/office/drawing/2014/main" id="{7A83CA34-F46D-4F6A-9F26-8BE16206395A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9A0FEDE4-9809-4DBE-A5D3-13FD6D9A3C7B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11" name="Arc 210">
                <a:extLst>
                  <a:ext uri="{FF2B5EF4-FFF2-40B4-BE49-F238E27FC236}">
                    <a16:creationId xmlns:a16="http://schemas.microsoft.com/office/drawing/2014/main" id="{4843CBF4-19BC-4C71-98DA-3E8F89930ADB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  <p:grpSp>
          <p:nvGrpSpPr>
            <p:cNvPr id="204" name="MoonLegend4">
              <a:extLst>
                <a:ext uri="{FF2B5EF4-FFF2-40B4-BE49-F238E27FC236}">
                  <a16:creationId xmlns:a16="http://schemas.microsoft.com/office/drawing/2014/main" id="{15C7287D-BBAE-4A75-8D7B-019EA1257209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1F737151-9B87-40DD-B526-8021B4B4F663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09" name="Arc 208">
                <a:extLst>
                  <a:ext uri="{FF2B5EF4-FFF2-40B4-BE49-F238E27FC236}">
                    <a16:creationId xmlns:a16="http://schemas.microsoft.com/office/drawing/2014/main" id="{071214B7-A723-4395-BF16-72605F1A15B1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  <p:grpSp>
          <p:nvGrpSpPr>
            <p:cNvPr id="205" name="MoonLegend5">
              <a:extLst>
                <a:ext uri="{FF2B5EF4-FFF2-40B4-BE49-F238E27FC236}">
                  <a16:creationId xmlns:a16="http://schemas.microsoft.com/office/drawing/2014/main" id="{932D4A1D-1CE3-4728-B843-6A973BD9E481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E3092167-5024-42F9-9C1A-1C7988845CF2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07" name="Arc 206">
                <a:extLst>
                  <a:ext uri="{FF2B5EF4-FFF2-40B4-BE49-F238E27FC236}">
                    <a16:creationId xmlns:a16="http://schemas.microsoft.com/office/drawing/2014/main" id="{120B02B2-D551-4881-9469-FFA64DD12125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6" name="LegendBoxes" hidden="1">
            <a:extLst>
              <a:ext uri="{FF2B5EF4-FFF2-40B4-BE49-F238E27FC236}">
                <a16:creationId xmlns:a16="http://schemas.microsoft.com/office/drawing/2014/main" id="{08E31C11-7753-488A-9E81-BB817CAA7B0A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217" name="RectangleLegend1">
              <a:extLst>
                <a:ext uri="{FF2B5EF4-FFF2-40B4-BE49-F238E27FC236}">
                  <a16:creationId xmlns:a16="http://schemas.microsoft.com/office/drawing/2014/main" id="{32F36D60-0F88-4057-93B0-B291C182E23E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8" name="RectangleLegend2">
              <a:extLst>
                <a:ext uri="{FF2B5EF4-FFF2-40B4-BE49-F238E27FC236}">
                  <a16:creationId xmlns:a16="http://schemas.microsoft.com/office/drawing/2014/main" id="{4A78725E-06AD-479E-B406-0AF43E2C2060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9" name="RectangleLegend3">
              <a:extLst>
                <a:ext uri="{FF2B5EF4-FFF2-40B4-BE49-F238E27FC236}">
                  <a16:creationId xmlns:a16="http://schemas.microsoft.com/office/drawing/2014/main" id="{D3EA14FA-84F6-4E0E-BE12-65F24074FC0E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0" name="RectangleLegend4">
              <a:extLst>
                <a:ext uri="{FF2B5EF4-FFF2-40B4-BE49-F238E27FC236}">
                  <a16:creationId xmlns:a16="http://schemas.microsoft.com/office/drawing/2014/main" id="{3EE5986A-2C4F-483E-90CF-1A0F23F81DF3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1" name="RectangleLegend5">
              <a:extLst>
                <a:ext uri="{FF2B5EF4-FFF2-40B4-BE49-F238E27FC236}">
                  <a16:creationId xmlns:a16="http://schemas.microsoft.com/office/drawing/2014/main" id="{7B3CC25A-0DCB-475E-B8DD-4E05950539F5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2" name="Legend1">
              <a:extLst>
                <a:ext uri="{FF2B5EF4-FFF2-40B4-BE49-F238E27FC236}">
                  <a16:creationId xmlns:a16="http://schemas.microsoft.com/office/drawing/2014/main" id="{3B088D5F-D021-43F1-88A6-B21FB83295EB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23" name="Legend2">
              <a:extLst>
                <a:ext uri="{FF2B5EF4-FFF2-40B4-BE49-F238E27FC236}">
                  <a16:creationId xmlns:a16="http://schemas.microsoft.com/office/drawing/2014/main" id="{D97C0C8F-C184-474B-AF62-CB9CCB627764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24" name="Legend3">
              <a:extLst>
                <a:ext uri="{FF2B5EF4-FFF2-40B4-BE49-F238E27FC236}">
                  <a16:creationId xmlns:a16="http://schemas.microsoft.com/office/drawing/2014/main" id="{DE684621-D6AD-4258-8E2E-022317940756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25" name="Legend4">
              <a:extLst>
                <a:ext uri="{FF2B5EF4-FFF2-40B4-BE49-F238E27FC236}">
                  <a16:creationId xmlns:a16="http://schemas.microsoft.com/office/drawing/2014/main" id="{02A17A7D-7305-47FF-9096-8144CF2777BA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26" name="Legend5">
              <a:extLst>
                <a:ext uri="{FF2B5EF4-FFF2-40B4-BE49-F238E27FC236}">
                  <a16:creationId xmlns:a16="http://schemas.microsoft.com/office/drawing/2014/main" id="{EC58FF0D-5D53-4E64-83D9-FB154115A8F9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149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think-cell Slide" r:id="rId30" imgW="413" imgH="416" progId="TCLayout.ActiveDocument.1">
                  <p:embed/>
                </p:oleObj>
              </mc:Choice>
              <mc:Fallback>
                <p:oleObj name="think-cell Slide" r:id="rId3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56998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marL="203200" marR="0" lvl="0" indent="-212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408336"/>
            <a:ext cx="455253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all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987738" y="2170800"/>
            <a:ext cx="3049253" cy="46166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Above Chart Exhibit Title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887072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70" name="LegendLines" hidden="1">
            <a:extLst>
              <a:ext uri="{FF2B5EF4-FFF2-40B4-BE49-F238E27FC236}">
                <a16:creationId xmlns:a16="http://schemas.microsoft.com/office/drawing/2014/main" id="{24197982-5E33-4734-880F-D8056C492CFB}"/>
              </a:ext>
            </a:extLst>
          </p:cNvPr>
          <p:cNvGrpSpPr/>
          <p:nvPr userDrawn="1"/>
        </p:nvGrpSpPr>
        <p:grpSpPr>
          <a:xfrm>
            <a:off x="10317304" y="3281705"/>
            <a:ext cx="1319960" cy="958286"/>
            <a:chOff x="10162879" y="3243772"/>
            <a:chExt cx="1319960" cy="958286"/>
          </a:xfrm>
        </p:grpSpPr>
        <p:sp>
          <p:nvSpPr>
            <p:cNvPr id="171" name="Legend1">
              <a:extLst>
                <a:ext uri="{FF2B5EF4-FFF2-40B4-BE49-F238E27FC236}">
                  <a16:creationId xmlns:a16="http://schemas.microsoft.com/office/drawing/2014/main" id="{D2F49C76-13A3-4F26-A1B2-1D667523081F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72" name="Legend2">
              <a:extLst>
                <a:ext uri="{FF2B5EF4-FFF2-40B4-BE49-F238E27FC236}">
                  <a16:creationId xmlns:a16="http://schemas.microsoft.com/office/drawing/2014/main" id="{3394A4AA-E635-4E89-8DC6-9791DF4C3E56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73" name="Legend3">
              <a:extLst>
                <a:ext uri="{FF2B5EF4-FFF2-40B4-BE49-F238E27FC236}">
                  <a16:creationId xmlns:a16="http://schemas.microsoft.com/office/drawing/2014/main" id="{CE932BE8-0B21-4A74-B932-3DB0212529EE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74" name="LineLegend3">
              <a:extLst>
                <a:ext uri="{FF2B5EF4-FFF2-40B4-BE49-F238E27FC236}">
                  <a16:creationId xmlns:a16="http://schemas.microsoft.com/office/drawing/2014/main" id="{6C311A2A-4A06-4F1B-985D-F5721D00DC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5" name="LineLegend2">
              <a:extLst>
                <a:ext uri="{FF2B5EF4-FFF2-40B4-BE49-F238E27FC236}">
                  <a16:creationId xmlns:a16="http://schemas.microsoft.com/office/drawing/2014/main" id="{584FB680-4CD4-409F-8A13-6F557C9B831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6" name="LineLegend1">
              <a:extLst>
                <a:ext uri="{FF2B5EF4-FFF2-40B4-BE49-F238E27FC236}">
                  <a16:creationId xmlns:a16="http://schemas.microsoft.com/office/drawing/2014/main" id="{5CB99EC2-E839-44D8-AA59-6EA2E1F03EF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177" name="LegendMoons" hidden="1">
            <a:extLst>
              <a:ext uri="{FF2B5EF4-FFF2-40B4-BE49-F238E27FC236}">
                <a16:creationId xmlns:a16="http://schemas.microsoft.com/office/drawing/2014/main" id="{13958D18-5C08-4F98-A2BF-2002B3D31DDF}"/>
              </a:ext>
            </a:extLst>
          </p:cNvPr>
          <p:cNvGrpSpPr/>
          <p:nvPr userDrawn="1"/>
        </p:nvGrpSpPr>
        <p:grpSpPr>
          <a:xfrm>
            <a:off x="10688315" y="1408336"/>
            <a:ext cx="948949" cy="1731859"/>
            <a:chOff x="7723680" y="1702457"/>
            <a:chExt cx="948949" cy="1731859"/>
          </a:xfrm>
        </p:grpSpPr>
        <p:sp>
          <p:nvSpPr>
            <p:cNvPr id="178" name="Legend1">
              <a:extLst>
                <a:ext uri="{FF2B5EF4-FFF2-40B4-BE49-F238E27FC236}">
                  <a16:creationId xmlns:a16="http://schemas.microsoft.com/office/drawing/2014/main" id="{55EB1182-2370-4939-9091-529977534DCA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86" name="Legend2">
              <a:extLst>
                <a:ext uri="{FF2B5EF4-FFF2-40B4-BE49-F238E27FC236}">
                  <a16:creationId xmlns:a16="http://schemas.microsoft.com/office/drawing/2014/main" id="{C9798873-AD79-4749-8C0C-8494394BEA88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98" name="Legend3">
              <a:extLst>
                <a:ext uri="{FF2B5EF4-FFF2-40B4-BE49-F238E27FC236}">
                  <a16:creationId xmlns:a16="http://schemas.microsoft.com/office/drawing/2014/main" id="{C163B6FE-0716-4566-B4C9-42C7C3C966B0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99" name="Legend4">
              <a:extLst>
                <a:ext uri="{FF2B5EF4-FFF2-40B4-BE49-F238E27FC236}">
                  <a16:creationId xmlns:a16="http://schemas.microsoft.com/office/drawing/2014/main" id="{FC8FD795-0632-4256-ACBA-738877E20311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00" name="Legend5">
              <a:extLst>
                <a:ext uri="{FF2B5EF4-FFF2-40B4-BE49-F238E27FC236}">
                  <a16:creationId xmlns:a16="http://schemas.microsoft.com/office/drawing/2014/main" id="{27662E8E-7A4A-496D-B5CE-14D9F71FB06A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grpSp>
          <p:nvGrpSpPr>
            <p:cNvPr id="201" name="MoonLegend1">
              <a:extLst>
                <a:ext uri="{FF2B5EF4-FFF2-40B4-BE49-F238E27FC236}">
                  <a16:creationId xmlns:a16="http://schemas.microsoft.com/office/drawing/2014/main" id="{CC4121C0-C245-4BBD-A796-7D27CD84A5C1}"/>
                </a:ext>
              </a:extLst>
            </p:cNvPr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2533FFD2-31BF-4EB2-BFAB-5FA6917A1171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15" name="Arc 214">
                <a:extLst>
                  <a:ext uri="{FF2B5EF4-FFF2-40B4-BE49-F238E27FC236}">
                    <a16:creationId xmlns:a16="http://schemas.microsoft.com/office/drawing/2014/main" id="{D291FCFE-0414-4175-8447-CBE70E882591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  <p:grpSp>
          <p:nvGrpSpPr>
            <p:cNvPr id="202" name="MoonLegend2">
              <a:extLst>
                <a:ext uri="{FF2B5EF4-FFF2-40B4-BE49-F238E27FC236}">
                  <a16:creationId xmlns:a16="http://schemas.microsoft.com/office/drawing/2014/main" id="{EACACF61-20F1-4EFF-8F67-DE369665C3FF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6A25F403-52B5-475B-91C0-5E2357192968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13" name="Arc 212">
                <a:extLst>
                  <a:ext uri="{FF2B5EF4-FFF2-40B4-BE49-F238E27FC236}">
                    <a16:creationId xmlns:a16="http://schemas.microsoft.com/office/drawing/2014/main" id="{8BD76F35-D712-4518-AF4E-DACC6084B985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  <p:grpSp>
          <p:nvGrpSpPr>
            <p:cNvPr id="203" name="MoonLegend3">
              <a:extLst>
                <a:ext uri="{FF2B5EF4-FFF2-40B4-BE49-F238E27FC236}">
                  <a16:creationId xmlns:a16="http://schemas.microsoft.com/office/drawing/2014/main" id="{7A83CA34-F46D-4F6A-9F26-8BE16206395A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9A0FEDE4-9809-4DBE-A5D3-13FD6D9A3C7B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11" name="Arc 210">
                <a:extLst>
                  <a:ext uri="{FF2B5EF4-FFF2-40B4-BE49-F238E27FC236}">
                    <a16:creationId xmlns:a16="http://schemas.microsoft.com/office/drawing/2014/main" id="{4843CBF4-19BC-4C71-98DA-3E8F89930ADB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  <p:grpSp>
          <p:nvGrpSpPr>
            <p:cNvPr id="204" name="MoonLegend4">
              <a:extLst>
                <a:ext uri="{FF2B5EF4-FFF2-40B4-BE49-F238E27FC236}">
                  <a16:creationId xmlns:a16="http://schemas.microsoft.com/office/drawing/2014/main" id="{15C7287D-BBAE-4A75-8D7B-019EA1257209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1F737151-9B87-40DD-B526-8021B4B4F663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09" name="Arc 208">
                <a:extLst>
                  <a:ext uri="{FF2B5EF4-FFF2-40B4-BE49-F238E27FC236}">
                    <a16:creationId xmlns:a16="http://schemas.microsoft.com/office/drawing/2014/main" id="{071214B7-A723-4395-BF16-72605F1A15B1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  <p:grpSp>
          <p:nvGrpSpPr>
            <p:cNvPr id="205" name="MoonLegend5">
              <a:extLst>
                <a:ext uri="{FF2B5EF4-FFF2-40B4-BE49-F238E27FC236}">
                  <a16:creationId xmlns:a16="http://schemas.microsoft.com/office/drawing/2014/main" id="{932D4A1D-1CE3-4728-B843-6A973BD9E481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E3092167-5024-42F9-9C1A-1C7988845CF2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07" name="Arc 206">
                <a:extLst>
                  <a:ext uri="{FF2B5EF4-FFF2-40B4-BE49-F238E27FC236}">
                    <a16:creationId xmlns:a16="http://schemas.microsoft.com/office/drawing/2014/main" id="{120B02B2-D551-4881-9469-FFA64DD12125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6" name="LegendBoxes" hidden="1">
            <a:extLst>
              <a:ext uri="{FF2B5EF4-FFF2-40B4-BE49-F238E27FC236}">
                <a16:creationId xmlns:a16="http://schemas.microsoft.com/office/drawing/2014/main" id="{08E31C11-7753-488A-9E81-BB817CAA7B0A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217" name="RectangleLegend1">
              <a:extLst>
                <a:ext uri="{FF2B5EF4-FFF2-40B4-BE49-F238E27FC236}">
                  <a16:creationId xmlns:a16="http://schemas.microsoft.com/office/drawing/2014/main" id="{32F36D60-0F88-4057-93B0-B291C182E23E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8" name="RectangleLegend2">
              <a:extLst>
                <a:ext uri="{FF2B5EF4-FFF2-40B4-BE49-F238E27FC236}">
                  <a16:creationId xmlns:a16="http://schemas.microsoft.com/office/drawing/2014/main" id="{4A78725E-06AD-479E-B406-0AF43E2C2060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9" name="RectangleLegend3">
              <a:extLst>
                <a:ext uri="{FF2B5EF4-FFF2-40B4-BE49-F238E27FC236}">
                  <a16:creationId xmlns:a16="http://schemas.microsoft.com/office/drawing/2014/main" id="{D3EA14FA-84F6-4E0E-BE12-65F24074FC0E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0" name="RectangleLegend4">
              <a:extLst>
                <a:ext uri="{FF2B5EF4-FFF2-40B4-BE49-F238E27FC236}">
                  <a16:creationId xmlns:a16="http://schemas.microsoft.com/office/drawing/2014/main" id="{3EE5986A-2C4F-483E-90CF-1A0F23F81DF3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1" name="RectangleLegend5">
              <a:extLst>
                <a:ext uri="{FF2B5EF4-FFF2-40B4-BE49-F238E27FC236}">
                  <a16:creationId xmlns:a16="http://schemas.microsoft.com/office/drawing/2014/main" id="{7B3CC25A-0DCB-475E-B8DD-4E05950539F5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2" name="Legend1">
              <a:extLst>
                <a:ext uri="{FF2B5EF4-FFF2-40B4-BE49-F238E27FC236}">
                  <a16:creationId xmlns:a16="http://schemas.microsoft.com/office/drawing/2014/main" id="{3B088D5F-D021-43F1-88A6-B21FB83295EB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23" name="Legend2">
              <a:extLst>
                <a:ext uri="{FF2B5EF4-FFF2-40B4-BE49-F238E27FC236}">
                  <a16:creationId xmlns:a16="http://schemas.microsoft.com/office/drawing/2014/main" id="{D97C0C8F-C184-474B-AF62-CB9CCB627764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24" name="Legend3">
              <a:extLst>
                <a:ext uri="{FF2B5EF4-FFF2-40B4-BE49-F238E27FC236}">
                  <a16:creationId xmlns:a16="http://schemas.microsoft.com/office/drawing/2014/main" id="{DE684621-D6AD-4258-8E2E-022317940756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25" name="Legend4">
              <a:extLst>
                <a:ext uri="{FF2B5EF4-FFF2-40B4-BE49-F238E27FC236}">
                  <a16:creationId xmlns:a16="http://schemas.microsoft.com/office/drawing/2014/main" id="{02A17A7D-7305-47FF-9096-8144CF2777BA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26" name="Legend5">
              <a:extLst>
                <a:ext uri="{FF2B5EF4-FFF2-40B4-BE49-F238E27FC236}">
                  <a16:creationId xmlns:a16="http://schemas.microsoft.com/office/drawing/2014/main" id="{EC58FF0D-5D53-4E64-83D9-FB154115A8F9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7528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" name="think-cell Slide" r:id="rId34" imgW="413" imgH="416" progId="TCLayout.ActiveDocument.1">
                  <p:embed/>
                </p:oleObj>
              </mc:Choice>
              <mc:Fallback>
                <p:oleObj name="think-cell Slide" r:id="rId34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156998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marL="203200" marR="0" lvl="0" indent="-212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408336"/>
            <a:ext cx="455253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all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987738" y="2170800"/>
            <a:ext cx="3049253" cy="46166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Above Chart Exhibit Title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887072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70" name="LegendLines" hidden="1">
            <a:extLst>
              <a:ext uri="{FF2B5EF4-FFF2-40B4-BE49-F238E27FC236}">
                <a16:creationId xmlns:a16="http://schemas.microsoft.com/office/drawing/2014/main" id="{24197982-5E33-4734-880F-D8056C492CFB}"/>
              </a:ext>
            </a:extLst>
          </p:cNvPr>
          <p:cNvGrpSpPr/>
          <p:nvPr userDrawn="1"/>
        </p:nvGrpSpPr>
        <p:grpSpPr>
          <a:xfrm>
            <a:off x="10317304" y="3281705"/>
            <a:ext cx="1319960" cy="958286"/>
            <a:chOff x="10162879" y="3243772"/>
            <a:chExt cx="1319960" cy="958286"/>
          </a:xfrm>
        </p:grpSpPr>
        <p:sp>
          <p:nvSpPr>
            <p:cNvPr id="171" name="Legend1">
              <a:extLst>
                <a:ext uri="{FF2B5EF4-FFF2-40B4-BE49-F238E27FC236}">
                  <a16:creationId xmlns:a16="http://schemas.microsoft.com/office/drawing/2014/main" id="{D2F49C76-13A3-4F26-A1B2-1D667523081F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72" name="Legend2">
              <a:extLst>
                <a:ext uri="{FF2B5EF4-FFF2-40B4-BE49-F238E27FC236}">
                  <a16:creationId xmlns:a16="http://schemas.microsoft.com/office/drawing/2014/main" id="{3394A4AA-E635-4E89-8DC6-9791DF4C3E56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73" name="Legend3">
              <a:extLst>
                <a:ext uri="{FF2B5EF4-FFF2-40B4-BE49-F238E27FC236}">
                  <a16:creationId xmlns:a16="http://schemas.microsoft.com/office/drawing/2014/main" id="{CE932BE8-0B21-4A74-B932-3DB0212529EE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74" name="LineLegend3">
              <a:extLst>
                <a:ext uri="{FF2B5EF4-FFF2-40B4-BE49-F238E27FC236}">
                  <a16:creationId xmlns:a16="http://schemas.microsoft.com/office/drawing/2014/main" id="{6C311A2A-4A06-4F1B-985D-F5721D00DC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5" name="LineLegend2">
              <a:extLst>
                <a:ext uri="{FF2B5EF4-FFF2-40B4-BE49-F238E27FC236}">
                  <a16:creationId xmlns:a16="http://schemas.microsoft.com/office/drawing/2014/main" id="{584FB680-4CD4-409F-8A13-6F557C9B831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6" name="LineLegend1">
              <a:extLst>
                <a:ext uri="{FF2B5EF4-FFF2-40B4-BE49-F238E27FC236}">
                  <a16:creationId xmlns:a16="http://schemas.microsoft.com/office/drawing/2014/main" id="{5CB99EC2-E839-44D8-AA59-6EA2E1F03EF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177" name="LegendMoons" hidden="1">
            <a:extLst>
              <a:ext uri="{FF2B5EF4-FFF2-40B4-BE49-F238E27FC236}">
                <a16:creationId xmlns:a16="http://schemas.microsoft.com/office/drawing/2014/main" id="{13958D18-5C08-4F98-A2BF-2002B3D31DDF}"/>
              </a:ext>
            </a:extLst>
          </p:cNvPr>
          <p:cNvGrpSpPr/>
          <p:nvPr userDrawn="1"/>
        </p:nvGrpSpPr>
        <p:grpSpPr>
          <a:xfrm>
            <a:off x="10688315" y="1408336"/>
            <a:ext cx="948949" cy="1731859"/>
            <a:chOff x="7723680" y="1702457"/>
            <a:chExt cx="948949" cy="1731859"/>
          </a:xfrm>
        </p:grpSpPr>
        <p:sp>
          <p:nvSpPr>
            <p:cNvPr id="178" name="Legend1">
              <a:extLst>
                <a:ext uri="{FF2B5EF4-FFF2-40B4-BE49-F238E27FC236}">
                  <a16:creationId xmlns:a16="http://schemas.microsoft.com/office/drawing/2014/main" id="{55EB1182-2370-4939-9091-529977534DCA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86" name="Legend2">
              <a:extLst>
                <a:ext uri="{FF2B5EF4-FFF2-40B4-BE49-F238E27FC236}">
                  <a16:creationId xmlns:a16="http://schemas.microsoft.com/office/drawing/2014/main" id="{C9798873-AD79-4749-8C0C-8494394BEA88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98" name="Legend3">
              <a:extLst>
                <a:ext uri="{FF2B5EF4-FFF2-40B4-BE49-F238E27FC236}">
                  <a16:creationId xmlns:a16="http://schemas.microsoft.com/office/drawing/2014/main" id="{C163B6FE-0716-4566-B4C9-42C7C3C966B0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99" name="Legend4">
              <a:extLst>
                <a:ext uri="{FF2B5EF4-FFF2-40B4-BE49-F238E27FC236}">
                  <a16:creationId xmlns:a16="http://schemas.microsoft.com/office/drawing/2014/main" id="{FC8FD795-0632-4256-ACBA-738877E20311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00" name="Legend5">
              <a:extLst>
                <a:ext uri="{FF2B5EF4-FFF2-40B4-BE49-F238E27FC236}">
                  <a16:creationId xmlns:a16="http://schemas.microsoft.com/office/drawing/2014/main" id="{27662E8E-7A4A-496D-B5CE-14D9F71FB06A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grpSp>
          <p:nvGrpSpPr>
            <p:cNvPr id="201" name="MoonLegend1">
              <a:extLst>
                <a:ext uri="{FF2B5EF4-FFF2-40B4-BE49-F238E27FC236}">
                  <a16:creationId xmlns:a16="http://schemas.microsoft.com/office/drawing/2014/main" id="{CC4121C0-C245-4BBD-A796-7D27CD84A5C1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2533FFD2-31BF-4EB2-BFAB-5FA6917A1171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15" name="Arc 214">
                <a:extLst>
                  <a:ext uri="{FF2B5EF4-FFF2-40B4-BE49-F238E27FC236}">
                    <a16:creationId xmlns:a16="http://schemas.microsoft.com/office/drawing/2014/main" id="{D291FCFE-0414-4175-8447-CBE70E882591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  <p:grpSp>
          <p:nvGrpSpPr>
            <p:cNvPr id="202" name="MoonLegend2">
              <a:extLst>
                <a:ext uri="{FF2B5EF4-FFF2-40B4-BE49-F238E27FC236}">
                  <a16:creationId xmlns:a16="http://schemas.microsoft.com/office/drawing/2014/main" id="{EACACF61-20F1-4EFF-8F67-DE369665C3FF}"/>
                </a:ext>
              </a:extLst>
            </p:cNvPr>
            <p:cNvGrpSpPr>
              <a:grpSpLocks noChangeAspect="1"/>
            </p:cNvGrpSpPr>
            <p:nvPr>
              <p:custDataLst>
                <p:tags r:id="rId20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6A25F403-52B5-475B-91C0-5E235719296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13" name="Arc 212">
                <a:extLst>
                  <a:ext uri="{FF2B5EF4-FFF2-40B4-BE49-F238E27FC236}">
                    <a16:creationId xmlns:a16="http://schemas.microsoft.com/office/drawing/2014/main" id="{8BD76F35-D712-4518-AF4E-DACC6084B985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  <p:grpSp>
          <p:nvGrpSpPr>
            <p:cNvPr id="203" name="MoonLegend3">
              <a:extLst>
                <a:ext uri="{FF2B5EF4-FFF2-40B4-BE49-F238E27FC236}">
                  <a16:creationId xmlns:a16="http://schemas.microsoft.com/office/drawing/2014/main" id="{7A83CA34-F46D-4F6A-9F26-8BE16206395A}"/>
                </a:ext>
              </a:extLst>
            </p:cNvPr>
            <p:cNvGrpSpPr>
              <a:grpSpLocks noChangeAspect="1"/>
            </p:cNvGrpSpPr>
            <p:nvPr>
              <p:custDataLst>
                <p:tags r:id="rId21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9A0FEDE4-9809-4DBE-A5D3-13FD6D9A3C7B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11" name="Arc 210">
                <a:extLst>
                  <a:ext uri="{FF2B5EF4-FFF2-40B4-BE49-F238E27FC236}">
                    <a16:creationId xmlns:a16="http://schemas.microsoft.com/office/drawing/2014/main" id="{4843CBF4-19BC-4C71-98DA-3E8F89930ADB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  <p:grpSp>
          <p:nvGrpSpPr>
            <p:cNvPr id="204" name="MoonLegend4">
              <a:extLst>
                <a:ext uri="{FF2B5EF4-FFF2-40B4-BE49-F238E27FC236}">
                  <a16:creationId xmlns:a16="http://schemas.microsoft.com/office/drawing/2014/main" id="{15C7287D-BBAE-4A75-8D7B-019EA1257209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1F737151-9B87-40DD-B526-8021B4B4F663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09" name="Arc 208">
                <a:extLst>
                  <a:ext uri="{FF2B5EF4-FFF2-40B4-BE49-F238E27FC236}">
                    <a16:creationId xmlns:a16="http://schemas.microsoft.com/office/drawing/2014/main" id="{071214B7-A723-4395-BF16-72605F1A15B1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  <p:grpSp>
          <p:nvGrpSpPr>
            <p:cNvPr id="205" name="MoonLegend5">
              <a:extLst>
                <a:ext uri="{FF2B5EF4-FFF2-40B4-BE49-F238E27FC236}">
                  <a16:creationId xmlns:a16="http://schemas.microsoft.com/office/drawing/2014/main" id="{932D4A1D-1CE3-4728-B843-6A973BD9E481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E3092167-5024-42F9-9C1A-1C7988845CF2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07" name="Arc 206">
                <a:extLst>
                  <a:ext uri="{FF2B5EF4-FFF2-40B4-BE49-F238E27FC236}">
                    <a16:creationId xmlns:a16="http://schemas.microsoft.com/office/drawing/2014/main" id="{120B02B2-D551-4881-9469-FFA64DD12125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6" name="LegendBoxes" hidden="1">
            <a:extLst>
              <a:ext uri="{FF2B5EF4-FFF2-40B4-BE49-F238E27FC236}">
                <a16:creationId xmlns:a16="http://schemas.microsoft.com/office/drawing/2014/main" id="{08E31C11-7753-488A-9E81-BB817CAA7B0A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217" name="RectangleLegend1">
              <a:extLst>
                <a:ext uri="{FF2B5EF4-FFF2-40B4-BE49-F238E27FC236}">
                  <a16:creationId xmlns:a16="http://schemas.microsoft.com/office/drawing/2014/main" id="{32F36D60-0F88-4057-93B0-B291C182E23E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8" name="RectangleLegend2">
              <a:extLst>
                <a:ext uri="{FF2B5EF4-FFF2-40B4-BE49-F238E27FC236}">
                  <a16:creationId xmlns:a16="http://schemas.microsoft.com/office/drawing/2014/main" id="{4A78725E-06AD-479E-B406-0AF43E2C2060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9" name="RectangleLegend3">
              <a:extLst>
                <a:ext uri="{FF2B5EF4-FFF2-40B4-BE49-F238E27FC236}">
                  <a16:creationId xmlns:a16="http://schemas.microsoft.com/office/drawing/2014/main" id="{D3EA14FA-84F6-4E0E-BE12-65F24074FC0E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0" name="RectangleLegend4">
              <a:extLst>
                <a:ext uri="{FF2B5EF4-FFF2-40B4-BE49-F238E27FC236}">
                  <a16:creationId xmlns:a16="http://schemas.microsoft.com/office/drawing/2014/main" id="{3EE5986A-2C4F-483E-90CF-1A0F23F81DF3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1" name="RectangleLegend5">
              <a:extLst>
                <a:ext uri="{FF2B5EF4-FFF2-40B4-BE49-F238E27FC236}">
                  <a16:creationId xmlns:a16="http://schemas.microsoft.com/office/drawing/2014/main" id="{7B3CC25A-0DCB-475E-B8DD-4E05950539F5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2" name="Legend1">
              <a:extLst>
                <a:ext uri="{FF2B5EF4-FFF2-40B4-BE49-F238E27FC236}">
                  <a16:creationId xmlns:a16="http://schemas.microsoft.com/office/drawing/2014/main" id="{3B088D5F-D021-43F1-88A6-B21FB83295EB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23" name="Legend2">
              <a:extLst>
                <a:ext uri="{FF2B5EF4-FFF2-40B4-BE49-F238E27FC236}">
                  <a16:creationId xmlns:a16="http://schemas.microsoft.com/office/drawing/2014/main" id="{D97C0C8F-C184-474B-AF62-CB9CCB627764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24" name="Legend3">
              <a:extLst>
                <a:ext uri="{FF2B5EF4-FFF2-40B4-BE49-F238E27FC236}">
                  <a16:creationId xmlns:a16="http://schemas.microsoft.com/office/drawing/2014/main" id="{DE684621-D6AD-4258-8E2E-022317940756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25" name="Legend4">
              <a:extLst>
                <a:ext uri="{FF2B5EF4-FFF2-40B4-BE49-F238E27FC236}">
                  <a16:creationId xmlns:a16="http://schemas.microsoft.com/office/drawing/2014/main" id="{02A17A7D-7305-47FF-9096-8144CF2777BA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26" name="Legend5">
              <a:extLst>
                <a:ext uri="{FF2B5EF4-FFF2-40B4-BE49-F238E27FC236}">
                  <a16:creationId xmlns:a16="http://schemas.microsoft.com/office/drawing/2014/main" id="{EC58FF0D-5D53-4E64-83D9-FB154115A8F9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Legend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4990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tags" Target="../tags/tag302.xml"/><Relationship Id="rId1" Type="http://schemas.openxmlformats.org/officeDocument/2006/relationships/vmlDrawing" Target="../drawings/vmlDrawing33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14.png"/><Relationship Id="rId2" Type="http://schemas.openxmlformats.org/officeDocument/2006/relationships/tags" Target="../tags/tag303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3.bin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slideLayout" Target="../slideLayouts/slideLayout16.xml"/><Relationship Id="rId7" Type="http://schemas.openxmlformats.org/officeDocument/2006/relationships/oleObject" Target="../embeddings/oleObject13.bin"/><Relationship Id="rId2" Type="http://schemas.openxmlformats.org/officeDocument/2006/relationships/tags" Target="../tags/tag304.xml"/><Relationship Id="rId1" Type="http://schemas.openxmlformats.org/officeDocument/2006/relationships/vmlDrawing" Target="../drawings/vmlDrawing35.v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16.jpeg"/><Relationship Id="rId2" Type="http://schemas.openxmlformats.org/officeDocument/2006/relationships/tags" Target="../tags/tag305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3.bin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17.png"/><Relationship Id="rId2" Type="http://schemas.openxmlformats.org/officeDocument/2006/relationships/tags" Target="../tags/tag306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3.bin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18.png"/><Relationship Id="rId2" Type="http://schemas.openxmlformats.org/officeDocument/2006/relationships/tags" Target="../tags/tag30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3.bin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308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3.bin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315.xml"/><Relationship Id="rId13" Type="http://schemas.openxmlformats.org/officeDocument/2006/relationships/image" Target="../media/image21.emf"/><Relationship Id="rId18" Type="http://schemas.openxmlformats.org/officeDocument/2006/relationships/image" Target="../media/image23.png"/><Relationship Id="rId3" Type="http://schemas.openxmlformats.org/officeDocument/2006/relationships/tags" Target="../tags/tag310.xml"/><Relationship Id="rId7" Type="http://schemas.openxmlformats.org/officeDocument/2006/relationships/tags" Target="../tags/tag314.xml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325.svg"/><Relationship Id="rId2" Type="http://schemas.openxmlformats.org/officeDocument/2006/relationships/tags" Target="../tags/tag309.xml"/><Relationship Id="rId1" Type="http://schemas.openxmlformats.org/officeDocument/2006/relationships/vmlDrawing" Target="../drawings/vmlDrawing40.vml"/><Relationship Id="rId6" Type="http://schemas.openxmlformats.org/officeDocument/2006/relationships/tags" Target="../tags/tag313.xml"/><Relationship Id="rId11" Type="http://schemas.openxmlformats.org/officeDocument/2006/relationships/notesSlide" Target="../notesSlides/notesSlide7.xml"/><Relationship Id="rId5" Type="http://schemas.openxmlformats.org/officeDocument/2006/relationships/tags" Target="../tags/tag312.xml"/><Relationship Id="rId10" Type="http://schemas.openxmlformats.org/officeDocument/2006/relationships/slideLayout" Target="../slideLayouts/slideLayout43.xml"/><Relationship Id="rId4" Type="http://schemas.openxmlformats.org/officeDocument/2006/relationships/tags" Target="../tags/tag311.xml"/><Relationship Id="rId9" Type="http://schemas.openxmlformats.org/officeDocument/2006/relationships/tags" Target="../tags/tag316.xml"/><Relationship Id="rId1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1.svg"/><Relationship Id="rId18" Type="http://schemas.openxmlformats.org/officeDocument/2006/relationships/image" Target="../media/image30.png"/><Relationship Id="rId3" Type="http://schemas.openxmlformats.org/officeDocument/2006/relationships/tags" Target="../tags/tag318.xml"/><Relationship Id="rId7" Type="http://schemas.openxmlformats.org/officeDocument/2006/relationships/image" Target="../media/image24.emf"/><Relationship Id="rId12" Type="http://schemas.openxmlformats.org/officeDocument/2006/relationships/image" Target="../media/image27.png"/><Relationship Id="rId17" Type="http://schemas.openxmlformats.org/officeDocument/2006/relationships/image" Target="../media/image305.svg"/><Relationship Id="rId2" Type="http://schemas.openxmlformats.org/officeDocument/2006/relationships/tags" Target="../tags/tag317.xml"/><Relationship Id="rId16" Type="http://schemas.openxmlformats.org/officeDocument/2006/relationships/image" Target="../media/image29.png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99.svg"/><Relationship Id="rId5" Type="http://schemas.openxmlformats.org/officeDocument/2006/relationships/slideLayout" Target="../slideLayouts/slideLayout37.xml"/><Relationship Id="rId15" Type="http://schemas.openxmlformats.org/officeDocument/2006/relationships/image" Target="../media/image303.svg"/><Relationship Id="rId10" Type="http://schemas.openxmlformats.org/officeDocument/2006/relationships/image" Target="../media/image26.png"/><Relationship Id="rId4" Type="http://schemas.openxmlformats.org/officeDocument/2006/relationships/tags" Target="../tags/tag319.xml"/><Relationship Id="rId9" Type="http://schemas.openxmlformats.org/officeDocument/2006/relationships/image" Target="../media/image297.svg"/><Relationship Id="rId1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320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3.bin"/><Relationship Id="rId4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321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3.bin"/><Relationship Id="rId4" Type="http://schemas.openxmlformats.org/officeDocument/2006/relationships/notesSlide" Target="../notesSlides/notesSlide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32.png"/><Relationship Id="rId2" Type="http://schemas.openxmlformats.org/officeDocument/2006/relationships/tags" Target="../tags/tag322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3.bin"/><Relationship Id="rId4" Type="http://schemas.openxmlformats.org/officeDocument/2006/relationships/notesSlide" Target="../notesSlides/notesSlide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323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3.bin"/><Relationship Id="rId4" Type="http://schemas.openxmlformats.org/officeDocument/2006/relationships/notesSlide" Target="../notesSlides/notesSlide1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e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" Type="http://schemas.openxmlformats.org/officeDocument/2006/relationships/slideLayout" Target="../slideLayouts/slideLayout37.xml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jpeg"/><Relationship Id="rId2" Type="http://schemas.openxmlformats.org/officeDocument/2006/relationships/tags" Target="../tags/tag324.xml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vmlDrawing" Target="../drawings/vmlDrawing46.v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24" Type="http://schemas.openxmlformats.org/officeDocument/2006/relationships/image" Target="../media/image65.png"/><Relationship Id="rId5" Type="http://schemas.openxmlformats.org/officeDocument/2006/relationships/image" Target="../media/image2.emf"/><Relationship Id="rId15" Type="http://schemas.openxmlformats.org/officeDocument/2006/relationships/image" Target="../media/image56.png"/><Relationship Id="rId23" Type="http://schemas.openxmlformats.org/officeDocument/2006/relationships/image" Target="../media/image64.jpe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jpe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26" Type="http://schemas.openxmlformats.org/officeDocument/2006/relationships/image" Target="../media/image88.png"/><Relationship Id="rId3" Type="http://schemas.openxmlformats.org/officeDocument/2006/relationships/tags" Target="../tags/tag326.xml"/><Relationship Id="rId21" Type="http://schemas.openxmlformats.org/officeDocument/2006/relationships/image" Target="../media/image83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5" Type="http://schemas.openxmlformats.org/officeDocument/2006/relationships/image" Target="../media/image87.png"/><Relationship Id="rId2" Type="http://schemas.openxmlformats.org/officeDocument/2006/relationships/tags" Target="../tags/tag325.xml"/><Relationship Id="rId16" Type="http://schemas.openxmlformats.org/officeDocument/2006/relationships/image" Target="../media/image78.jpeg"/><Relationship Id="rId20" Type="http://schemas.openxmlformats.org/officeDocument/2006/relationships/image" Target="../media/image82.png"/><Relationship Id="rId29" Type="http://schemas.openxmlformats.org/officeDocument/2006/relationships/image" Target="../media/image91.png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.emf"/><Relationship Id="rId11" Type="http://schemas.openxmlformats.org/officeDocument/2006/relationships/image" Target="../media/image73.png"/><Relationship Id="rId24" Type="http://schemas.openxmlformats.org/officeDocument/2006/relationships/image" Target="../media/image86.png"/><Relationship Id="rId32" Type="http://schemas.openxmlformats.org/officeDocument/2006/relationships/image" Target="../media/image94.png"/><Relationship Id="rId5" Type="http://schemas.openxmlformats.org/officeDocument/2006/relationships/oleObject" Target="../embeddings/oleObject17.bin"/><Relationship Id="rId15" Type="http://schemas.openxmlformats.org/officeDocument/2006/relationships/image" Target="../media/image77.png"/><Relationship Id="rId23" Type="http://schemas.openxmlformats.org/officeDocument/2006/relationships/image" Target="../media/image85.png"/><Relationship Id="rId28" Type="http://schemas.openxmlformats.org/officeDocument/2006/relationships/image" Target="../media/image90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31" Type="http://schemas.openxmlformats.org/officeDocument/2006/relationships/image" Target="../media/image93.png"/><Relationship Id="rId4" Type="http://schemas.openxmlformats.org/officeDocument/2006/relationships/slideLayout" Target="../slideLayouts/slideLayout37.xml"/><Relationship Id="rId9" Type="http://schemas.openxmlformats.org/officeDocument/2006/relationships/image" Target="../media/image71.png"/><Relationship Id="rId14" Type="http://schemas.openxmlformats.org/officeDocument/2006/relationships/image" Target="../media/image76.png"/><Relationship Id="rId22" Type="http://schemas.openxmlformats.org/officeDocument/2006/relationships/image" Target="../media/image84.png"/><Relationship Id="rId27" Type="http://schemas.openxmlformats.org/officeDocument/2006/relationships/image" Target="../media/image89.png"/><Relationship Id="rId30" Type="http://schemas.openxmlformats.org/officeDocument/2006/relationships/image" Target="../media/image9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jpeg"/><Relationship Id="rId26" Type="http://schemas.openxmlformats.org/officeDocument/2006/relationships/image" Target="../media/image84.png"/><Relationship Id="rId3" Type="http://schemas.openxmlformats.org/officeDocument/2006/relationships/tags" Target="../tags/tag328.xml"/><Relationship Id="rId21" Type="http://schemas.openxmlformats.org/officeDocument/2006/relationships/image" Target="../media/image108.png"/><Relationship Id="rId7" Type="http://schemas.openxmlformats.org/officeDocument/2006/relationships/image" Target="../media/image2.emf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5" Type="http://schemas.openxmlformats.org/officeDocument/2006/relationships/image" Target="../media/image82.png"/><Relationship Id="rId2" Type="http://schemas.openxmlformats.org/officeDocument/2006/relationships/tags" Target="../tags/tag327.xml"/><Relationship Id="rId16" Type="http://schemas.openxmlformats.org/officeDocument/2006/relationships/image" Target="../media/image103.jpeg"/><Relationship Id="rId20" Type="http://schemas.openxmlformats.org/officeDocument/2006/relationships/image" Target="../media/image107.png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98.png"/><Relationship Id="rId24" Type="http://schemas.openxmlformats.org/officeDocument/2006/relationships/image" Target="../media/image81.png"/><Relationship Id="rId5" Type="http://schemas.openxmlformats.org/officeDocument/2006/relationships/slideLayout" Target="../slideLayouts/slideLayout37.xml"/><Relationship Id="rId15" Type="http://schemas.openxmlformats.org/officeDocument/2006/relationships/image" Target="../media/image102.png"/><Relationship Id="rId23" Type="http://schemas.openxmlformats.org/officeDocument/2006/relationships/image" Target="../media/image110.png"/><Relationship Id="rId10" Type="http://schemas.openxmlformats.org/officeDocument/2006/relationships/image" Target="../media/image97.jpeg"/><Relationship Id="rId19" Type="http://schemas.openxmlformats.org/officeDocument/2006/relationships/image" Target="../media/image106.png"/><Relationship Id="rId4" Type="http://schemas.openxmlformats.org/officeDocument/2006/relationships/tags" Target="../tags/tag329.xml"/><Relationship Id="rId9" Type="http://schemas.openxmlformats.org/officeDocument/2006/relationships/image" Target="../media/image96.png"/><Relationship Id="rId14" Type="http://schemas.openxmlformats.org/officeDocument/2006/relationships/image" Target="../media/image101.jpeg"/><Relationship Id="rId22" Type="http://schemas.openxmlformats.org/officeDocument/2006/relationships/image" Target="../media/image109.png"/><Relationship Id="rId27" Type="http://schemas.openxmlformats.org/officeDocument/2006/relationships/image" Target="../media/image8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336.xml"/><Relationship Id="rId13" Type="http://schemas.openxmlformats.org/officeDocument/2006/relationships/tags" Target="../tags/tag341.xml"/><Relationship Id="rId18" Type="http://schemas.openxmlformats.org/officeDocument/2006/relationships/tags" Target="../tags/tag346.xml"/><Relationship Id="rId26" Type="http://schemas.openxmlformats.org/officeDocument/2006/relationships/oleObject" Target="../embeddings/oleObject19.bin"/><Relationship Id="rId3" Type="http://schemas.openxmlformats.org/officeDocument/2006/relationships/tags" Target="../tags/tag331.xml"/><Relationship Id="rId21" Type="http://schemas.openxmlformats.org/officeDocument/2006/relationships/tags" Target="../tags/tag349.xml"/><Relationship Id="rId7" Type="http://schemas.openxmlformats.org/officeDocument/2006/relationships/tags" Target="../tags/tag335.xml"/><Relationship Id="rId12" Type="http://schemas.openxmlformats.org/officeDocument/2006/relationships/tags" Target="../tags/tag340.xml"/><Relationship Id="rId17" Type="http://schemas.openxmlformats.org/officeDocument/2006/relationships/tags" Target="../tags/tag345.xml"/><Relationship Id="rId25" Type="http://schemas.openxmlformats.org/officeDocument/2006/relationships/notesSlide" Target="../notesSlides/notesSlide12.xml"/><Relationship Id="rId2" Type="http://schemas.openxmlformats.org/officeDocument/2006/relationships/tags" Target="../tags/tag330.xml"/><Relationship Id="rId16" Type="http://schemas.openxmlformats.org/officeDocument/2006/relationships/tags" Target="../tags/tag344.xml"/><Relationship Id="rId20" Type="http://schemas.openxmlformats.org/officeDocument/2006/relationships/tags" Target="../tags/tag348.xml"/><Relationship Id="rId29" Type="http://schemas.openxmlformats.org/officeDocument/2006/relationships/image" Target="../media/image113.png"/><Relationship Id="rId1" Type="http://schemas.openxmlformats.org/officeDocument/2006/relationships/vmlDrawing" Target="../drawings/vmlDrawing49.vml"/><Relationship Id="rId6" Type="http://schemas.openxmlformats.org/officeDocument/2006/relationships/tags" Target="../tags/tag334.xml"/><Relationship Id="rId11" Type="http://schemas.openxmlformats.org/officeDocument/2006/relationships/tags" Target="../tags/tag339.xml"/><Relationship Id="rId24" Type="http://schemas.openxmlformats.org/officeDocument/2006/relationships/slideLayout" Target="../slideLayouts/slideLayout41.xml"/><Relationship Id="rId5" Type="http://schemas.openxmlformats.org/officeDocument/2006/relationships/tags" Target="../tags/tag333.xml"/><Relationship Id="rId15" Type="http://schemas.openxmlformats.org/officeDocument/2006/relationships/tags" Target="../tags/tag343.xml"/><Relationship Id="rId23" Type="http://schemas.openxmlformats.org/officeDocument/2006/relationships/tags" Target="../tags/tag351.xml"/><Relationship Id="rId28" Type="http://schemas.openxmlformats.org/officeDocument/2006/relationships/image" Target="../media/image112.png"/><Relationship Id="rId10" Type="http://schemas.openxmlformats.org/officeDocument/2006/relationships/tags" Target="../tags/tag338.xml"/><Relationship Id="rId19" Type="http://schemas.openxmlformats.org/officeDocument/2006/relationships/tags" Target="../tags/tag347.xml"/><Relationship Id="rId4" Type="http://schemas.openxmlformats.org/officeDocument/2006/relationships/tags" Target="../tags/tag332.xml"/><Relationship Id="rId9" Type="http://schemas.openxmlformats.org/officeDocument/2006/relationships/tags" Target="../tags/tag337.xml"/><Relationship Id="rId14" Type="http://schemas.openxmlformats.org/officeDocument/2006/relationships/tags" Target="../tags/tag342.xml"/><Relationship Id="rId22" Type="http://schemas.openxmlformats.org/officeDocument/2006/relationships/tags" Target="../tags/tag350.xml"/><Relationship Id="rId27" Type="http://schemas.openxmlformats.org/officeDocument/2006/relationships/image" Target="../media/image111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image" Target="../media/image114.png"/><Relationship Id="rId3" Type="http://schemas.openxmlformats.org/officeDocument/2006/relationships/tags" Target="../tags/tag353.xml"/><Relationship Id="rId7" Type="http://schemas.openxmlformats.org/officeDocument/2006/relationships/tags" Target="../tags/tag357.xml"/><Relationship Id="rId12" Type="http://schemas.openxmlformats.org/officeDocument/2006/relationships/hyperlink" Target="https://www.google.com/url?sa=t&amp;rct=j&amp;q=&amp;esrc=s&amp;source=web&amp;cd=&amp;cad=rja&amp;uact=8&amp;ved=2ahUKEwjv84DIvej2AhVROBoKHQpJCLAQFnoECAIQAQ&amp;url=https://cdn.oreillystatic.com/en/assets/1/event/160/File%20format%20benchmark_%20Avro,%20JSON,%20ORC,%20and%20Parquet%20Presentation%201.pptx&amp;usg=AOvVaw2_qW_cDbqkVJJ5LlUPfUvw" TargetMode="External"/><Relationship Id="rId2" Type="http://schemas.openxmlformats.org/officeDocument/2006/relationships/tags" Target="../tags/tag352.xml"/><Relationship Id="rId1" Type="http://schemas.openxmlformats.org/officeDocument/2006/relationships/vmlDrawing" Target="../drawings/vmlDrawing50.vml"/><Relationship Id="rId6" Type="http://schemas.openxmlformats.org/officeDocument/2006/relationships/tags" Target="../tags/tag356.xml"/><Relationship Id="rId11" Type="http://schemas.openxmlformats.org/officeDocument/2006/relationships/hyperlink" Target="https://db-blog.web.cern.ch/blog/zbigniew-baranowski/2017-01-performance-comparison-different-file-formats-and-storage-engines" TargetMode="External"/><Relationship Id="rId5" Type="http://schemas.openxmlformats.org/officeDocument/2006/relationships/tags" Target="../tags/tag355.xml"/><Relationship Id="rId15" Type="http://schemas.openxmlformats.org/officeDocument/2006/relationships/image" Target="../media/image116.png"/><Relationship Id="rId10" Type="http://schemas.openxmlformats.org/officeDocument/2006/relationships/image" Target="../media/image2.emf"/><Relationship Id="rId4" Type="http://schemas.openxmlformats.org/officeDocument/2006/relationships/tags" Target="../tags/tag354.xml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11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364.xml"/><Relationship Id="rId13" Type="http://schemas.openxmlformats.org/officeDocument/2006/relationships/image" Target="../media/image118.png"/><Relationship Id="rId18" Type="http://schemas.openxmlformats.org/officeDocument/2006/relationships/image" Target="../media/image122.png"/><Relationship Id="rId3" Type="http://schemas.openxmlformats.org/officeDocument/2006/relationships/tags" Target="../tags/tag359.xml"/><Relationship Id="rId7" Type="http://schemas.openxmlformats.org/officeDocument/2006/relationships/tags" Target="../tags/tag363.xml"/><Relationship Id="rId12" Type="http://schemas.openxmlformats.org/officeDocument/2006/relationships/image" Target="../media/image117.emf"/><Relationship Id="rId17" Type="http://schemas.openxmlformats.org/officeDocument/2006/relationships/image" Target="../media/image228.svg"/><Relationship Id="rId2" Type="http://schemas.openxmlformats.org/officeDocument/2006/relationships/tags" Target="../tags/tag358.xml"/><Relationship Id="rId16" Type="http://schemas.openxmlformats.org/officeDocument/2006/relationships/image" Target="../media/image121.png"/><Relationship Id="rId20" Type="http://schemas.openxmlformats.org/officeDocument/2006/relationships/image" Target="../media/image231.svg"/><Relationship Id="rId1" Type="http://schemas.openxmlformats.org/officeDocument/2006/relationships/vmlDrawing" Target="../drawings/vmlDrawing51.vml"/><Relationship Id="rId6" Type="http://schemas.openxmlformats.org/officeDocument/2006/relationships/tags" Target="../tags/tag362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361.xml"/><Relationship Id="rId15" Type="http://schemas.openxmlformats.org/officeDocument/2006/relationships/image" Target="../media/image120.png"/><Relationship Id="rId10" Type="http://schemas.openxmlformats.org/officeDocument/2006/relationships/slideLayout" Target="../slideLayouts/slideLayout42.xml"/><Relationship Id="rId19" Type="http://schemas.openxmlformats.org/officeDocument/2006/relationships/image" Target="../media/image123.png"/><Relationship Id="rId4" Type="http://schemas.openxmlformats.org/officeDocument/2006/relationships/tags" Target="../tags/tag360.xml"/><Relationship Id="rId9" Type="http://schemas.openxmlformats.org/officeDocument/2006/relationships/tags" Target="../tags/tag365.xml"/><Relationship Id="rId14" Type="http://schemas.openxmlformats.org/officeDocument/2006/relationships/image" Target="../media/image1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6" hidden="1">
            <a:extLst>
              <a:ext uri="{FF2B5EF4-FFF2-40B4-BE49-F238E27FC236}">
                <a16:creationId xmlns:a16="http://schemas.microsoft.com/office/drawing/2014/main" id="{8C1EE1C2-E917-4368-8D48-AA2D0C54B74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7" name="think-cell Slide" r:id="rId4" imgW="411" imgH="412" progId="TCLayout.ActiveDocument.1">
                  <p:embed/>
                </p:oleObj>
              </mc:Choice>
              <mc:Fallback>
                <p:oleObj name="think-cell Slide" r:id="rId4" imgW="411" imgH="412" progId="TCLayout.ActiveDocument.1">
                  <p:embed/>
                  <p:pic>
                    <p:nvPicPr>
                      <p:cNvPr id="8" name="Object 6" hidden="1">
                        <a:extLst>
                          <a:ext uri="{FF2B5EF4-FFF2-40B4-BE49-F238E27FC236}">
                            <a16:creationId xmlns:a16="http://schemas.microsoft.com/office/drawing/2014/main" id="{8C1EE1C2-E917-4368-8D48-AA2D0C54B7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3">
            <a:extLst>
              <a:ext uri="{FF2B5EF4-FFF2-40B4-BE49-F238E27FC236}">
                <a16:creationId xmlns:a16="http://schemas.microsoft.com/office/drawing/2014/main" id="{B4363405-546C-93DE-A2B6-31E36EFE0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272" y="4091638"/>
            <a:ext cx="7397965" cy="761341"/>
          </a:xfrm>
        </p:spPr>
        <p:txBody>
          <a:bodyPr/>
          <a:lstStyle/>
          <a:p>
            <a:r>
              <a:rPr lang="en-US" dirty="0"/>
              <a:t>Big Data Journey of </a:t>
            </a:r>
            <a:r>
              <a:rPr lang="en-US" dirty="0" smtClean="0"/>
              <a:t>ABB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66955" y="5056509"/>
            <a:ext cx="33659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 smtClean="0">
                <a:solidFill>
                  <a:schemeClr val="bg1"/>
                </a:solidFill>
              </a:rPr>
              <a:t>From Legacy Data to Enterprise Data Platform</a:t>
            </a:r>
            <a:endParaRPr lang="en-US" sz="12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633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6896224-8C07-3FE5-3E79-336CBB100A9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5"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6896224-8C07-3FE5-3E79-336CBB100A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1CE8F3D-000F-14A0-57BE-45FE3097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4122" y="2013159"/>
            <a:ext cx="4558825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n-US" dirty="0" smtClean="0"/>
              <a:t>WHY </a:t>
            </a:r>
            <a:r>
              <a:rPr lang="en-US" dirty="0"/>
              <a:t>the journey </a:t>
            </a:r>
            <a:r>
              <a:rPr lang="en-US" dirty="0" smtClean="0"/>
              <a:t>started ?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8995" y="2205520"/>
            <a:ext cx="7359535" cy="873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 smtClean="0">
              <a:latin typeface="Times" panose="0202060306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" panose="0202060306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0720" y="3488975"/>
            <a:ext cx="1338741" cy="1338741"/>
          </a:xfrm>
          <a:prstGeom prst="rect">
            <a:avLst/>
          </a:prstGeom>
        </p:spPr>
      </p:pic>
      <p:sp>
        <p:nvSpPr>
          <p:cNvPr id="2" name="AutoShape 12" descr="Why - Free business and finance icons"/>
          <p:cNvSpPr>
            <a:spLocks noChangeAspect="1" noChangeArrowheads="1"/>
          </p:cNvSpPr>
          <p:nvPr/>
        </p:nvSpPr>
        <p:spPr bwMode="auto">
          <a:xfrm>
            <a:off x="155575" y="-10287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47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196000"/>
                    </a14:imgEffect>
                    <a14:imgEffect>
                      <a14:brightnessContrast contrast="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25027" y="2074891"/>
            <a:ext cx="5102132" cy="2964817"/>
          </a:xfrm>
          <a:prstGeom prst="rect">
            <a:avLst/>
          </a:prstGeom>
        </p:spPr>
      </p:pic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6896224-8C07-3FE5-3E79-336CBB100A9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7"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6896224-8C07-3FE5-3E79-336CBB100A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1CE8F3D-000F-14A0-57BE-45FE3097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995" y="469134"/>
            <a:ext cx="4666273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n-US" dirty="0"/>
              <a:t>Business Context &amp; Drivers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3093" y="2177528"/>
            <a:ext cx="735953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Rapid growth of enterprise data across banking systems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Increasing regulatory and compliance reporting demands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Need for faster, data-driven decision making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Rising expectations for personalized customer services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Operational efficiency and automation requirements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Demand for scalable and future-ready analytics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1387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6896224-8C07-3FE5-3E79-336CBB100A9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5"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6896224-8C07-3FE5-3E79-336CBB100A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1CE8F3D-000F-14A0-57BE-45FE3097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768" y="464824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n-US" dirty="0"/>
              <a:t>Vision &amp; Objectives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262" y="2175456"/>
            <a:ext cx="6096000" cy="253550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Establish a unified enterprise data platform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Enable scalable and high-performance analytics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Accelerate data-driven decision making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Strengthen governance, security, and compliance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Support self-service analytics for business teams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Build a future-ready foundation for innovation</a:t>
            </a:r>
          </a:p>
        </p:txBody>
      </p:sp>
      <p:pic>
        <p:nvPicPr>
          <p:cNvPr id="37905" name="Picture 17" descr="Vision mission values icon Vector Images &amp; Graphics for Commercial Use |  VectorStock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255" y="2615642"/>
            <a:ext cx="3743093" cy="1496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368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6896224-8C07-3FE5-3E79-336CBB100A9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6"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6896224-8C07-3FE5-3E79-336CBB100A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1CE8F3D-000F-14A0-57BE-45FE3097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851" y="444195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n-US" dirty="0"/>
              <a:t>Legacy Data Landscape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5505" y="2718137"/>
            <a:ext cx="4281765" cy="219185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3090" y="2418767"/>
            <a:ext cx="660893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Fragmented data stored across multiple isolated systems</a:t>
            </a:r>
          </a:p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Heavy </a:t>
            </a:r>
            <a:r>
              <a:rPr lang="en-US" altLang="en-US" dirty="0">
                <a:cs typeface="Arial" panose="020B0604020202020204" pitchFamily="34" charset="0"/>
              </a:rPr>
              <a:t>reliance</a:t>
            </a:r>
            <a:r>
              <a:rPr lang="en-US" altLang="en-US" dirty="0">
                <a:cs typeface="Arial" panose="020B0604020202020204" pitchFamily="34" charset="0"/>
              </a:rPr>
              <a:t> on batch processing and manual reporting</a:t>
            </a:r>
          </a:p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Limited scalability to handle growing data volumes</a:t>
            </a:r>
          </a:p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Slow analytics delivery impacting decision timelines</a:t>
            </a:r>
          </a:p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Inconsistent data quality and governance challenges</a:t>
            </a:r>
          </a:p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High operational effort for integration and maintenance</a:t>
            </a:r>
          </a:p>
        </p:txBody>
      </p:sp>
    </p:spTree>
    <p:extLst>
      <p:ext uri="{BB962C8B-B14F-4D97-AF65-F5344CB8AC3E}">
        <p14:creationId xmlns:p14="http://schemas.microsoft.com/office/powerpoint/2010/main" val="687711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6896224-8C07-3FE5-3E79-336CBB100A9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0"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6896224-8C07-3FE5-3E79-336CBB100A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1CE8F3D-000F-14A0-57BE-45FE3097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80" y="485760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n-US" dirty="0"/>
              <a:t>Architecture Evolution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970712" y="1267920"/>
            <a:ext cx="29921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Traditional Data Warehouse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597" y="2502752"/>
            <a:ext cx="3444450" cy="125926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072222" y="3939892"/>
            <a:ext cx="1447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0D0D0D"/>
                </a:solidFill>
                <a:latin typeface="+mj-lt"/>
              </a:rPr>
              <a:t>Data Warehouse</a:t>
            </a:r>
            <a:endParaRPr lang="en-US" sz="1100" dirty="0">
              <a:latin typeface="+mj-lt"/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3602195" y="4278791"/>
            <a:ext cx="193927" cy="2978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919711" y="1702997"/>
            <a:ext cx="1238672" cy="331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sz="1200" i="1" dirty="0">
                <a:solidFill>
                  <a:srgbClr val="0070C0"/>
                </a:solidFill>
              </a:rPr>
              <a:t>S</a:t>
            </a:r>
            <a:r>
              <a:rPr lang="en-US" sz="1200" i="1" dirty="0" err="1">
                <a:solidFill>
                  <a:srgbClr val="0070C0"/>
                </a:solidFill>
              </a:rPr>
              <a:t>tructured</a:t>
            </a:r>
            <a:r>
              <a:rPr lang="en-US" sz="1200" i="1" dirty="0">
                <a:solidFill>
                  <a:srgbClr val="0070C0"/>
                </a:solidFill>
              </a:rPr>
              <a:t>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375192" y="2150931"/>
            <a:ext cx="64793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z-Latn-AZ" sz="1050" b="1" dirty="0" smtClean="0">
                <a:solidFill>
                  <a:srgbClr val="0D0D0D"/>
                </a:solidFill>
              </a:rPr>
              <a:t>Source</a:t>
            </a:r>
            <a:endParaRPr lang="en-US" sz="1050" dirty="0"/>
          </a:p>
        </p:txBody>
      </p:sp>
      <p:pic>
        <p:nvPicPr>
          <p:cNvPr id="12" name="Picture 8" descr="You Don't Need an ER Diagram to Understand Your Database - Dataedo Blo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175" y="4627513"/>
            <a:ext cx="2707966" cy="150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ight Arrow 5"/>
          <p:cNvSpPr/>
          <p:nvPr/>
        </p:nvSpPr>
        <p:spPr>
          <a:xfrm>
            <a:off x="6250549" y="3755455"/>
            <a:ext cx="648393" cy="224331"/>
          </a:xfrm>
          <a:prstGeom prst="rightArrow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8117" y="3068023"/>
            <a:ext cx="1748656" cy="164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10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6896224-8C07-3FE5-3E79-336CBB100A9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3"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6896224-8C07-3FE5-3E79-336CBB100A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1CE8F3D-000F-14A0-57BE-45FE3097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80" y="485760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n-US" dirty="0"/>
              <a:t>Business-Aligned Data Marts &amp; Golden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995" y="2205520"/>
            <a:ext cx="7359535" cy="873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 smtClean="0">
              <a:latin typeface="Times" panose="0202060306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" panose="02020603060405020304" pitchFamily="18" charset="0"/>
            </a:endParaRPr>
          </a:p>
        </p:txBody>
      </p:sp>
      <p:sp>
        <p:nvSpPr>
          <p:cNvPr id="2" name="AutoShape 12" descr="Why - Free business and finance icons"/>
          <p:cNvSpPr>
            <a:spLocks noChangeAspect="1" noChangeArrowheads="1"/>
          </p:cNvSpPr>
          <p:nvPr/>
        </p:nvSpPr>
        <p:spPr bwMode="auto">
          <a:xfrm>
            <a:off x="155575" y="-10287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21980" y="1114425"/>
            <a:ext cx="87365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We moved from raw centralized storage → to business-aligned, trusted data marts (Golden Layer)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519404" y="2477192"/>
            <a:ext cx="8811208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Strategic </a:t>
            </a:r>
            <a:r>
              <a:rPr lang="en-US" b="1" dirty="0" smtClean="0"/>
              <a:t>Decision</a:t>
            </a:r>
          </a:p>
          <a:p>
            <a:endParaRPr 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Design business-oriented data marts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Align datasets with business domains (Retail, Corporate, Risk, Finance, etc</a:t>
            </a:r>
            <a:r>
              <a:rPr lang="en-US" dirty="0" smtClean="0"/>
              <a:t>.)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Single source of truth for reporting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Ready-to-use for BI and </a:t>
            </a:r>
            <a:r>
              <a:rPr lang="en-US" dirty="0" smtClean="0"/>
              <a:t>analytics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Optimized for performance</a:t>
            </a:r>
          </a:p>
        </p:txBody>
      </p:sp>
    </p:spTree>
    <p:extLst>
      <p:ext uri="{BB962C8B-B14F-4D97-AF65-F5344CB8AC3E}">
        <p14:creationId xmlns:p14="http://schemas.microsoft.com/office/powerpoint/2010/main" val="395505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8" hidden="1">
            <a:extLst>
              <a:ext uri="{FF2B5EF4-FFF2-40B4-BE49-F238E27FC236}">
                <a16:creationId xmlns:a16="http://schemas.microsoft.com/office/drawing/2014/main" id="{24B23F51-9122-4886-861F-8747BA4A069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5" name="think-cell Slide" r:id="rId12" imgW="350" imgH="350" progId="TCLayout.ActiveDocument.1">
                  <p:embed/>
                </p:oleObj>
              </mc:Choice>
              <mc:Fallback>
                <p:oleObj name="think-cell Slide" r:id="rId12" imgW="350" imgH="350" progId="TCLayout.ActiveDocument.1">
                  <p:embed/>
                  <p:pic>
                    <p:nvPicPr>
                      <p:cNvPr id="4" name="Object 8" hidden="1">
                        <a:extLst>
                          <a:ext uri="{FF2B5EF4-FFF2-40B4-BE49-F238E27FC236}">
                            <a16:creationId xmlns:a16="http://schemas.microsoft.com/office/drawing/2014/main" id="{24B23F51-9122-4886-861F-8747BA4A06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7" hidden="1">
            <a:extLst>
              <a:ext uri="{FF2B5EF4-FFF2-40B4-BE49-F238E27FC236}">
                <a16:creationId xmlns:a16="http://schemas.microsoft.com/office/drawing/2014/main" id="{05FD7C66-41DF-4527-9B22-0ACAA47CE71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5DB0EBE1-A00D-FA4E-8AA5-E8D3E55BEB9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7621" y="326022"/>
            <a:ext cx="11082528" cy="384721"/>
          </a:xfrm>
        </p:spPr>
        <p:txBody>
          <a:bodyPr vert="horz"/>
          <a:lstStyle/>
          <a:p>
            <a:r>
              <a:rPr lang="en-US" dirty="0"/>
              <a:t>Three steps to design domain data mart</a:t>
            </a:r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DAF7B199-0A50-4673-80AA-860285AF67C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7688" y="1720503"/>
            <a:ext cx="387059" cy="388044"/>
            <a:chOff x="3643" y="970"/>
            <a:chExt cx="393" cy="394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F306FA2-C41E-499D-B0F4-EF3E284D9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6" y="1244"/>
              <a:ext cx="120" cy="120"/>
            </a:xfrm>
            <a:custGeom>
              <a:avLst/>
              <a:gdLst>
                <a:gd name="T0" fmla="*/ 0 w 120"/>
                <a:gd name="T1" fmla="*/ 32 h 120"/>
                <a:gd name="T2" fmla="*/ 32 w 120"/>
                <a:gd name="T3" fmla="*/ 0 h 120"/>
                <a:gd name="T4" fmla="*/ 120 w 120"/>
                <a:gd name="T5" fmla="*/ 88 h 120"/>
                <a:gd name="T6" fmla="*/ 88 w 120"/>
                <a:gd name="T7" fmla="*/ 120 h 120"/>
                <a:gd name="T8" fmla="*/ 0 w 120"/>
                <a:gd name="T9" fmla="*/ 3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20">
                  <a:moveTo>
                    <a:pt x="0" y="32"/>
                  </a:moveTo>
                  <a:lnTo>
                    <a:pt x="32" y="0"/>
                  </a:lnTo>
                  <a:lnTo>
                    <a:pt x="120" y="88"/>
                  </a:lnTo>
                  <a:lnTo>
                    <a:pt x="88" y="120"/>
                  </a:lnTo>
                  <a:lnTo>
                    <a:pt x="0" y="32"/>
                  </a:lnTo>
                  <a:close/>
                </a:path>
              </a:pathLst>
            </a:custGeom>
            <a:noFill/>
            <a:ln w="6350" cap="flat">
              <a:solidFill>
                <a:schemeClr val="accent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80808"/>
                </a:solidFill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10013C3A-E919-458B-B1EE-97B4E9B01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1231"/>
              <a:ext cx="36" cy="36"/>
            </a:xfrm>
            <a:custGeom>
              <a:avLst/>
              <a:gdLst>
                <a:gd name="T0" fmla="*/ 0 w 36"/>
                <a:gd name="T1" fmla="*/ 13 h 36"/>
                <a:gd name="T2" fmla="*/ 13 w 36"/>
                <a:gd name="T3" fmla="*/ 0 h 36"/>
                <a:gd name="T4" fmla="*/ 36 w 36"/>
                <a:gd name="T5" fmla="*/ 23 h 36"/>
                <a:gd name="T6" fmla="*/ 23 w 36"/>
                <a:gd name="T7" fmla="*/ 36 h 36"/>
                <a:gd name="T8" fmla="*/ 0 w 36"/>
                <a:gd name="T9" fmla="*/ 1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6">
                  <a:moveTo>
                    <a:pt x="0" y="13"/>
                  </a:moveTo>
                  <a:lnTo>
                    <a:pt x="13" y="0"/>
                  </a:lnTo>
                  <a:lnTo>
                    <a:pt x="36" y="23"/>
                  </a:lnTo>
                  <a:lnTo>
                    <a:pt x="23" y="36"/>
                  </a:lnTo>
                  <a:lnTo>
                    <a:pt x="0" y="13"/>
                  </a:lnTo>
                  <a:close/>
                </a:path>
              </a:pathLst>
            </a:custGeom>
            <a:noFill/>
            <a:ln w="6350" cap="flat">
              <a:solidFill>
                <a:schemeClr val="accent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80808"/>
                </a:solidFill>
              </a:endParaRPr>
            </a:p>
          </p:txBody>
        </p:sp>
        <p:sp>
          <p:nvSpPr>
            <p:cNvPr id="15" name="Oval 12">
              <a:extLst>
                <a:ext uri="{FF2B5EF4-FFF2-40B4-BE49-F238E27FC236}">
                  <a16:creationId xmlns:a16="http://schemas.microsoft.com/office/drawing/2014/main" id="{2B5272CB-41F0-48C2-B27E-5FEEB0D36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9" y="996"/>
              <a:ext cx="260" cy="261"/>
            </a:xfrm>
            <a:prstGeom prst="ellipse">
              <a:avLst/>
            </a:prstGeom>
            <a:noFill/>
            <a:ln w="6350" cap="flat">
              <a:solidFill>
                <a:schemeClr val="accent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80808"/>
                </a:solidFill>
              </a:endParaRPr>
            </a:p>
          </p:txBody>
        </p:sp>
        <p:sp>
          <p:nvSpPr>
            <p:cNvPr id="16" name="Oval 13">
              <a:extLst>
                <a:ext uri="{FF2B5EF4-FFF2-40B4-BE49-F238E27FC236}">
                  <a16:creationId xmlns:a16="http://schemas.microsoft.com/office/drawing/2014/main" id="{65EB0305-0BB9-42EA-95AA-9B27E0719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3" y="970"/>
              <a:ext cx="312" cy="313"/>
            </a:xfrm>
            <a:prstGeom prst="ellipse">
              <a:avLst/>
            </a:prstGeom>
            <a:noFill/>
            <a:ln w="6350" cap="flat">
              <a:solidFill>
                <a:schemeClr val="accent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80808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59764A9-0F0C-D042-B778-017F51D7AD54}"/>
              </a:ext>
            </a:extLst>
          </p:cNvPr>
          <p:cNvSpPr txBox="1">
            <a:spLocks/>
          </p:cNvSpPr>
          <p:nvPr/>
        </p:nvSpPr>
        <p:spPr>
          <a:xfrm>
            <a:off x="1122270" y="1720502"/>
            <a:ext cx="3841432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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—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»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Theinhardt Light" panose="020B0404020101020102" pitchFamily="34" charset="0"/>
              <a:buChar char="›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Theinhardt Pan Medium" panose="020B0604020101020102" pitchFamily="34" charset="0"/>
              </a:rPr>
              <a:t>Step 1: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Theinhardt Pan Medium" panose="020B0604020101020102" pitchFamily="34" charset="0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Theinhardt Pan Medium" panose="020B0604020101020102" pitchFamily="34" charset="0"/>
              </a:rPr>
              <a:t>Identify best fit data mart tables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Theinhardt Pan Light" panose="020B0404020101020102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90BC5F-947F-48DA-A07F-2FD514AFB62C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47687" y="2270069"/>
            <a:ext cx="3841432" cy="16260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1000"/>
              </a:spcBef>
              <a:buClr>
                <a:schemeClr val="tx2"/>
              </a:buClr>
            </a:pPr>
            <a:r>
              <a:rPr lang="en-US" sz="1200" dirty="0">
                <a:solidFill>
                  <a:srgbClr val="080808"/>
                </a:solidFill>
              </a:rPr>
              <a:t>Analyze data mart model at the granular level to </a:t>
            </a:r>
            <a:r>
              <a:rPr lang="en-US" sz="1200" b="1" dirty="0">
                <a:solidFill>
                  <a:srgbClr val="080808"/>
                </a:solidFill>
              </a:rPr>
              <a:t>identify candidate tables</a:t>
            </a:r>
            <a:r>
              <a:rPr lang="en-US" sz="1200" dirty="0">
                <a:solidFill>
                  <a:srgbClr val="080808"/>
                </a:solidFill>
              </a:rPr>
              <a:t> which can retain the select CDEs</a:t>
            </a:r>
          </a:p>
          <a:p>
            <a:pPr>
              <a:spcBef>
                <a:spcPts val="1000"/>
              </a:spcBef>
              <a:buClr>
                <a:schemeClr val="tx2"/>
              </a:buClr>
            </a:pPr>
            <a:r>
              <a:rPr lang="en-US" sz="1200" b="1" dirty="0">
                <a:solidFill>
                  <a:srgbClr val="080808"/>
                </a:solidFill>
              </a:rPr>
              <a:t>Design a new data table </a:t>
            </a:r>
            <a:r>
              <a:rPr lang="en-US" sz="1200" dirty="0">
                <a:solidFill>
                  <a:srgbClr val="080808"/>
                </a:solidFill>
              </a:rPr>
              <a:t>if select CDE cannot be stored in an existing data table</a:t>
            </a:r>
          </a:p>
          <a:p>
            <a:pPr>
              <a:spcBef>
                <a:spcPts val="1000"/>
              </a:spcBef>
              <a:buClr>
                <a:schemeClr val="tx2"/>
              </a:buClr>
            </a:pPr>
            <a:r>
              <a:rPr lang="en-US" sz="1200" dirty="0">
                <a:solidFill>
                  <a:srgbClr val="080808"/>
                </a:solidFill>
              </a:rPr>
              <a:t>Ensure select CDE is </a:t>
            </a:r>
            <a:r>
              <a:rPr lang="en-US" sz="1200" b="1" dirty="0">
                <a:solidFill>
                  <a:srgbClr val="080808"/>
                </a:solidFill>
              </a:rPr>
              <a:t>only stored once </a:t>
            </a:r>
            <a:r>
              <a:rPr lang="en-US" sz="1200" dirty="0">
                <a:solidFill>
                  <a:srgbClr val="080808"/>
                </a:solidFill>
              </a:rPr>
              <a:t>because data mart will be the official and reliable single source of data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BABF223-9AB3-4A00-8376-90750CF3642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872925" y="1720503"/>
            <a:ext cx="361453" cy="360468"/>
            <a:chOff x="6043" y="1004"/>
            <a:chExt cx="367" cy="366"/>
          </a:xfrm>
        </p:grpSpPr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51E6E1E3-F9B1-4DF0-8911-DF849EF11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3" y="1214"/>
              <a:ext cx="157" cy="156"/>
            </a:xfrm>
            <a:custGeom>
              <a:avLst/>
              <a:gdLst>
                <a:gd name="T0" fmla="*/ 0 w 157"/>
                <a:gd name="T1" fmla="*/ 0 h 156"/>
                <a:gd name="T2" fmla="*/ 157 w 157"/>
                <a:gd name="T3" fmla="*/ 156 h 156"/>
                <a:gd name="T4" fmla="*/ 157 w 157"/>
                <a:gd name="T5" fmla="*/ 50 h 156"/>
                <a:gd name="T6" fmla="*/ 157 w 157"/>
                <a:gd name="T7" fmla="*/ 156 h 156"/>
                <a:gd name="T8" fmla="*/ 50 w 157"/>
                <a:gd name="T9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56">
                  <a:moveTo>
                    <a:pt x="0" y="0"/>
                  </a:moveTo>
                  <a:lnTo>
                    <a:pt x="157" y="156"/>
                  </a:lnTo>
                  <a:lnTo>
                    <a:pt x="157" y="50"/>
                  </a:lnTo>
                  <a:lnTo>
                    <a:pt x="157" y="156"/>
                  </a:lnTo>
                  <a:lnTo>
                    <a:pt x="50" y="156"/>
                  </a:lnTo>
                </a:path>
              </a:pathLst>
            </a:custGeom>
            <a:noFill/>
            <a:ln w="6350" cap="flat">
              <a:solidFill>
                <a:schemeClr val="accent1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80808"/>
                </a:solidFill>
              </a:endParaRPr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F4E9D363-A0BA-489C-8FDB-94C19C94D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3" y="1004"/>
              <a:ext cx="157" cy="157"/>
            </a:xfrm>
            <a:custGeom>
              <a:avLst/>
              <a:gdLst>
                <a:gd name="T0" fmla="*/ 0 w 157"/>
                <a:gd name="T1" fmla="*/ 157 h 157"/>
                <a:gd name="T2" fmla="*/ 157 w 157"/>
                <a:gd name="T3" fmla="*/ 0 h 157"/>
                <a:gd name="T4" fmla="*/ 50 w 157"/>
                <a:gd name="T5" fmla="*/ 0 h 157"/>
                <a:gd name="T6" fmla="*/ 157 w 157"/>
                <a:gd name="T7" fmla="*/ 0 h 157"/>
                <a:gd name="T8" fmla="*/ 157 w 157"/>
                <a:gd name="T9" fmla="*/ 10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57">
                  <a:moveTo>
                    <a:pt x="0" y="157"/>
                  </a:moveTo>
                  <a:lnTo>
                    <a:pt x="157" y="0"/>
                  </a:lnTo>
                  <a:lnTo>
                    <a:pt x="50" y="0"/>
                  </a:lnTo>
                  <a:lnTo>
                    <a:pt x="157" y="0"/>
                  </a:lnTo>
                  <a:lnTo>
                    <a:pt x="157" y="107"/>
                  </a:lnTo>
                </a:path>
              </a:pathLst>
            </a:custGeom>
            <a:noFill/>
            <a:ln w="6350" cap="flat">
              <a:solidFill>
                <a:schemeClr val="accent1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80808"/>
                </a:solidFill>
              </a:endParaRPr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D15D5F5B-1726-46B3-9E49-BDBC4A3BA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3" y="1214"/>
              <a:ext cx="157" cy="156"/>
            </a:xfrm>
            <a:custGeom>
              <a:avLst/>
              <a:gdLst>
                <a:gd name="T0" fmla="*/ 157 w 157"/>
                <a:gd name="T1" fmla="*/ 0 h 156"/>
                <a:gd name="T2" fmla="*/ 0 w 157"/>
                <a:gd name="T3" fmla="*/ 156 h 156"/>
                <a:gd name="T4" fmla="*/ 0 w 157"/>
                <a:gd name="T5" fmla="*/ 50 h 156"/>
                <a:gd name="T6" fmla="*/ 0 w 157"/>
                <a:gd name="T7" fmla="*/ 156 h 156"/>
                <a:gd name="T8" fmla="*/ 107 w 157"/>
                <a:gd name="T9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56">
                  <a:moveTo>
                    <a:pt x="157" y="0"/>
                  </a:moveTo>
                  <a:lnTo>
                    <a:pt x="0" y="156"/>
                  </a:lnTo>
                  <a:lnTo>
                    <a:pt x="0" y="50"/>
                  </a:lnTo>
                  <a:lnTo>
                    <a:pt x="0" y="156"/>
                  </a:lnTo>
                  <a:lnTo>
                    <a:pt x="107" y="156"/>
                  </a:lnTo>
                </a:path>
              </a:pathLst>
            </a:custGeom>
            <a:noFill/>
            <a:ln w="6350" cap="flat">
              <a:solidFill>
                <a:schemeClr val="accent1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80808"/>
                </a:solidFill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6947E71-A372-4F8B-8F61-2A63DF34F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3" y="1004"/>
              <a:ext cx="157" cy="157"/>
            </a:xfrm>
            <a:custGeom>
              <a:avLst/>
              <a:gdLst>
                <a:gd name="T0" fmla="*/ 157 w 157"/>
                <a:gd name="T1" fmla="*/ 157 h 157"/>
                <a:gd name="T2" fmla="*/ 0 w 157"/>
                <a:gd name="T3" fmla="*/ 0 h 157"/>
                <a:gd name="T4" fmla="*/ 107 w 157"/>
                <a:gd name="T5" fmla="*/ 0 h 157"/>
                <a:gd name="T6" fmla="*/ 0 w 157"/>
                <a:gd name="T7" fmla="*/ 0 h 157"/>
                <a:gd name="T8" fmla="*/ 0 w 157"/>
                <a:gd name="T9" fmla="*/ 10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57">
                  <a:moveTo>
                    <a:pt x="157" y="157"/>
                  </a:moveTo>
                  <a:lnTo>
                    <a:pt x="0" y="0"/>
                  </a:lnTo>
                  <a:lnTo>
                    <a:pt x="107" y="0"/>
                  </a:lnTo>
                  <a:lnTo>
                    <a:pt x="0" y="0"/>
                  </a:lnTo>
                  <a:lnTo>
                    <a:pt x="0" y="107"/>
                  </a:lnTo>
                </a:path>
              </a:pathLst>
            </a:custGeom>
            <a:noFill/>
            <a:ln w="6350" cap="flat">
              <a:solidFill>
                <a:schemeClr val="accent1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80808"/>
                </a:solidFill>
              </a:endParaRPr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A9D83AD8-17B0-3742-9A87-0F2707F7814F}"/>
              </a:ext>
            </a:extLst>
          </p:cNvPr>
          <p:cNvSpPr txBox="1">
            <a:spLocks/>
          </p:cNvSpPr>
          <p:nvPr/>
        </p:nvSpPr>
        <p:spPr>
          <a:xfrm>
            <a:off x="5455827" y="1720502"/>
            <a:ext cx="3087583" cy="67326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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—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»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Theinhardt Light" panose="020B0404020101020102" pitchFamily="34" charset="0"/>
              <a:buChar char="›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Theinhardt Pan Medium" panose="020B0604020101020102" pitchFamily="34" charset="0"/>
              </a:rPr>
              <a:t>Step 2: 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Theinhardt Pan Medium" panose="020B0604020101020102" pitchFamily="34" charset="0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Theinhardt Pan Medium" panose="020B0604020101020102" pitchFamily="34" charset="0"/>
              </a:rPr>
              <a:t>Extend data mart model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Theinhardt Pan Light" panose="020B0404020101020102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856EEE-0623-4480-952D-16D67C9E2B8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4872924" y="2270069"/>
            <a:ext cx="3087583" cy="109004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1000"/>
              </a:spcBef>
              <a:buClr>
                <a:schemeClr val="tx2"/>
              </a:buClr>
            </a:pPr>
            <a:r>
              <a:rPr lang="en-US" sz="1200" dirty="0">
                <a:solidFill>
                  <a:srgbClr val="080808"/>
                </a:solidFill>
              </a:rPr>
              <a:t>Define </a:t>
            </a:r>
            <a:r>
              <a:rPr lang="en-US" sz="1200" b="1" dirty="0">
                <a:solidFill>
                  <a:srgbClr val="080808"/>
                </a:solidFill>
              </a:rPr>
              <a:t>relationships</a:t>
            </a:r>
            <a:r>
              <a:rPr lang="en-US" sz="1200" dirty="0">
                <a:solidFill>
                  <a:srgbClr val="080808"/>
                </a:solidFill>
              </a:rPr>
              <a:t> between newly added data entities and existing ones based on the </a:t>
            </a:r>
            <a:r>
              <a:rPr lang="en-US" sz="1200" b="1" dirty="0">
                <a:solidFill>
                  <a:srgbClr val="080808"/>
                </a:solidFill>
              </a:rPr>
              <a:t>needs of data consumption layer</a:t>
            </a:r>
            <a:endParaRPr lang="en-US" sz="1200" dirty="0">
              <a:solidFill>
                <a:srgbClr val="080808"/>
              </a:solidFill>
            </a:endParaRPr>
          </a:p>
          <a:p>
            <a:pPr>
              <a:spcBef>
                <a:spcPts val="1000"/>
              </a:spcBef>
              <a:buClr>
                <a:schemeClr val="tx2"/>
              </a:buClr>
            </a:pPr>
            <a:r>
              <a:rPr lang="en-US" sz="1200" dirty="0">
                <a:solidFill>
                  <a:srgbClr val="080808"/>
                </a:solidFill>
              </a:rPr>
              <a:t>Create new </a:t>
            </a:r>
            <a:r>
              <a:rPr lang="en-US" sz="1200" b="1" dirty="0">
                <a:solidFill>
                  <a:srgbClr val="080808"/>
                </a:solidFill>
              </a:rPr>
              <a:t>data entities/tables </a:t>
            </a:r>
            <a:r>
              <a:rPr lang="en-US" sz="1200" dirty="0">
                <a:solidFill>
                  <a:srgbClr val="080808"/>
                </a:solidFill>
              </a:rPr>
              <a:t>and </a:t>
            </a:r>
            <a:r>
              <a:rPr lang="en-US" sz="1200" b="1" dirty="0">
                <a:solidFill>
                  <a:srgbClr val="080808"/>
                </a:solidFill>
              </a:rPr>
              <a:t>build relationships </a:t>
            </a:r>
            <a:r>
              <a:rPr lang="en-US" sz="1200" dirty="0">
                <a:solidFill>
                  <a:srgbClr val="080808"/>
                </a:solidFill>
              </a:rPr>
              <a:t>using primary keys </a:t>
            </a:r>
          </a:p>
        </p:txBody>
      </p:sp>
      <p:pic>
        <p:nvPicPr>
          <p:cNvPr id="8" name="CustomIcon">
            <a:extLst>
              <a:ext uri="{FF2B5EF4-FFF2-40B4-BE49-F238E27FC236}">
                <a16:creationId xmlns:a16="http://schemas.microsoft.com/office/drawing/2014/main" id="{402FCF64-C754-4E31-BE2C-38E5B6508ABE}"/>
              </a:ext>
            </a:extLst>
          </p:cNvPr>
          <p:cNvPicPr>
            <a:picLocks/>
          </p:cNvPicPr>
          <p:nvPr>
            <p:custDataLst>
              <p:tags r:id="rId7"/>
            </p:custDataLst>
          </p:nvPr>
        </p:nvPicPr>
        <p:blipFill>
          <a:blip r:embed="rId14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47688" y="4295235"/>
            <a:ext cx="354558" cy="369332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C1EDF497-391D-5346-85AD-21E1B62B84AA}"/>
              </a:ext>
            </a:extLst>
          </p:cNvPr>
          <p:cNvSpPr txBox="1">
            <a:spLocks/>
          </p:cNvSpPr>
          <p:nvPr/>
        </p:nvSpPr>
        <p:spPr>
          <a:xfrm>
            <a:off x="1122270" y="4295234"/>
            <a:ext cx="3192953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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—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»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Theinhardt Light" panose="020B0404020101020102" pitchFamily="34" charset="0"/>
              <a:buChar char="›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Theinhardt Pan Medium" panose="020B0604020101020102" pitchFamily="34" charset="0"/>
              </a:rPr>
              <a:t>Step 3: 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Theinhardt Pan Medium" panose="020B0604020101020102" pitchFamily="34" charset="0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Theinhardt Pan Medium" panose="020B0604020101020102" pitchFamily="34" charset="0"/>
              </a:rPr>
              <a:t>Ingest CDEs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Theinhardt Pan Light" panose="020B0404020101020102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AA52FA-44BA-4421-848A-95166EF8B580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547689" y="4907728"/>
            <a:ext cx="7412818" cy="8874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1000"/>
              </a:spcBef>
              <a:buClr>
                <a:schemeClr val="tx2"/>
              </a:buClr>
            </a:pPr>
            <a:r>
              <a:rPr lang="en-US" sz="1200" dirty="0">
                <a:solidFill>
                  <a:srgbClr val="080808"/>
                </a:solidFill>
              </a:rPr>
              <a:t>Write necessary </a:t>
            </a:r>
            <a:r>
              <a:rPr lang="en-US" sz="1200" b="1" dirty="0">
                <a:solidFill>
                  <a:srgbClr val="080808"/>
                </a:solidFill>
              </a:rPr>
              <a:t>ETL codes </a:t>
            </a:r>
            <a:r>
              <a:rPr lang="en-US" sz="1200" dirty="0">
                <a:solidFill>
                  <a:srgbClr val="080808"/>
                </a:solidFill>
              </a:rPr>
              <a:t>required to ingest data from DWH</a:t>
            </a:r>
          </a:p>
          <a:p>
            <a:pPr>
              <a:spcBef>
                <a:spcPts val="1000"/>
              </a:spcBef>
              <a:buClr>
                <a:schemeClr val="tx2"/>
              </a:buClr>
            </a:pPr>
            <a:r>
              <a:rPr lang="en-US" sz="1200" dirty="0">
                <a:solidFill>
                  <a:srgbClr val="080808"/>
                </a:solidFill>
              </a:rPr>
              <a:t>Perform </a:t>
            </a:r>
            <a:r>
              <a:rPr lang="en-US" sz="1200" b="1" dirty="0">
                <a:solidFill>
                  <a:srgbClr val="080808"/>
                </a:solidFill>
              </a:rPr>
              <a:t>data enrichment </a:t>
            </a:r>
            <a:r>
              <a:rPr lang="en-US" sz="1200" dirty="0">
                <a:solidFill>
                  <a:srgbClr val="080808"/>
                </a:solidFill>
              </a:rPr>
              <a:t>activities to provide crucial information to dashboard/report(s)</a:t>
            </a:r>
          </a:p>
          <a:p>
            <a:pPr>
              <a:spcBef>
                <a:spcPts val="1000"/>
              </a:spcBef>
              <a:buClr>
                <a:schemeClr val="tx2"/>
              </a:buClr>
            </a:pPr>
            <a:r>
              <a:rPr lang="en-US" sz="1200" b="1" dirty="0">
                <a:solidFill>
                  <a:srgbClr val="080808"/>
                </a:solidFill>
              </a:rPr>
              <a:t>Calculate certified KPIs </a:t>
            </a:r>
            <a:r>
              <a:rPr lang="en-US" sz="1200" dirty="0">
                <a:solidFill>
                  <a:srgbClr val="080808"/>
                </a:solidFill>
              </a:rPr>
              <a:t>and store them in separate tables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1573BB-5FE4-42DB-8277-30F00C417A7F}"/>
              </a:ext>
            </a:extLst>
          </p:cNvPr>
          <p:cNvCxnSpPr>
            <a:cxnSpLocks/>
          </p:cNvCxnSpPr>
          <p:nvPr/>
        </p:nvCxnSpPr>
        <p:spPr>
          <a:xfrm>
            <a:off x="8325287" y="1889060"/>
            <a:ext cx="0" cy="432124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ThreeChevronBlue 11">
            <a:extLst>
              <a:ext uri="{FF2B5EF4-FFF2-40B4-BE49-F238E27FC236}">
                <a16:creationId xmlns:a16="http://schemas.microsoft.com/office/drawing/2014/main" id="{08F541E9-23EF-4F93-8828-6E3C818CCD97}"/>
              </a:ext>
            </a:extLst>
          </p:cNvPr>
          <p:cNvGrpSpPr>
            <a:grpSpLocks/>
          </p:cNvGrpSpPr>
          <p:nvPr>
            <p:custDataLst>
              <p:tags r:id="rId9"/>
            </p:custDataLst>
          </p:nvPr>
        </p:nvGrpSpPr>
        <p:grpSpPr>
          <a:xfrm>
            <a:off x="8159661" y="1719764"/>
            <a:ext cx="331252" cy="331252"/>
            <a:chOff x="1016000" y="1016000"/>
            <a:chExt cx="396228" cy="396228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77F2F0D-7BA1-406F-8006-36CC33D7D3BD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>
                <a:solidFill>
                  <a:schemeClr val="bg1"/>
                </a:solidFill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24F4426-5F10-4A91-BA00-61FCA6365A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12238" y="1115347"/>
              <a:ext cx="233203" cy="197516"/>
              <a:chOff x="4673753" y="2392458"/>
              <a:chExt cx="230601" cy="195312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5936CB0-4BDA-4F77-8567-EF83953B927B}"/>
                  </a:ext>
                </a:extLst>
              </p:cNvPr>
              <p:cNvSpPr/>
              <p:nvPr/>
            </p:nvSpPr>
            <p:spPr>
              <a:xfrm>
                <a:off x="4673753" y="2392458"/>
                <a:ext cx="103601" cy="195312"/>
              </a:xfrm>
              <a:custGeom>
                <a:avLst/>
                <a:gdLst/>
                <a:ahLst/>
                <a:cxnLst/>
                <a:rect l="0" t="0" r="0" b="0"/>
                <a:pathLst>
                  <a:path w="103601" h="195312">
                    <a:moveTo>
                      <a:pt x="9358" y="193790"/>
                    </a:moveTo>
                    <a:lnTo>
                      <a:pt x="101575" y="101574"/>
                    </a:lnTo>
                    <a:lnTo>
                      <a:pt x="103600" y="99549"/>
                    </a:lnTo>
                    <a:lnTo>
                      <a:pt x="103600" y="96266"/>
                    </a:lnTo>
                    <a:lnTo>
                      <a:pt x="101575" y="94241"/>
                    </a:lnTo>
                    <a:lnTo>
                      <a:pt x="9358" y="2025"/>
                    </a:lnTo>
                    <a:lnTo>
                      <a:pt x="7332" y="0"/>
                    </a:lnTo>
                    <a:lnTo>
                      <a:pt x="4049" y="0"/>
                    </a:lnTo>
                    <a:lnTo>
                      <a:pt x="2026" y="2025"/>
                    </a:lnTo>
                    <a:lnTo>
                      <a:pt x="0" y="4048"/>
                    </a:lnTo>
                    <a:lnTo>
                      <a:pt x="0" y="7331"/>
                    </a:lnTo>
                    <a:lnTo>
                      <a:pt x="2026" y="9357"/>
                    </a:lnTo>
                    <a:lnTo>
                      <a:pt x="90576" y="97907"/>
                    </a:lnTo>
                    <a:lnTo>
                      <a:pt x="2026" y="186459"/>
                    </a:lnTo>
                    <a:lnTo>
                      <a:pt x="0" y="188483"/>
                    </a:lnTo>
                    <a:lnTo>
                      <a:pt x="0" y="191766"/>
                    </a:lnTo>
                    <a:lnTo>
                      <a:pt x="2026" y="193790"/>
                    </a:lnTo>
                    <a:lnTo>
                      <a:pt x="3040" y="194805"/>
                    </a:lnTo>
                    <a:lnTo>
                      <a:pt x="4366" y="195311"/>
                    </a:lnTo>
                    <a:lnTo>
                      <a:pt x="5692" y="195311"/>
                    </a:lnTo>
                    <a:lnTo>
                      <a:pt x="7017" y="195311"/>
                    </a:lnTo>
                    <a:lnTo>
                      <a:pt x="8348" y="194805"/>
                    </a:lnTo>
                    <a:close/>
                  </a:path>
                </a:pathLst>
              </a:custGeom>
              <a:solidFill>
                <a:schemeClr val="bg1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B15DEAE-E68E-4552-BA40-ED23BE5FB112}"/>
                  </a:ext>
                </a:extLst>
              </p:cNvPr>
              <p:cNvSpPr/>
              <p:nvPr/>
            </p:nvSpPr>
            <p:spPr>
              <a:xfrm>
                <a:off x="4737253" y="2392458"/>
                <a:ext cx="103601" cy="195312"/>
              </a:xfrm>
              <a:custGeom>
                <a:avLst/>
                <a:gdLst/>
                <a:ahLst/>
                <a:cxnLst/>
                <a:rect l="0" t="0" r="0" b="0"/>
                <a:pathLst>
                  <a:path w="103601" h="195312">
                    <a:moveTo>
                      <a:pt x="9358" y="193790"/>
                    </a:moveTo>
                    <a:lnTo>
                      <a:pt x="101575" y="101574"/>
                    </a:lnTo>
                    <a:lnTo>
                      <a:pt x="103600" y="99549"/>
                    </a:lnTo>
                    <a:lnTo>
                      <a:pt x="103600" y="96266"/>
                    </a:lnTo>
                    <a:lnTo>
                      <a:pt x="101575" y="94241"/>
                    </a:lnTo>
                    <a:lnTo>
                      <a:pt x="9358" y="2025"/>
                    </a:lnTo>
                    <a:lnTo>
                      <a:pt x="7332" y="0"/>
                    </a:lnTo>
                    <a:lnTo>
                      <a:pt x="4049" y="0"/>
                    </a:lnTo>
                    <a:lnTo>
                      <a:pt x="2026" y="2025"/>
                    </a:lnTo>
                    <a:lnTo>
                      <a:pt x="0" y="4048"/>
                    </a:lnTo>
                    <a:lnTo>
                      <a:pt x="0" y="7331"/>
                    </a:lnTo>
                    <a:lnTo>
                      <a:pt x="2026" y="9357"/>
                    </a:lnTo>
                    <a:lnTo>
                      <a:pt x="90576" y="97907"/>
                    </a:lnTo>
                    <a:lnTo>
                      <a:pt x="2026" y="186459"/>
                    </a:lnTo>
                    <a:lnTo>
                      <a:pt x="0" y="188483"/>
                    </a:lnTo>
                    <a:lnTo>
                      <a:pt x="0" y="191766"/>
                    </a:lnTo>
                    <a:lnTo>
                      <a:pt x="2026" y="193790"/>
                    </a:lnTo>
                    <a:lnTo>
                      <a:pt x="3040" y="194805"/>
                    </a:lnTo>
                    <a:lnTo>
                      <a:pt x="4366" y="195311"/>
                    </a:lnTo>
                    <a:lnTo>
                      <a:pt x="5692" y="195311"/>
                    </a:lnTo>
                    <a:lnTo>
                      <a:pt x="7017" y="195311"/>
                    </a:lnTo>
                    <a:lnTo>
                      <a:pt x="8348" y="194805"/>
                    </a:lnTo>
                    <a:close/>
                  </a:path>
                </a:pathLst>
              </a:custGeom>
              <a:solidFill>
                <a:schemeClr val="bg1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CF71DCA6-1B98-47FB-B17D-2E95D4988134}"/>
                  </a:ext>
                </a:extLst>
              </p:cNvPr>
              <p:cNvSpPr/>
              <p:nvPr/>
            </p:nvSpPr>
            <p:spPr>
              <a:xfrm>
                <a:off x="4800753" y="2392458"/>
                <a:ext cx="103601" cy="195312"/>
              </a:xfrm>
              <a:custGeom>
                <a:avLst/>
                <a:gdLst/>
                <a:ahLst/>
                <a:cxnLst/>
                <a:rect l="0" t="0" r="0" b="0"/>
                <a:pathLst>
                  <a:path w="103601" h="195312">
                    <a:moveTo>
                      <a:pt x="9358" y="193790"/>
                    </a:moveTo>
                    <a:lnTo>
                      <a:pt x="101575" y="101574"/>
                    </a:lnTo>
                    <a:lnTo>
                      <a:pt x="103600" y="99549"/>
                    </a:lnTo>
                    <a:lnTo>
                      <a:pt x="103600" y="96266"/>
                    </a:lnTo>
                    <a:lnTo>
                      <a:pt x="101575" y="94241"/>
                    </a:lnTo>
                    <a:lnTo>
                      <a:pt x="9358" y="2025"/>
                    </a:lnTo>
                    <a:lnTo>
                      <a:pt x="7332" y="0"/>
                    </a:lnTo>
                    <a:lnTo>
                      <a:pt x="4049" y="0"/>
                    </a:lnTo>
                    <a:lnTo>
                      <a:pt x="2026" y="2025"/>
                    </a:lnTo>
                    <a:lnTo>
                      <a:pt x="0" y="4048"/>
                    </a:lnTo>
                    <a:lnTo>
                      <a:pt x="0" y="7331"/>
                    </a:lnTo>
                    <a:lnTo>
                      <a:pt x="2026" y="9357"/>
                    </a:lnTo>
                    <a:lnTo>
                      <a:pt x="90576" y="97907"/>
                    </a:lnTo>
                    <a:lnTo>
                      <a:pt x="2026" y="186459"/>
                    </a:lnTo>
                    <a:lnTo>
                      <a:pt x="0" y="188483"/>
                    </a:lnTo>
                    <a:lnTo>
                      <a:pt x="0" y="191766"/>
                    </a:lnTo>
                    <a:lnTo>
                      <a:pt x="2026" y="193790"/>
                    </a:lnTo>
                    <a:lnTo>
                      <a:pt x="3040" y="194805"/>
                    </a:lnTo>
                    <a:lnTo>
                      <a:pt x="4366" y="195311"/>
                    </a:lnTo>
                    <a:lnTo>
                      <a:pt x="5692" y="195311"/>
                    </a:lnTo>
                    <a:lnTo>
                      <a:pt x="7017" y="195311"/>
                    </a:lnTo>
                    <a:lnTo>
                      <a:pt x="8348" y="194805"/>
                    </a:lnTo>
                    <a:close/>
                  </a:path>
                </a:pathLst>
              </a:custGeom>
              <a:solidFill>
                <a:schemeClr val="bg1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6FFCCDC-B984-40B1-8360-20ED23B8139C}"/>
              </a:ext>
            </a:extLst>
          </p:cNvPr>
          <p:cNvSpPr txBox="1">
            <a:spLocks/>
          </p:cNvSpPr>
          <p:nvPr/>
        </p:nvSpPr>
        <p:spPr>
          <a:xfrm>
            <a:off x="8855693" y="1737656"/>
            <a:ext cx="3060256" cy="313359"/>
          </a:xfrm>
          <a:prstGeom prst="rect">
            <a:avLst/>
          </a:prstGeom>
        </p:spPr>
        <p:txBody>
          <a:bodyPr vert="horz" wrap="square" lIns="0" tIns="0" rIns="0" bIns="18288" rtlCol="0" anchor="t" anchorCtr="0">
            <a:noAutofit/>
          </a:bodyPr>
          <a:lstStyle>
            <a:lvl1pPr marL="0" lvl="0" indent="0" defTabSz="895350" eaLnBrk="1" latinLnBrk="0" hangingPunct="1">
              <a:buClr>
                <a:schemeClr val="tx2"/>
              </a:buClr>
              <a:buSzPct val="100000"/>
              <a:defRPr lang="en-US" baseline="0" dirty="0">
                <a:latin typeface="+mn-lt"/>
              </a:defRPr>
            </a:lvl1pPr>
            <a:lvl2pPr marL="194400" lvl="1" indent="-190800" defTabSz="895350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en-US" baseline="0" dirty="0">
                <a:latin typeface="+mn-lt"/>
              </a:defRPr>
            </a:lvl2pPr>
            <a:lvl3pPr marL="446400" lvl="2" indent="-248400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en-US" baseline="0" dirty="0">
                <a:latin typeface="+mn-lt"/>
              </a:defRPr>
            </a:lvl3pPr>
            <a:lvl4pPr marL="615600" lvl="3" indent="-154800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en-US" baseline="0" dirty="0">
                <a:latin typeface="+mn-lt"/>
              </a:defRPr>
            </a:lvl4pPr>
            <a:lvl5pPr marL="748800" lvl="4" indent="-129600" defTabSz="895350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en-US" baseline="0" dirty="0">
                <a:latin typeface="+mn-lt"/>
              </a:defRPr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>
                <a:latin typeface="+mn-lt"/>
              </a:defRPr>
            </a:lvl9pPr>
          </a:lstStyle>
          <a:p>
            <a:pPr marL="0" marR="0" lvl="0" indent="0" algn="l" defTabSz="913526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2960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+mn-lt"/>
              </a:rPr>
              <a:t>Sample templates and deliverables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437A703-D43B-4187-9A4C-BD3CA466AEBC}"/>
              </a:ext>
            </a:extLst>
          </p:cNvPr>
          <p:cNvPicPr>
            <a:picLocks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78219" y="2270069"/>
            <a:ext cx="3181930" cy="1668332"/>
          </a:xfrm>
          <a:prstGeom prst="rect">
            <a:avLst/>
          </a:prstGeom>
          <a:ln>
            <a:solidFill>
              <a:srgbClr val="D0D0D0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ABB1C26-EC8C-4B8F-93DA-B4F414461A72}"/>
              </a:ext>
            </a:extLst>
          </p:cNvPr>
          <p:cNvSpPr txBox="1"/>
          <p:nvPr/>
        </p:nvSpPr>
        <p:spPr>
          <a:xfrm>
            <a:off x="8478219" y="4166499"/>
            <a:ext cx="3156568" cy="103874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>
              <a:buNone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+mn-lt"/>
              </a:rPr>
              <a:t>Deliverables:</a:t>
            </a:r>
            <a:endParaRPr lang="en-US" sz="1200" dirty="0">
              <a:solidFill>
                <a:srgbClr val="080808"/>
              </a:solidFill>
              <a:cs typeface="Arial" panose="020B0604020202020204" pitchFamily="34" charset="0"/>
            </a:endParaRPr>
          </a:p>
          <a:p>
            <a:pPr lvl="1"/>
            <a:r>
              <a:rPr lang="en-US" sz="1200" dirty="0">
                <a:solidFill>
                  <a:srgbClr val="080808"/>
                </a:solidFill>
                <a:cs typeface="Arial" panose="020B0604020202020204" pitchFamily="34" charset="0"/>
              </a:rPr>
              <a:t>Data marts prioritization and development pipeline</a:t>
            </a:r>
          </a:p>
          <a:p>
            <a:pPr lvl="1"/>
            <a:r>
              <a:rPr lang="en-US" sz="1200" dirty="0">
                <a:solidFill>
                  <a:srgbClr val="080808"/>
                </a:solidFill>
                <a:cs typeface="Arial" panose="020B0604020202020204" pitchFamily="34" charset="0"/>
              </a:rPr>
              <a:t>One sample data mart</a:t>
            </a:r>
          </a:p>
          <a:p>
            <a:pPr lvl="1"/>
            <a:r>
              <a:rPr lang="en-US" sz="1200" dirty="0">
                <a:solidFill>
                  <a:srgbClr val="080808"/>
                </a:solidFill>
                <a:cs typeface="Arial" panose="020B0604020202020204" pitchFamily="34" charset="0"/>
              </a:rPr>
              <a:t>One data mart model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710743"/>
            <a:ext cx="10394302" cy="82359"/>
          </a:xfrm>
          <a:prstGeom prst="line">
            <a:avLst/>
          </a:prstGeom>
          <a:ln>
            <a:solidFill>
              <a:schemeClr val="accent1">
                <a:alpha val="50000"/>
              </a:schemeClr>
            </a:solidFill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41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AB934DD6-8188-78E5-DC51-1717209A877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8"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AB934DD6-8188-78E5-DC51-1717209A87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426179F7-EED7-A5FE-F8CC-FE0C87D8B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134291"/>
            <a:ext cx="11082528" cy="7694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en-US" dirty="0"/>
              <a:t>Self Service allows to accelerate reporting process up to</a:t>
            </a:r>
            <a:br>
              <a:rPr lang="en-US" dirty="0"/>
            </a:br>
            <a:r>
              <a:rPr lang="en-US" dirty="0"/>
              <a:t>8 times and provide interactive capabilities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556BD02C-8A4F-61CF-421B-B9381DC1305F}"/>
              </a:ext>
            </a:extLst>
          </p:cNvPr>
          <p:cNvGrpSpPr/>
          <p:nvPr/>
        </p:nvGrpSpPr>
        <p:grpSpPr>
          <a:xfrm>
            <a:off x="467305" y="1105304"/>
            <a:ext cx="756390" cy="215444"/>
            <a:chOff x="467305" y="1105304"/>
            <a:chExt cx="756390" cy="215444"/>
          </a:xfrm>
        </p:grpSpPr>
        <p:sp>
          <p:nvSpPr>
            <p:cNvPr id="125" name="Rounded Rectangle 7">
              <a:extLst>
                <a:ext uri="{FF2B5EF4-FFF2-40B4-BE49-F238E27FC236}">
                  <a16:creationId xmlns:a16="http://schemas.microsoft.com/office/drawing/2014/main" id="{5251BAF7-F08F-08C6-A107-E5B3327C93CF}"/>
                </a:ext>
              </a:extLst>
            </p:cNvPr>
            <p:cNvSpPr>
              <a:spLocks/>
            </p:cNvSpPr>
            <p:nvPr/>
          </p:nvSpPr>
          <p:spPr>
            <a:xfrm rot="16200000">
              <a:off x="548344" y="1024265"/>
              <a:ext cx="215444" cy="377521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4BDC632-030E-5938-01CF-5397F1706F49}"/>
                </a:ext>
              </a:extLst>
            </p:cNvPr>
            <p:cNvSpPr txBox="1"/>
            <p:nvPr/>
          </p:nvSpPr>
          <p:spPr>
            <a:xfrm>
              <a:off x="929897" y="1120692"/>
              <a:ext cx="293798" cy="184666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200" dirty="0"/>
                <a:t>Role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D87933A-B661-5C15-6AA5-ED3516861D21}"/>
              </a:ext>
            </a:extLst>
          </p:cNvPr>
          <p:cNvGrpSpPr/>
          <p:nvPr/>
        </p:nvGrpSpPr>
        <p:grpSpPr>
          <a:xfrm>
            <a:off x="1358828" y="1105303"/>
            <a:ext cx="1003957" cy="215444"/>
            <a:chOff x="1358828" y="1105303"/>
            <a:chExt cx="1003957" cy="215444"/>
          </a:xfrm>
        </p:grpSpPr>
        <p:sp>
          <p:nvSpPr>
            <p:cNvPr id="127" name="Rounded Rectangle 7">
              <a:extLst>
                <a:ext uri="{FF2B5EF4-FFF2-40B4-BE49-F238E27FC236}">
                  <a16:creationId xmlns:a16="http://schemas.microsoft.com/office/drawing/2014/main" id="{BBDCBDC7-3E99-4BD6-05B4-AD0C7542E9D0}"/>
                </a:ext>
              </a:extLst>
            </p:cNvPr>
            <p:cNvSpPr>
              <a:spLocks/>
            </p:cNvSpPr>
            <p:nvPr/>
          </p:nvSpPr>
          <p:spPr>
            <a:xfrm>
              <a:off x="1358828" y="1105303"/>
              <a:ext cx="438398" cy="215444"/>
            </a:xfrm>
            <a:prstGeom prst="homePlate">
              <a:avLst>
                <a:gd name="adj" fmla="val 40565"/>
              </a:avLst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400" b="1" dirty="0">
                <a:solidFill>
                  <a:srgbClr val="FFFFFF"/>
                </a:solidFill>
                <a:latin typeface="Tahoma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06D03A99-EA45-4B57-F5ED-4998A9A82212}"/>
                </a:ext>
              </a:extLst>
            </p:cNvPr>
            <p:cNvSpPr txBox="1"/>
            <p:nvPr/>
          </p:nvSpPr>
          <p:spPr>
            <a:xfrm>
              <a:off x="1848990" y="1122848"/>
              <a:ext cx="513795" cy="184666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200" dirty="0"/>
                <a:t>Process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C484E17-809D-4DB0-FFB2-57640B11BB01}"/>
              </a:ext>
            </a:extLst>
          </p:cNvPr>
          <p:cNvGrpSpPr/>
          <p:nvPr/>
        </p:nvGrpSpPr>
        <p:grpSpPr>
          <a:xfrm>
            <a:off x="2447241" y="1105303"/>
            <a:ext cx="975936" cy="215444"/>
            <a:chOff x="1358828" y="1105303"/>
            <a:chExt cx="975936" cy="215444"/>
          </a:xfrm>
        </p:grpSpPr>
        <p:sp>
          <p:nvSpPr>
            <p:cNvPr id="132" name="Rounded Rectangle 7">
              <a:extLst>
                <a:ext uri="{FF2B5EF4-FFF2-40B4-BE49-F238E27FC236}">
                  <a16:creationId xmlns:a16="http://schemas.microsoft.com/office/drawing/2014/main" id="{A8DDDF33-2E61-B510-CD9E-63143AE58329}"/>
                </a:ext>
              </a:extLst>
            </p:cNvPr>
            <p:cNvSpPr>
              <a:spLocks/>
            </p:cNvSpPr>
            <p:nvPr/>
          </p:nvSpPr>
          <p:spPr>
            <a:xfrm>
              <a:off x="1358828" y="1105303"/>
              <a:ext cx="438398" cy="215444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400" b="1" dirty="0">
                <a:solidFill>
                  <a:srgbClr val="FFFFFF"/>
                </a:solidFill>
                <a:latin typeface="Tahom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EDBD1BEB-D6D3-F877-EDC2-AF523EB46EA2}"/>
                </a:ext>
              </a:extLst>
            </p:cNvPr>
            <p:cNvSpPr txBox="1"/>
            <p:nvPr/>
          </p:nvSpPr>
          <p:spPr>
            <a:xfrm>
              <a:off x="1848990" y="1122848"/>
              <a:ext cx="485774" cy="184666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200" dirty="0"/>
                <a:t>Artifact</a:t>
              </a: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CD8E9B65-1F9E-01F2-C7D2-63D91D7E5921}"/>
              </a:ext>
            </a:extLst>
          </p:cNvPr>
          <p:cNvSpPr txBox="1"/>
          <p:nvPr/>
        </p:nvSpPr>
        <p:spPr>
          <a:xfrm>
            <a:off x="11507453" y="448311"/>
            <a:ext cx="618760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en-US" sz="1000" i="1" dirty="0"/>
              <a:t>Data Marts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35C82A9-31F1-5D7C-2CDD-7BC9C65533E4}"/>
              </a:ext>
            </a:extLst>
          </p:cNvPr>
          <p:cNvGrpSpPr/>
          <p:nvPr/>
        </p:nvGrpSpPr>
        <p:grpSpPr>
          <a:xfrm>
            <a:off x="10178256" y="70791"/>
            <a:ext cx="1947957" cy="329438"/>
            <a:chOff x="9261412" y="4379187"/>
            <a:chExt cx="1947957" cy="329438"/>
          </a:xfrm>
        </p:grpSpPr>
        <p:pic>
          <p:nvPicPr>
            <p:cNvPr id="136" name="Graphic 135">
              <a:extLst>
                <a:ext uri="{FF2B5EF4-FFF2-40B4-BE49-F238E27FC236}">
                  <a16:creationId xmlns:a16="http://schemas.microsoft.com/office/drawing/2014/main" id="{62952D60-F938-7275-54FB-42433F36B469}"/>
                </a:ext>
              </a:extLst>
            </p:cNvPr>
            <p:cNvPicPr>
              <a:picLocks/>
            </p:cNvPicPr>
            <p:nvPr/>
          </p:nvPicPr>
          <p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476313" y="4379187"/>
              <a:ext cx="328088" cy="329438"/>
            </a:xfrm>
            <a:prstGeom prst="rect">
              <a:avLst/>
            </a:prstGeom>
          </p:spPr>
        </p:pic>
        <p:pic>
          <p:nvPicPr>
            <p:cNvPr id="137" name="Graphic 136">
              <a:extLst>
                <a:ext uri="{FF2B5EF4-FFF2-40B4-BE49-F238E27FC236}">
                  <a16:creationId xmlns:a16="http://schemas.microsoft.com/office/drawing/2014/main" id="{FD5AD9CF-16D0-B2BF-429F-8206956C2784}"/>
                </a:ext>
              </a:extLst>
            </p:cNvPr>
            <p:cNvPicPr>
              <a:picLocks/>
            </p:cNvPicPr>
            <p:nvPr/>
          </p:nvPicPr>
          <p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666379" y="4379187"/>
              <a:ext cx="328088" cy="329438"/>
            </a:xfrm>
            <a:prstGeom prst="rect">
              <a:avLst/>
            </a:prstGeom>
          </p:spPr>
        </p:pic>
        <p:pic>
          <p:nvPicPr>
            <p:cNvPr id="138" name="Graphic 137">
              <a:extLst>
                <a:ext uri="{FF2B5EF4-FFF2-40B4-BE49-F238E27FC236}">
                  <a16:creationId xmlns:a16="http://schemas.microsoft.com/office/drawing/2014/main" id="{721287E3-80C7-6E38-3238-1016FE96B3CE}"/>
                </a:ext>
              </a:extLst>
            </p:cNvPr>
            <p:cNvPicPr>
              <a:picLocks/>
            </p:cNvPicPr>
            <p:nvPr/>
          </p:nvPicPr>
          <p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61412" y="4379187"/>
              <a:ext cx="328088" cy="329438"/>
            </a:xfrm>
            <a:prstGeom prst="rect">
              <a:avLst/>
            </a:prstGeom>
          </p:spPr>
        </p:pic>
        <p:pic>
          <p:nvPicPr>
            <p:cNvPr id="139" name="Graphic 138">
              <a:extLst>
                <a:ext uri="{FF2B5EF4-FFF2-40B4-BE49-F238E27FC236}">
                  <a16:creationId xmlns:a16="http://schemas.microsoft.com/office/drawing/2014/main" id="{1D54E7B6-DD4C-BDB6-D0E9-41228D3340FB}"/>
                </a:ext>
              </a:extLst>
            </p:cNvPr>
            <p:cNvPicPr>
              <a:picLocks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881281" y="4379187"/>
              <a:ext cx="328088" cy="329438"/>
            </a:xfrm>
            <a:prstGeom prst="rect">
              <a:avLst/>
            </a:prstGeom>
          </p:spPr>
        </p:pic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843A970E-DE1B-0A20-E6AE-7258C9C9F14E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071346" y="4379187"/>
              <a:ext cx="328088" cy="329438"/>
              <a:chOff x="8605324" y="3998509"/>
              <a:chExt cx="388800" cy="390400"/>
            </a:xfrm>
          </p:grpSpPr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C21F9B4C-1780-D4E8-0E33-24F3A41DD4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05324" y="3998509"/>
                <a:ext cx="388800" cy="390400"/>
              </a:xfrm>
              <a:prstGeom prst="ellipse">
                <a:avLst/>
              </a:prstGeom>
              <a:solidFill>
                <a:schemeClr val="bg1"/>
              </a:solidFill>
              <a:ln w="6350" cap="sq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pic>
            <p:nvPicPr>
              <p:cNvPr id="142" name="Graphic 141">
                <a:extLst>
                  <a:ext uri="{FF2B5EF4-FFF2-40B4-BE49-F238E27FC236}">
                    <a16:creationId xmlns:a16="http://schemas.microsoft.com/office/drawing/2014/main" id="{A6D315DF-7690-8FE4-F1C5-3A809B25EC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=""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8681583" y="4077756"/>
                <a:ext cx="232408" cy="233365"/>
              </a:xfrm>
              <a:prstGeom prst="rect">
                <a:avLst/>
              </a:prstGeom>
            </p:spPr>
          </p:pic>
        </p:grp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A80C22E-80F7-4332-97E2-408075D3E7D9}"/>
              </a:ext>
            </a:extLst>
          </p:cNvPr>
          <p:cNvCxnSpPr>
            <a:cxnSpLocks/>
          </p:cNvCxnSpPr>
          <p:nvPr/>
        </p:nvCxnSpPr>
        <p:spPr>
          <a:xfrm>
            <a:off x="4691019" y="3009655"/>
            <a:ext cx="374009" cy="3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644B578A-0BAF-4A92-A8C3-ABB0A14A205E}"/>
              </a:ext>
            </a:extLst>
          </p:cNvPr>
          <p:cNvSpPr>
            <a:spLocks/>
          </p:cNvSpPr>
          <p:nvPr/>
        </p:nvSpPr>
        <p:spPr>
          <a:xfrm>
            <a:off x="3940380" y="2597199"/>
            <a:ext cx="957933" cy="824912"/>
          </a:xfrm>
          <a:prstGeom prst="homePlate">
            <a:avLst>
              <a:gd name="adj" fmla="val 12642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5240" tIns="0" rIns="152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rgbClr val="FFFFFF"/>
                </a:solidFill>
                <a:latin typeface="Tahoma"/>
              </a:rPr>
              <a:t>Describing Business Need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D2F62F-C108-4802-BA3C-76F2BF52C009}"/>
              </a:ext>
            </a:extLst>
          </p:cNvPr>
          <p:cNvSpPr txBox="1">
            <a:spLocks/>
          </p:cNvSpPr>
          <p:nvPr/>
        </p:nvSpPr>
        <p:spPr>
          <a:xfrm>
            <a:off x="2339729" y="2257224"/>
            <a:ext cx="1377559" cy="2074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As Is Process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100B70F-EC1B-4CF8-B9E6-CB2248E4783E}"/>
              </a:ext>
            </a:extLst>
          </p:cNvPr>
          <p:cNvSpPr txBox="1">
            <a:spLocks/>
          </p:cNvSpPr>
          <p:nvPr/>
        </p:nvSpPr>
        <p:spPr>
          <a:xfrm>
            <a:off x="2339729" y="3786512"/>
            <a:ext cx="1377559" cy="68194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To Be Process</a:t>
            </a:r>
          </a:p>
        </p:txBody>
      </p:sp>
      <p:sp>
        <p:nvSpPr>
          <p:cNvPr id="67" name="Rounded Rectangle 7">
            <a:extLst>
              <a:ext uri="{FF2B5EF4-FFF2-40B4-BE49-F238E27FC236}">
                <a16:creationId xmlns:a16="http://schemas.microsoft.com/office/drawing/2014/main" id="{CD8AF81A-3178-4364-B83A-BBEEC77F831C}"/>
              </a:ext>
            </a:extLst>
          </p:cNvPr>
          <p:cNvSpPr>
            <a:spLocks/>
          </p:cNvSpPr>
          <p:nvPr/>
        </p:nvSpPr>
        <p:spPr>
          <a:xfrm>
            <a:off x="3890675" y="3831048"/>
            <a:ext cx="957933" cy="824912"/>
          </a:xfrm>
          <a:prstGeom prst="homePlate">
            <a:avLst>
              <a:gd name="adj" fmla="val 11604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5240" tIns="0" rIns="152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rgbClr val="FFFFFF"/>
                </a:solidFill>
                <a:latin typeface="Tahoma"/>
              </a:rPr>
              <a:t>Describing Business Need</a:t>
            </a:r>
          </a:p>
        </p:txBody>
      </p:sp>
      <p:cxnSp>
        <p:nvCxnSpPr>
          <p:cNvPr id="21" name="LineBasicDefault 21">
            <a:extLst>
              <a:ext uri="{FF2B5EF4-FFF2-40B4-BE49-F238E27FC236}">
                <a16:creationId xmlns:a16="http://schemas.microsoft.com/office/drawing/2014/main" id="{EB045796-7CBC-4660-9ECC-8F82C39CF975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 flipV="1">
            <a:off x="3760089" y="2257224"/>
            <a:ext cx="0" cy="1363895"/>
          </a:xfrm>
          <a:prstGeom prst="straightConnector1">
            <a:avLst/>
          </a:prstGeom>
          <a:ln w="1270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D978B0B4-278D-455E-B75F-F83B6838A799}"/>
              </a:ext>
            </a:extLst>
          </p:cNvPr>
          <p:cNvSpPr>
            <a:spLocks/>
          </p:cNvSpPr>
          <p:nvPr/>
        </p:nvSpPr>
        <p:spPr>
          <a:xfrm rot="16200000">
            <a:off x="6520443" y="1158784"/>
            <a:ext cx="790915" cy="3701746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Backlog Item</a:t>
            </a:r>
          </a:p>
        </p:txBody>
      </p:sp>
      <p:sp>
        <p:nvSpPr>
          <p:cNvPr id="37" name="Rounded Rectangle 13">
            <a:extLst>
              <a:ext uri="{FF2B5EF4-FFF2-40B4-BE49-F238E27FC236}">
                <a16:creationId xmlns:a16="http://schemas.microsoft.com/office/drawing/2014/main" id="{4E1BECB2-B65F-4092-AF7C-5986F5F4EA7B}"/>
              </a:ext>
            </a:extLst>
          </p:cNvPr>
          <p:cNvSpPr>
            <a:spLocks/>
          </p:cNvSpPr>
          <p:nvPr/>
        </p:nvSpPr>
        <p:spPr>
          <a:xfrm>
            <a:off x="9083509" y="2600921"/>
            <a:ext cx="1568997" cy="810026"/>
          </a:xfrm>
          <a:prstGeom prst="homePlate">
            <a:avLst>
              <a:gd name="adj" fmla="val 10899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Report Development</a:t>
            </a:r>
          </a:p>
        </p:txBody>
      </p:sp>
      <p:sp>
        <p:nvSpPr>
          <p:cNvPr id="38" name="Rounded Rectangle 14">
            <a:extLst>
              <a:ext uri="{FF2B5EF4-FFF2-40B4-BE49-F238E27FC236}">
                <a16:creationId xmlns:a16="http://schemas.microsoft.com/office/drawing/2014/main" id="{DD0ECC57-4AC8-43D0-9A46-3D947D1EC095}"/>
              </a:ext>
            </a:extLst>
          </p:cNvPr>
          <p:cNvSpPr>
            <a:spLocks/>
          </p:cNvSpPr>
          <p:nvPr/>
        </p:nvSpPr>
        <p:spPr>
          <a:xfrm rot="16200000">
            <a:off x="10838099" y="2588204"/>
            <a:ext cx="790913" cy="842912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rgbClr val="FFFFFF"/>
                </a:solidFill>
                <a:latin typeface="Tahoma"/>
              </a:rPr>
              <a:t>Report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3F701E4-C25A-4B41-96A9-F121C70DEFD9}"/>
              </a:ext>
            </a:extLst>
          </p:cNvPr>
          <p:cNvCxnSpPr>
            <a:cxnSpLocks/>
          </p:cNvCxnSpPr>
          <p:nvPr/>
        </p:nvCxnSpPr>
        <p:spPr>
          <a:xfrm>
            <a:off x="8766773" y="3005934"/>
            <a:ext cx="316737" cy="0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6E78288-1B8F-4FEC-AAD6-87CFDC9A3DCA}"/>
              </a:ext>
            </a:extLst>
          </p:cNvPr>
          <p:cNvCxnSpPr>
            <a:cxnSpLocks/>
          </p:cNvCxnSpPr>
          <p:nvPr/>
        </p:nvCxnSpPr>
        <p:spPr>
          <a:xfrm>
            <a:off x="10571084" y="3005934"/>
            <a:ext cx="241015" cy="3726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39">
            <a:extLst>
              <a:ext uri="{FF2B5EF4-FFF2-40B4-BE49-F238E27FC236}">
                <a16:creationId xmlns:a16="http://schemas.microsoft.com/office/drawing/2014/main" id="{3D068C76-679F-4A42-89C9-B0883554E841}"/>
              </a:ext>
            </a:extLst>
          </p:cNvPr>
          <p:cNvSpPr/>
          <p:nvPr/>
        </p:nvSpPr>
        <p:spPr>
          <a:xfrm>
            <a:off x="4970088" y="3737076"/>
            <a:ext cx="1883052" cy="1814258"/>
          </a:xfrm>
          <a:prstGeom prst="roundRect">
            <a:avLst>
              <a:gd name="adj" fmla="val 8897"/>
            </a:avLst>
          </a:prstGeom>
          <a:solidFill>
            <a:schemeClr val="accent6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9" name="Rounded Rectangle 13">
            <a:extLst>
              <a:ext uri="{FF2B5EF4-FFF2-40B4-BE49-F238E27FC236}">
                <a16:creationId xmlns:a16="http://schemas.microsoft.com/office/drawing/2014/main" id="{0BABD702-951C-45FF-9199-49E8AEC6906A}"/>
              </a:ext>
            </a:extLst>
          </p:cNvPr>
          <p:cNvSpPr>
            <a:spLocks/>
          </p:cNvSpPr>
          <p:nvPr/>
        </p:nvSpPr>
        <p:spPr>
          <a:xfrm rot="16200000">
            <a:off x="5809019" y="4811379"/>
            <a:ext cx="467421" cy="534778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Mart</a:t>
            </a:r>
          </a:p>
        </p:txBody>
      </p:sp>
      <p:pic>
        <p:nvPicPr>
          <p:cNvPr id="71" name="Picture 2" descr="What is OBIEE ? | Learn More">
            <a:extLst>
              <a:ext uri="{FF2B5EF4-FFF2-40B4-BE49-F238E27FC236}">
                <a16:creationId xmlns:a16="http://schemas.microsoft.com/office/drawing/2014/main" id="{69834F5A-CBA2-4C12-91F0-EB00DB743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861" y="5287697"/>
            <a:ext cx="597313" cy="20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LineBasicDefault 21">
            <a:extLst>
              <a:ext uri="{FF2B5EF4-FFF2-40B4-BE49-F238E27FC236}">
                <a16:creationId xmlns:a16="http://schemas.microsoft.com/office/drawing/2014/main" id="{5AB9EF09-0D23-2A05-1CA8-210306CED105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 flipV="1">
            <a:off x="3760089" y="3786513"/>
            <a:ext cx="0" cy="1143923"/>
          </a:xfrm>
          <a:prstGeom prst="straightConnector1">
            <a:avLst/>
          </a:prstGeom>
          <a:ln w="1270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3A34C5-96C8-5084-E1D2-0A5677884EC5}"/>
              </a:ext>
            </a:extLst>
          </p:cNvPr>
          <p:cNvCxnSpPr>
            <a:cxnSpLocks/>
          </p:cNvCxnSpPr>
          <p:nvPr/>
        </p:nvCxnSpPr>
        <p:spPr>
          <a:xfrm>
            <a:off x="6601029" y="1727011"/>
            <a:ext cx="5053983" cy="0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64F664A-F30D-4F8C-92B4-757A20E08FAB}"/>
              </a:ext>
            </a:extLst>
          </p:cNvPr>
          <p:cNvCxnSpPr>
            <a:cxnSpLocks/>
          </p:cNvCxnSpPr>
          <p:nvPr/>
        </p:nvCxnSpPr>
        <p:spPr>
          <a:xfrm>
            <a:off x="4847420" y="4233835"/>
            <a:ext cx="168170" cy="0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1A242DE-9079-E08D-51C2-1890B66C70CF}"/>
              </a:ext>
            </a:extLst>
          </p:cNvPr>
          <p:cNvCxnSpPr>
            <a:cxnSpLocks/>
          </p:cNvCxnSpPr>
          <p:nvPr/>
        </p:nvCxnSpPr>
        <p:spPr>
          <a:xfrm flipV="1">
            <a:off x="3990146" y="1603957"/>
            <a:ext cx="0" cy="128404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2C9BC3-CBCC-A120-CCFC-036B17787453}"/>
              </a:ext>
            </a:extLst>
          </p:cNvPr>
          <p:cNvCxnSpPr>
            <a:cxnSpLocks/>
          </p:cNvCxnSpPr>
          <p:nvPr/>
        </p:nvCxnSpPr>
        <p:spPr>
          <a:xfrm flipV="1">
            <a:off x="6156965" y="1603957"/>
            <a:ext cx="0" cy="128404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9D6BDDC-6B6F-D055-03C0-9C3712644D0A}"/>
              </a:ext>
            </a:extLst>
          </p:cNvPr>
          <p:cNvCxnSpPr>
            <a:cxnSpLocks/>
          </p:cNvCxnSpPr>
          <p:nvPr/>
        </p:nvCxnSpPr>
        <p:spPr>
          <a:xfrm flipV="1">
            <a:off x="10688558" y="1598607"/>
            <a:ext cx="0" cy="128404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BE3DF70-281F-488B-ABB3-3114406F86B0}"/>
              </a:ext>
            </a:extLst>
          </p:cNvPr>
          <p:cNvSpPr txBox="1"/>
          <p:nvPr/>
        </p:nvSpPr>
        <p:spPr>
          <a:xfrm>
            <a:off x="4045574" y="1524793"/>
            <a:ext cx="330034" cy="15559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200" dirty="0"/>
              <a:t>Day 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F42312-CE64-5766-4869-E86761E5FB34}"/>
              </a:ext>
            </a:extLst>
          </p:cNvPr>
          <p:cNvSpPr txBox="1"/>
          <p:nvPr/>
        </p:nvSpPr>
        <p:spPr>
          <a:xfrm>
            <a:off x="6310115" y="1603957"/>
            <a:ext cx="117503" cy="15559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200" dirty="0"/>
              <a:t>...</a:t>
            </a:r>
          </a:p>
        </p:txBody>
      </p:sp>
      <p:sp>
        <p:nvSpPr>
          <p:cNvPr id="59" name="Rectangular Callout 58">
            <a:extLst>
              <a:ext uri="{FF2B5EF4-FFF2-40B4-BE49-F238E27FC236}">
                <a16:creationId xmlns:a16="http://schemas.microsoft.com/office/drawing/2014/main" id="{BBF2DD70-E4B0-B2AE-4368-215AC705313D}"/>
              </a:ext>
            </a:extLst>
          </p:cNvPr>
          <p:cNvSpPr/>
          <p:nvPr/>
        </p:nvSpPr>
        <p:spPr>
          <a:xfrm rot="10800000">
            <a:off x="8608647" y="3737075"/>
            <a:ext cx="2871735" cy="1104254"/>
          </a:xfrm>
          <a:prstGeom prst="wedgeRectCallou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>
              <a:solidFill>
                <a:schemeClr val="bg1"/>
              </a:solidFill>
            </a:endParaRPr>
          </a:p>
        </p:txBody>
      </p:sp>
      <p:sp>
        <p:nvSpPr>
          <p:cNvPr id="58" name="Rectangular Callout 57">
            <a:extLst>
              <a:ext uri="{FF2B5EF4-FFF2-40B4-BE49-F238E27FC236}">
                <a16:creationId xmlns:a16="http://schemas.microsoft.com/office/drawing/2014/main" id="{7A8C7CC1-F91B-1E07-52F2-36F305D0781E}"/>
              </a:ext>
            </a:extLst>
          </p:cNvPr>
          <p:cNvSpPr/>
          <p:nvPr/>
        </p:nvSpPr>
        <p:spPr>
          <a:xfrm rot="5400000">
            <a:off x="7201084" y="3637680"/>
            <a:ext cx="1227229" cy="1434557"/>
          </a:xfrm>
          <a:prstGeom prst="wedgeRectCallou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>
              <a:solidFill>
                <a:schemeClr val="bg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AD8CDB8-C119-4AA4-A7BD-2D2781196560}"/>
              </a:ext>
            </a:extLst>
          </p:cNvPr>
          <p:cNvSpPr txBox="1">
            <a:spLocks/>
          </p:cNvSpPr>
          <p:nvPr/>
        </p:nvSpPr>
        <p:spPr>
          <a:xfrm>
            <a:off x="7150934" y="4043779"/>
            <a:ext cx="1320106" cy="62235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Business customers use automated tools for reporting without involving Data Office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FF78AB-CA8F-4948-BBF1-3CC358FD4267}"/>
              </a:ext>
            </a:extLst>
          </p:cNvPr>
          <p:cNvSpPr txBox="1">
            <a:spLocks/>
          </p:cNvSpPr>
          <p:nvPr/>
        </p:nvSpPr>
        <p:spPr>
          <a:xfrm>
            <a:off x="8698195" y="3827537"/>
            <a:ext cx="2678076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Data Office prepares a report based on business need discussion, each iteration required significant time expenditure and allocation of expensive resources</a:t>
            </a:r>
          </a:p>
        </p:txBody>
      </p:sp>
      <p:sp>
        <p:nvSpPr>
          <p:cNvPr id="61" name="Rounded Rectangle 7">
            <a:extLst>
              <a:ext uri="{FF2B5EF4-FFF2-40B4-BE49-F238E27FC236}">
                <a16:creationId xmlns:a16="http://schemas.microsoft.com/office/drawing/2014/main" id="{17F3039D-0BBA-A815-10CC-7C62F7EC315F}"/>
              </a:ext>
            </a:extLst>
          </p:cNvPr>
          <p:cNvSpPr>
            <a:spLocks/>
          </p:cNvSpPr>
          <p:nvPr/>
        </p:nvSpPr>
        <p:spPr>
          <a:xfrm rot="16200000">
            <a:off x="4112776" y="1489256"/>
            <a:ext cx="407170" cy="116390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Business Person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0C423A3-6B4C-CC04-0187-3B1C8FC39BD6}"/>
              </a:ext>
            </a:extLst>
          </p:cNvPr>
          <p:cNvCxnSpPr>
            <a:cxnSpLocks/>
          </p:cNvCxnSpPr>
          <p:nvPr/>
        </p:nvCxnSpPr>
        <p:spPr>
          <a:xfrm>
            <a:off x="4315943" y="2243224"/>
            <a:ext cx="0" cy="367253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BAED2BAD-C1E1-D982-62D5-3F32D85CC286}"/>
              </a:ext>
            </a:extLst>
          </p:cNvPr>
          <p:cNvSpPr txBox="1"/>
          <p:nvPr/>
        </p:nvSpPr>
        <p:spPr>
          <a:xfrm>
            <a:off x="5119785" y="1525211"/>
            <a:ext cx="330034" cy="15559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200" dirty="0"/>
              <a:t>Day 2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BFC00D8-A442-271A-37A2-9667DAD1D828}"/>
              </a:ext>
            </a:extLst>
          </p:cNvPr>
          <p:cNvCxnSpPr>
            <a:cxnSpLocks/>
          </p:cNvCxnSpPr>
          <p:nvPr/>
        </p:nvCxnSpPr>
        <p:spPr>
          <a:xfrm flipV="1">
            <a:off x="5064358" y="1598607"/>
            <a:ext cx="0" cy="128404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03C5FB7-E7B2-38B2-992B-EDE41950D934}"/>
              </a:ext>
            </a:extLst>
          </p:cNvPr>
          <p:cNvCxnSpPr>
            <a:cxnSpLocks/>
          </p:cNvCxnSpPr>
          <p:nvPr/>
        </p:nvCxnSpPr>
        <p:spPr>
          <a:xfrm>
            <a:off x="542243" y="1732361"/>
            <a:ext cx="5614721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F5D068E9-9B9A-3B29-2CAC-7329674B2EBE}"/>
              </a:ext>
            </a:extLst>
          </p:cNvPr>
          <p:cNvSpPr txBox="1"/>
          <p:nvPr/>
        </p:nvSpPr>
        <p:spPr>
          <a:xfrm>
            <a:off x="6601967" y="1522318"/>
            <a:ext cx="78821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200" dirty="0"/>
              <a:t>Week 1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44F843C-18B8-6C40-F60D-A59752003B7A}"/>
              </a:ext>
            </a:extLst>
          </p:cNvPr>
          <p:cNvCxnSpPr>
            <a:cxnSpLocks/>
          </p:cNvCxnSpPr>
          <p:nvPr/>
        </p:nvCxnSpPr>
        <p:spPr>
          <a:xfrm flipV="1">
            <a:off x="7430426" y="1598607"/>
            <a:ext cx="0" cy="128404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7">
            <a:extLst>
              <a:ext uri="{FF2B5EF4-FFF2-40B4-BE49-F238E27FC236}">
                <a16:creationId xmlns:a16="http://schemas.microsoft.com/office/drawing/2014/main" id="{631DCF28-BA75-41CE-6FE6-EDEA2A01FFB2}"/>
              </a:ext>
            </a:extLst>
          </p:cNvPr>
          <p:cNvSpPr>
            <a:spLocks/>
          </p:cNvSpPr>
          <p:nvPr/>
        </p:nvSpPr>
        <p:spPr>
          <a:xfrm rot="16200000">
            <a:off x="11031296" y="1489256"/>
            <a:ext cx="407170" cy="116390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Business Person</a:t>
            </a:r>
          </a:p>
        </p:txBody>
      </p:sp>
      <p:sp>
        <p:nvSpPr>
          <p:cNvPr id="93" name="Rounded Rectangle 7">
            <a:extLst>
              <a:ext uri="{FF2B5EF4-FFF2-40B4-BE49-F238E27FC236}">
                <a16:creationId xmlns:a16="http://schemas.microsoft.com/office/drawing/2014/main" id="{3AD12E20-02BC-1F06-7536-AC62DC6DBBAB}"/>
              </a:ext>
            </a:extLst>
          </p:cNvPr>
          <p:cNvSpPr>
            <a:spLocks/>
          </p:cNvSpPr>
          <p:nvPr/>
        </p:nvSpPr>
        <p:spPr>
          <a:xfrm rot="16200000">
            <a:off x="9623712" y="1489256"/>
            <a:ext cx="407170" cy="116390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Office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C13ACD6-A5FE-86A9-8EB2-51BE8489E99E}"/>
              </a:ext>
            </a:extLst>
          </p:cNvPr>
          <p:cNvSpPr txBox="1"/>
          <p:nvPr/>
        </p:nvSpPr>
        <p:spPr>
          <a:xfrm>
            <a:off x="7542424" y="1522318"/>
            <a:ext cx="78821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200" dirty="0"/>
              <a:t>Week 2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93AEA9D-89D9-9212-9675-E95F6D9D213A}"/>
              </a:ext>
            </a:extLst>
          </p:cNvPr>
          <p:cNvCxnSpPr>
            <a:cxnSpLocks/>
          </p:cNvCxnSpPr>
          <p:nvPr/>
        </p:nvCxnSpPr>
        <p:spPr>
          <a:xfrm flipV="1">
            <a:off x="8370884" y="1598607"/>
            <a:ext cx="0" cy="128404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97C80A15-68CC-A9FE-0B03-DC6E26968AB4}"/>
              </a:ext>
            </a:extLst>
          </p:cNvPr>
          <p:cNvSpPr txBox="1"/>
          <p:nvPr/>
        </p:nvSpPr>
        <p:spPr>
          <a:xfrm>
            <a:off x="8531979" y="1522318"/>
            <a:ext cx="78821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200" dirty="0"/>
              <a:t>Week 3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FC5ACB1-4664-7B1C-ABEB-440AB097948D}"/>
              </a:ext>
            </a:extLst>
          </p:cNvPr>
          <p:cNvCxnSpPr>
            <a:cxnSpLocks/>
          </p:cNvCxnSpPr>
          <p:nvPr/>
        </p:nvCxnSpPr>
        <p:spPr>
          <a:xfrm flipV="1">
            <a:off x="9360439" y="1598607"/>
            <a:ext cx="0" cy="128404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284A88EB-F1CD-6C4E-28C4-BC02C46D7065}"/>
              </a:ext>
            </a:extLst>
          </p:cNvPr>
          <p:cNvSpPr txBox="1"/>
          <p:nvPr/>
        </p:nvSpPr>
        <p:spPr>
          <a:xfrm>
            <a:off x="9515656" y="1522318"/>
            <a:ext cx="78821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200" dirty="0"/>
              <a:t>Week 4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D0CF15C-1210-B378-4B56-C23AD8B6F587}"/>
              </a:ext>
            </a:extLst>
          </p:cNvPr>
          <p:cNvCxnSpPr>
            <a:cxnSpLocks/>
            <a:stCxn id="82" idx="1"/>
          </p:cNvCxnSpPr>
          <p:nvPr/>
        </p:nvCxnSpPr>
        <p:spPr>
          <a:xfrm>
            <a:off x="11234881" y="2274793"/>
            <a:ext cx="0" cy="325617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255FCFB-2863-3A97-6427-2CDD826ACFE1}"/>
              </a:ext>
            </a:extLst>
          </p:cNvPr>
          <p:cNvCxnSpPr>
            <a:cxnSpLocks/>
          </p:cNvCxnSpPr>
          <p:nvPr/>
        </p:nvCxnSpPr>
        <p:spPr>
          <a:xfrm>
            <a:off x="9827296" y="2284860"/>
            <a:ext cx="0" cy="325617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7">
            <a:extLst>
              <a:ext uri="{FF2B5EF4-FFF2-40B4-BE49-F238E27FC236}">
                <a16:creationId xmlns:a16="http://schemas.microsoft.com/office/drawing/2014/main" id="{985FD3A3-99CA-5DD7-3193-475E95A8CE09}"/>
              </a:ext>
            </a:extLst>
          </p:cNvPr>
          <p:cNvSpPr>
            <a:spLocks/>
          </p:cNvSpPr>
          <p:nvPr/>
        </p:nvSpPr>
        <p:spPr>
          <a:xfrm>
            <a:off x="5015589" y="3831048"/>
            <a:ext cx="957933" cy="824912"/>
          </a:xfrm>
          <a:prstGeom prst="homePlate">
            <a:avLst>
              <a:gd name="adj" fmla="val 11604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rgbClr val="FFFFFF"/>
                </a:solidFill>
                <a:latin typeface="Tahoma"/>
              </a:rPr>
              <a:t>Building Report with Self Service</a:t>
            </a:r>
          </a:p>
        </p:txBody>
      </p:sp>
      <p:sp>
        <p:nvSpPr>
          <p:cNvPr id="112" name="Rounded Rectangle 7">
            <a:extLst>
              <a:ext uri="{FF2B5EF4-FFF2-40B4-BE49-F238E27FC236}">
                <a16:creationId xmlns:a16="http://schemas.microsoft.com/office/drawing/2014/main" id="{2FBFD44E-F4EE-C7D2-F1C6-05B949C656B5}"/>
              </a:ext>
            </a:extLst>
          </p:cNvPr>
          <p:cNvSpPr>
            <a:spLocks/>
          </p:cNvSpPr>
          <p:nvPr/>
        </p:nvSpPr>
        <p:spPr>
          <a:xfrm rot="16200000">
            <a:off x="5113684" y="4436487"/>
            <a:ext cx="407170" cy="285319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Business Person</a:t>
            </a:r>
          </a:p>
        </p:txBody>
      </p: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1B164FC1-C3B5-E145-F27C-9A1396794E4A}"/>
              </a:ext>
            </a:extLst>
          </p:cNvPr>
          <p:cNvCxnSpPr>
            <a:cxnSpLocks/>
            <a:stCxn id="69" idx="0"/>
          </p:cNvCxnSpPr>
          <p:nvPr/>
        </p:nvCxnSpPr>
        <p:spPr>
          <a:xfrm rot="10800000">
            <a:off x="5584965" y="4676184"/>
            <a:ext cx="190375" cy="402584"/>
          </a:xfrm>
          <a:prstGeom prst="bentConnector2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4">
            <a:extLst>
              <a:ext uri="{FF2B5EF4-FFF2-40B4-BE49-F238E27FC236}">
                <a16:creationId xmlns:a16="http://schemas.microsoft.com/office/drawing/2014/main" id="{851DC64B-DC23-E31C-0573-A2AD1FD4D743}"/>
              </a:ext>
            </a:extLst>
          </p:cNvPr>
          <p:cNvSpPr>
            <a:spLocks/>
          </p:cNvSpPr>
          <p:nvPr/>
        </p:nvSpPr>
        <p:spPr>
          <a:xfrm rot="16200000">
            <a:off x="6051560" y="3958697"/>
            <a:ext cx="790913" cy="58010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rgbClr val="FFFFFF"/>
                </a:solidFill>
                <a:latin typeface="Tahoma"/>
              </a:rPr>
              <a:t>Report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EF0290B0-65A8-2E03-330A-2CEC60F08E5B}"/>
              </a:ext>
            </a:extLst>
          </p:cNvPr>
          <p:cNvCxnSpPr>
            <a:cxnSpLocks/>
          </p:cNvCxnSpPr>
          <p:nvPr/>
        </p:nvCxnSpPr>
        <p:spPr>
          <a:xfrm>
            <a:off x="5971585" y="4233835"/>
            <a:ext cx="168170" cy="0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E1278A0A-4C0F-A13D-880D-04E2B197260D}"/>
              </a:ext>
            </a:extLst>
          </p:cNvPr>
          <p:cNvCxnSpPr>
            <a:cxnSpLocks/>
          </p:cNvCxnSpPr>
          <p:nvPr/>
        </p:nvCxnSpPr>
        <p:spPr>
          <a:xfrm>
            <a:off x="6447017" y="4644206"/>
            <a:ext cx="0" cy="993104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CA55E7EA-148C-7BA7-5790-9B9A4D148315}"/>
              </a:ext>
            </a:extLst>
          </p:cNvPr>
          <p:cNvSpPr>
            <a:spLocks/>
          </p:cNvSpPr>
          <p:nvPr/>
        </p:nvSpPr>
        <p:spPr>
          <a:xfrm>
            <a:off x="2339729" y="4968572"/>
            <a:ext cx="1501106" cy="457615"/>
          </a:xfrm>
          <a:prstGeom prst="homePlate">
            <a:avLst>
              <a:gd name="adj" fmla="val 11604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rgbClr val="FFFFFF"/>
                </a:solidFill>
                <a:latin typeface="Tahoma"/>
              </a:rPr>
              <a:t>Data Mart Development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EB6CEF3-86EC-268E-4020-D051CBEA9000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840835" y="5197379"/>
            <a:ext cx="1934506" cy="0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42B3B024-4A35-A15F-8F42-ADC336B077DB}"/>
              </a:ext>
            </a:extLst>
          </p:cNvPr>
          <p:cNvSpPr>
            <a:spLocks/>
          </p:cNvSpPr>
          <p:nvPr/>
        </p:nvSpPr>
        <p:spPr>
          <a:xfrm rot="16200000">
            <a:off x="2860146" y="5101400"/>
            <a:ext cx="407170" cy="152336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Office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8046DB-E4A0-8DA2-BCD5-A939B298D9F9}"/>
              </a:ext>
            </a:extLst>
          </p:cNvPr>
          <p:cNvCxnSpPr>
            <a:stCxn id="11" idx="3"/>
            <a:endCxn id="2" idx="2"/>
          </p:cNvCxnSpPr>
          <p:nvPr/>
        </p:nvCxnSpPr>
        <p:spPr>
          <a:xfrm flipH="1" flipV="1">
            <a:off x="3063731" y="5426186"/>
            <a:ext cx="1" cy="233312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C2EDD95-962B-2E7E-ABE1-ED6E7BE89C2B}"/>
              </a:ext>
            </a:extLst>
          </p:cNvPr>
          <p:cNvSpPr/>
          <p:nvPr/>
        </p:nvSpPr>
        <p:spPr>
          <a:xfrm>
            <a:off x="4257217" y="5087938"/>
            <a:ext cx="130769" cy="208930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49595B-B3AF-0545-7F6E-4AAB94567DC8}"/>
              </a:ext>
            </a:extLst>
          </p:cNvPr>
          <p:cNvSpPr/>
          <p:nvPr/>
        </p:nvSpPr>
        <p:spPr>
          <a:xfrm>
            <a:off x="5386001" y="5087938"/>
            <a:ext cx="130769" cy="2089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>
              <a:solidFill>
                <a:schemeClr val="bg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F7500FA-E2A8-2DF0-8E03-D4777E223847}"/>
              </a:ext>
            </a:extLst>
          </p:cNvPr>
          <p:cNvCxnSpPr>
            <a:cxnSpLocks/>
          </p:cNvCxnSpPr>
          <p:nvPr/>
        </p:nvCxnSpPr>
        <p:spPr>
          <a:xfrm flipV="1">
            <a:off x="4315943" y="4663507"/>
            <a:ext cx="0" cy="973803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326752C-B896-6232-E216-1F6D7F10EFB4}"/>
              </a:ext>
            </a:extLst>
          </p:cNvPr>
          <p:cNvCxnSpPr>
            <a:cxnSpLocks/>
          </p:cNvCxnSpPr>
          <p:nvPr/>
        </p:nvCxnSpPr>
        <p:spPr>
          <a:xfrm flipV="1">
            <a:off x="5447764" y="4664034"/>
            <a:ext cx="0" cy="973803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1F97AB4-A89B-7B54-4398-4BE3F998995C}"/>
              </a:ext>
            </a:extLst>
          </p:cNvPr>
          <p:cNvSpPr>
            <a:spLocks/>
          </p:cNvSpPr>
          <p:nvPr/>
        </p:nvSpPr>
        <p:spPr>
          <a:xfrm>
            <a:off x="971087" y="4968572"/>
            <a:ext cx="1072261" cy="457615"/>
          </a:xfrm>
          <a:prstGeom prst="homePlate">
            <a:avLst>
              <a:gd name="adj" fmla="val 11604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rgbClr val="FFFFFF"/>
                </a:solidFill>
                <a:latin typeface="Tahoma"/>
              </a:rPr>
              <a:t>Class of Needs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1D8DA517-8216-ED7C-966D-780F23ED6291}"/>
              </a:ext>
            </a:extLst>
          </p:cNvPr>
          <p:cNvSpPr>
            <a:spLocks/>
          </p:cNvSpPr>
          <p:nvPr/>
        </p:nvSpPr>
        <p:spPr>
          <a:xfrm rot="16200000">
            <a:off x="1273609" y="5121601"/>
            <a:ext cx="407170" cy="1482963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Business Person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2875E7-DA1A-FC42-D336-CC0D85CABCE0}"/>
              </a:ext>
            </a:extLst>
          </p:cNvPr>
          <p:cNvCxnSpPr>
            <a:cxnSpLocks/>
          </p:cNvCxnSpPr>
          <p:nvPr/>
        </p:nvCxnSpPr>
        <p:spPr>
          <a:xfrm flipH="1" flipV="1">
            <a:off x="1477194" y="5426186"/>
            <a:ext cx="1" cy="233312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0CB1B1-A3B2-EFAD-78DD-53AF2CC370B6}"/>
              </a:ext>
            </a:extLst>
          </p:cNvPr>
          <p:cNvCxnSpPr>
            <a:cxnSpLocks/>
            <a:stCxn id="8" idx="3"/>
            <a:endCxn id="2" idx="1"/>
          </p:cNvCxnSpPr>
          <p:nvPr/>
        </p:nvCxnSpPr>
        <p:spPr>
          <a:xfrm>
            <a:off x="2043348" y="5197380"/>
            <a:ext cx="296381" cy="0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ular Callout 19">
            <a:extLst>
              <a:ext uri="{FF2B5EF4-FFF2-40B4-BE49-F238E27FC236}">
                <a16:creationId xmlns:a16="http://schemas.microsoft.com/office/drawing/2014/main" id="{C3A3A61E-F4EC-492A-E23D-ADA0E524895F}"/>
              </a:ext>
            </a:extLst>
          </p:cNvPr>
          <p:cNvSpPr/>
          <p:nvPr/>
        </p:nvSpPr>
        <p:spPr>
          <a:xfrm rot="10800000" flipV="1">
            <a:off x="542241" y="4043779"/>
            <a:ext cx="2468811" cy="651023"/>
          </a:xfrm>
          <a:prstGeom prst="wedgeRectCallout">
            <a:avLst>
              <a:gd name="adj1" fmla="val -2505"/>
              <a:gd name="adj2" fmla="val 79876"/>
            </a:avLst>
          </a:prstGeom>
          <a:solidFill>
            <a:schemeClr val="accent6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400" dirty="0" err="1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DF079B-131E-9D9A-6A3F-2B4D0368513D}"/>
              </a:ext>
            </a:extLst>
          </p:cNvPr>
          <p:cNvSpPr txBox="1">
            <a:spLocks/>
          </p:cNvSpPr>
          <p:nvPr/>
        </p:nvSpPr>
        <p:spPr>
          <a:xfrm>
            <a:off x="612442" y="4092291"/>
            <a:ext cx="2328409" cy="5539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This branch is enabled is existing data marts do not allow to deliver on new business need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271AC3-3E4C-03AF-7E16-6EB6D322A6B5}"/>
              </a:ext>
            </a:extLst>
          </p:cNvPr>
          <p:cNvCxnSpPr>
            <a:cxnSpLocks/>
          </p:cNvCxnSpPr>
          <p:nvPr/>
        </p:nvCxnSpPr>
        <p:spPr>
          <a:xfrm flipV="1">
            <a:off x="2980434" y="1598607"/>
            <a:ext cx="0" cy="128404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5542044-FD36-98B4-AD63-CAAE9C9E40E4}"/>
              </a:ext>
            </a:extLst>
          </p:cNvPr>
          <p:cNvSpPr txBox="1"/>
          <p:nvPr/>
        </p:nvSpPr>
        <p:spPr>
          <a:xfrm>
            <a:off x="3092432" y="1522318"/>
            <a:ext cx="78821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200" dirty="0"/>
              <a:t>Week -1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DB1EE2C-265B-6F86-7EA5-810B6CF2499F}"/>
              </a:ext>
            </a:extLst>
          </p:cNvPr>
          <p:cNvCxnSpPr>
            <a:cxnSpLocks/>
          </p:cNvCxnSpPr>
          <p:nvPr/>
        </p:nvCxnSpPr>
        <p:spPr>
          <a:xfrm flipV="1">
            <a:off x="1979939" y="1598607"/>
            <a:ext cx="0" cy="128404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F4AB449-FB47-05C2-FEBE-3CB82153C1A5}"/>
              </a:ext>
            </a:extLst>
          </p:cNvPr>
          <p:cNvSpPr txBox="1"/>
          <p:nvPr/>
        </p:nvSpPr>
        <p:spPr>
          <a:xfrm>
            <a:off x="2091937" y="1522318"/>
            <a:ext cx="78821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200" dirty="0"/>
              <a:t>Week -2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A19535F-A309-868B-BFA6-5B22C08DEE0F}"/>
              </a:ext>
            </a:extLst>
          </p:cNvPr>
          <p:cNvCxnSpPr>
            <a:cxnSpLocks/>
          </p:cNvCxnSpPr>
          <p:nvPr/>
        </p:nvCxnSpPr>
        <p:spPr>
          <a:xfrm flipV="1">
            <a:off x="971088" y="1598607"/>
            <a:ext cx="0" cy="128404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54D6964-0EA7-3F3F-8A97-95D7F3346E58}"/>
              </a:ext>
            </a:extLst>
          </p:cNvPr>
          <p:cNvSpPr txBox="1"/>
          <p:nvPr/>
        </p:nvSpPr>
        <p:spPr>
          <a:xfrm>
            <a:off x="1083086" y="1522318"/>
            <a:ext cx="78821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200" dirty="0"/>
              <a:t>Week -3</a:t>
            </a:r>
          </a:p>
        </p:txBody>
      </p:sp>
    </p:spTree>
    <p:extLst>
      <p:ext uri="{BB962C8B-B14F-4D97-AF65-F5344CB8AC3E}">
        <p14:creationId xmlns:p14="http://schemas.microsoft.com/office/powerpoint/2010/main" val="235614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4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6896224-8C07-3FE5-3E79-336CBB100A9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0"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6896224-8C07-3FE5-3E79-336CBB100A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1CE8F3D-000F-14A0-57BE-45FE3097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80" y="485760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n-US" dirty="0"/>
              <a:t>Challenges in Business Data Mart Calculations</a:t>
            </a:r>
          </a:p>
        </p:txBody>
      </p:sp>
      <p:sp>
        <p:nvSpPr>
          <p:cNvPr id="2" name="AutoShape 12" descr="Why - Free business and finance icons"/>
          <p:cNvSpPr>
            <a:spLocks noChangeAspect="1" noChangeArrowheads="1"/>
          </p:cNvSpPr>
          <p:nvPr/>
        </p:nvSpPr>
        <p:spPr bwMode="auto">
          <a:xfrm>
            <a:off x="155575" y="-10287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19404" y="2477192"/>
            <a:ext cx="8811208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Different departments used different calculation </a:t>
            </a:r>
            <a:r>
              <a:rPr lang="en-US" altLang="en-US" dirty="0" smtClean="0"/>
              <a:t>logic</a:t>
            </a:r>
            <a:endParaRPr lang="en-US" dirty="0" smtClean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 smtClean="0"/>
              <a:t>Same </a:t>
            </a:r>
            <a:r>
              <a:rPr lang="en-US" altLang="en-US" dirty="0"/>
              <a:t>data element existed in multiple </a:t>
            </a:r>
            <a:r>
              <a:rPr lang="en-US" altLang="en-US" dirty="0" smtClean="0"/>
              <a:t>systems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Conditional calculations (product type, currency, segment-based rules</a:t>
            </a:r>
            <a:r>
              <a:rPr lang="en-US" altLang="en-US" dirty="0" smtClean="0"/>
              <a:t>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Heavy aggregations across large </a:t>
            </a:r>
            <a:r>
              <a:rPr lang="en-US" altLang="en-US" dirty="0" smtClean="0"/>
              <a:t>datasets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 smtClean="0"/>
              <a:t>Infrastructure</a:t>
            </a:r>
            <a:endParaRPr lang="en-US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498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>
            <a:extLst>
              <a:ext uri="{FF2B5EF4-FFF2-40B4-BE49-F238E27FC236}">
                <a16:creationId xmlns:a16="http://schemas.microsoft.com/office/drawing/2014/main" id="{B4DD5B7E-D309-4420-837B-6BABF71BBC9E}"/>
              </a:ext>
            </a:extLst>
          </p:cNvPr>
          <p:cNvSpPr txBox="1">
            <a:spLocks/>
          </p:cNvSpPr>
          <p:nvPr/>
        </p:nvSpPr>
        <p:spPr bwMode="gray">
          <a:xfrm>
            <a:off x="826692" y="3373322"/>
            <a:ext cx="3940818" cy="13686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lgDash"/>
          </a:ln>
        </p:spPr>
        <p:txBody>
          <a:bodyPr vert="horz" wrap="square" lIns="80698" tIns="0" rIns="0" bIns="0" rtlCol="0" anchor="t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 DATA LAKE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4DD5B7E-D309-4420-837B-6BABF71BBC9E}"/>
              </a:ext>
            </a:extLst>
          </p:cNvPr>
          <p:cNvSpPr txBox="1">
            <a:spLocks/>
          </p:cNvSpPr>
          <p:nvPr/>
        </p:nvSpPr>
        <p:spPr bwMode="gray">
          <a:xfrm>
            <a:off x="842277" y="4838845"/>
            <a:ext cx="4836159" cy="63414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lgDash"/>
          </a:ln>
        </p:spPr>
        <p:txBody>
          <a:bodyPr vert="horz" wrap="square" lIns="80698" tIns="0" rIns="0" bIns="0" rtlCol="0" anchor="t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 DATA INTEGRATION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6896224-8C07-3FE5-3E79-336CBB100A9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9"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6896224-8C07-3FE5-3E79-336CBB100A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1CE8F3D-000F-14A0-57BE-45FE3097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97" y="486244"/>
            <a:ext cx="6251553" cy="3077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n-US" sz="2000" dirty="0"/>
              <a:t>Legacy Data </a:t>
            </a:r>
            <a:r>
              <a:rPr lang="en-US" sz="2000" dirty="0" smtClean="0"/>
              <a:t>Landscape before transformation</a:t>
            </a:r>
            <a:endParaRPr lang="en-US" sz="200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BABB8AF-98C8-4203-8E99-B330EDACC4A0}"/>
              </a:ext>
            </a:extLst>
          </p:cNvPr>
          <p:cNvGrpSpPr/>
          <p:nvPr/>
        </p:nvGrpSpPr>
        <p:grpSpPr>
          <a:xfrm>
            <a:off x="5927197" y="3557113"/>
            <a:ext cx="5710066" cy="1546577"/>
            <a:chOff x="5927197" y="3473663"/>
            <a:chExt cx="5710066" cy="154657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13C9D6A-5487-0F4E-4D76-673929ACE468}"/>
                </a:ext>
              </a:extLst>
            </p:cNvPr>
            <p:cNvSpPr txBox="1">
              <a:spLocks/>
            </p:cNvSpPr>
            <p:nvPr/>
          </p:nvSpPr>
          <p:spPr>
            <a:xfrm>
              <a:off x="5927197" y="3473663"/>
              <a:ext cx="1245128" cy="64633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1F61AE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Data Storage</a:t>
              </a:r>
              <a:b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</a:b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(cost, volume &amp; flexibility)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5E9D8AD-495E-633D-05DB-E323F8EBF7C8}"/>
                </a:ext>
              </a:extLst>
            </p:cNvPr>
            <p:cNvSpPr txBox="1">
              <a:spLocks/>
            </p:cNvSpPr>
            <p:nvPr/>
          </p:nvSpPr>
          <p:spPr>
            <a:xfrm>
              <a:off x="7343775" y="3473663"/>
              <a:ext cx="4293488" cy="154657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182880" marR="0" lvl="1" indent="-18288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tabLst/>
                <a:defRPr/>
              </a:pP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Potential for </a:t>
              </a: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cost optimization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of storage by offloading some data storage &amp; processing to Data Lake</a:t>
              </a:r>
            </a:p>
            <a:p>
              <a:pPr marL="182880" marR="0" lvl="1" indent="-18288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Data Lake is required to store unstructured data </a:t>
              </a:r>
              <a:r>
                <a:rPr kumimoji="0" lang="en-IN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(clickstream data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, </a:t>
              </a:r>
              <a:r>
                <a:rPr kumimoji="0" lang="en-IN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audio/video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logs, geodata) for analysis and store </a:t>
              </a: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massive amounts of data cheaply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603B6F6-DBD0-4565-8539-3A7461746212}"/>
              </a:ext>
            </a:extLst>
          </p:cNvPr>
          <p:cNvGrpSpPr/>
          <p:nvPr/>
        </p:nvGrpSpPr>
        <p:grpSpPr>
          <a:xfrm>
            <a:off x="5927197" y="2726828"/>
            <a:ext cx="5710066" cy="646331"/>
            <a:chOff x="5927197" y="2583786"/>
            <a:chExt cx="5710066" cy="6463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2A45E3A-DFEA-BC06-429F-31A1B6404217}"/>
                </a:ext>
              </a:extLst>
            </p:cNvPr>
            <p:cNvSpPr txBox="1">
              <a:spLocks/>
            </p:cNvSpPr>
            <p:nvPr/>
          </p:nvSpPr>
          <p:spPr>
            <a:xfrm>
              <a:off x="5927197" y="2583786"/>
              <a:ext cx="1245128" cy="64633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1F61AE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Data Analysis</a:t>
              </a:r>
              <a:b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</a:b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(speed &amp; capabilities)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6427879-4B8F-F152-327A-2BE1F1558C92}"/>
                </a:ext>
              </a:extLst>
            </p:cNvPr>
            <p:cNvSpPr txBox="1">
              <a:spLocks/>
            </p:cNvSpPr>
            <p:nvPr/>
          </p:nvSpPr>
          <p:spPr>
            <a:xfrm>
              <a:off x="7343775" y="2583786"/>
              <a:ext cx="4293488" cy="64633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182880" marR="0" lvl="1" indent="-18288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Classic tools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used now are </a:t>
              </a: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not effective for complex analytics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, while </a:t>
              </a: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Big Data tools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can provide </a:t>
              </a: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better performance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E7E14D4-5747-45DC-8BF4-4FCFFD328897}"/>
              </a:ext>
            </a:extLst>
          </p:cNvPr>
          <p:cNvGrpSpPr/>
          <p:nvPr/>
        </p:nvGrpSpPr>
        <p:grpSpPr>
          <a:xfrm>
            <a:off x="5927197" y="1427184"/>
            <a:ext cx="5710066" cy="1115690"/>
            <a:chOff x="5927197" y="1427184"/>
            <a:chExt cx="5710066" cy="111569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3BA9F51-C025-CEEA-FFC8-0A67AF2CD960}"/>
                </a:ext>
              </a:extLst>
            </p:cNvPr>
            <p:cNvSpPr txBox="1">
              <a:spLocks/>
            </p:cNvSpPr>
            <p:nvPr/>
          </p:nvSpPr>
          <p:spPr>
            <a:xfrm>
              <a:off x="5927197" y="1427184"/>
              <a:ext cx="1245128" cy="86177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1F61AE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Applications</a:t>
              </a:r>
              <a:b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</a:b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(business features &amp; time-to-market)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1BA3AE7-2123-8AF0-3463-77E07F7670A7}"/>
                </a:ext>
              </a:extLst>
            </p:cNvPr>
            <p:cNvSpPr txBox="1">
              <a:spLocks/>
            </p:cNvSpPr>
            <p:nvPr/>
          </p:nvSpPr>
          <p:spPr>
            <a:xfrm>
              <a:off x="7343775" y="1427184"/>
              <a:ext cx="4293488" cy="111569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182880" marR="0" lvl="1" indent="-18288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Time-to-report can take weeks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while self service reporting can provide 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interactive report generation</a:t>
              </a:r>
            </a:p>
            <a:p>
              <a:pPr marL="182880" marR="0" lvl="1" indent="-18288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Real-time analysis and data driven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apps do not have required infrastructure for effective work</a:t>
              </a:r>
            </a:p>
          </p:txBody>
        </p: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88E8581-771D-4080-45F7-BC0787A9685C}"/>
              </a:ext>
            </a:extLst>
          </p:cNvPr>
          <p:cNvCxnSpPr>
            <a:cxnSpLocks/>
          </p:cNvCxnSpPr>
          <p:nvPr/>
        </p:nvCxnSpPr>
        <p:spPr>
          <a:xfrm>
            <a:off x="5750059" y="3510179"/>
            <a:ext cx="0" cy="887885"/>
          </a:xfrm>
          <a:prstGeom prst="line">
            <a:avLst/>
          </a:prstGeom>
          <a:ln w="381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9B982AC-1CC4-5762-6F12-A7A4EA69840D}"/>
              </a:ext>
            </a:extLst>
          </p:cNvPr>
          <p:cNvCxnSpPr>
            <a:cxnSpLocks/>
          </p:cNvCxnSpPr>
          <p:nvPr/>
        </p:nvCxnSpPr>
        <p:spPr>
          <a:xfrm>
            <a:off x="5750059" y="2592382"/>
            <a:ext cx="0" cy="607257"/>
          </a:xfrm>
          <a:prstGeom prst="line">
            <a:avLst/>
          </a:prstGeom>
          <a:ln w="381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D799543-CBC1-828E-CE54-DF14BCD06901}"/>
              </a:ext>
            </a:extLst>
          </p:cNvPr>
          <p:cNvCxnSpPr>
            <a:cxnSpLocks/>
          </p:cNvCxnSpPr>
          <p:nvPr/>
        </p:nvCxnSpPr>
        <p:spPr>
          <a:xfrm>
            <a:off x="5750059" y="1674585"/>
            <a:ext cx="0" cy="607257"/>
          </a:xfrm>
          <a:prstGeom prst="line">
            <a:avLst/>
          </a:prstGeom>
          <a:ln w="381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7CE5159-00DF-E7D1-BD4E-263942944D7D}"/>
              </a:ext>
            </a:extLst>
          </p:cNvPr>
          <p:cNvCxnSpPr>
            <a:cxnSpLocks/>
          </p:cNvCxnSpPr>
          <p:nvPr/>
        </p:nvCxnSpPr>
        <p:spPr>
          <a:xfrm>
            <a:off x="5750059" y="4715652"/>
            <a:ext cx="0" cy="1517068"/>
          </a:xfrm>
          <a:prstGeom prst="line">
            <a:avLst/>
          </a:prstGeom>
          <a:ln w="381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AF5FC3A-861B-4808-988E-9A8FE3498A6A}"/>
              </a:ext>
            </a:extLst>
          </p:cNvPr>
          <p:cNvGrpSpPr/>
          <p:nvPr/>
        </p:nvGrpSpPr>
        <p:grpSpPr>
          <a:xfrm>
            <a:off x="5927197" y="5287641"/>
            <a:ext cx="5710066" cy="938719"/>
            <a:chOff x="5927197" y="5072198"/>
            <a:chExt cx="5710066" cy="938719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36148D2-61C6-52E4-B31F-F27CDF919B7E}"/>
                </a:ext>
              </a:extLst>
            </p:cNvPr>
            <p:cNvSpPr txBox="1">
              <a:spLocks/>
            </p:cNvSpPr>
            <p:nvPr/>
          </p:nvSpPr>
          <p:spPr>
            <a:xfrm>
              <a:off x="7343775" y="5072198"/>
              <a:ext cx="4293488" cy="93871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182880" marR="0" lvl="1" indent="-18288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tabLst/>
                <a:defRPr/>
              </a:pP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Reports based on </a:t>
              </a: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previous day data only</a:t>
              </a:r>
            </a:p>
            <a:p>
              <a:pPr marL="182880" marR="0" lvl="1" indent="-18288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Integrate additional source data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(full EDV data, </a:t>
              </a:r>
              <a:r>
                <a:rPr kumimoji="0" lang="en-I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gelocation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etc)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7C62682-624A-C5CB-D401-09F03C2458A1}"/>
                </a:ext>
              </a:extLst>
            </p:cNvPr>
            <p:cNvSpPr txBox="1">
              <a:spLocks/>
            </p:cNvSpPr>
            <p:nvPr/>
          </p:nvSpPr>
          <p:spPr>
            <a:xfrm>
              <a:off x="5927197" y="5072198"/>
              <a:ext cx="1245128" cy="86177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1F61AE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Data Availability</a:t>
              </a:r>
              <a:b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</a:b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(delay &amp; coverage)</a:t>
              </a:r>
            </a:p>
          </p:txBody>
        </p:sp>
      </p:grp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043FE15-BC78-B169-3BD2-4293F1BB1F26}"/>
              </a:ext>
            </a:extLst>
          </p:cNvPr>
          <p:cNvCxnSpPr>
            <a:cxnSpLocks/>
          </p:cNvCxnSpPr>
          <p:nvPr/>
        </p:nvCxnSpPr>
        <p:spPr>
          <a:xfrm>
            <a:off x="5927197" y="1356878"/>
            <a:ext cx="5710066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99729EB5-D19C-456D-4451-3FBF628033D2}"/>
              </a:ext>
            </a:extLst>
          </p:cNvPr>
          <p:cNvSpPr txBox="1">
            <a:spLocks/>
          </p:cNvSpPr>
          <p:nvPr/>
        </p:nvSpPr>
        <p:spPr>
          <a:xfrm>
            <a:off x="7343775" y="1103334"/>
            <a:ext cx="4293488" cy="215444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Key Gaps and Improvement Opportunities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1199D8-76B0-67A3-899A-618AA38717A2}"/>
              </a:ext>
            </a:extLst>
          </p:cNvPr>
          <p:cNvSpPr txBox="1">
            <a:spLocks/>
          </p:cNvSpPr>
          <p:nvPr/>
        </p:nvSpPr>
        <p:spPr>
          <a:xfrm>
            <a:off x="5927197" y="1103334"/>
            <a:ext cx="1245128" cy="215444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Area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787506B-56F7-DD65-7EBC-5AA377844AD0}"/>
              </a:ext>
            </a:extLst>
          </p:cNvPr>
          <p:cNvGrpSpPr/>
          <p:nvPr/>
        </p:nvGrpSpPr>
        <p:grpSpPr>
          <a:xfrm>
            <a:off x="1384079" y="1426353"/>
            <a:ext cx="519383" cy="184666"/>
            <a:chOff x="1088773" y="1426353"/>
            <a:chExt cx="519383" cy="184666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DD5654C-932C-DCC9-2BFE-520989123BC4}"/>
                </a:ext>
              </a:extLst>
            </p:cNvPr>
            <p:cNvSpPr/>
            <p:nvPr/>
          </p:nvSpPr>
          <p:spPr>
            <a:xfrm>
              <a:off x="1088773" y="1436136"/>
              <a:ext cx="165100" cy="165100"/>
            </a:xfrm>
            <a:prstGeom prst="rect">
              <a:avLst/>
            </a:prstGeom>
            <a:solidFill>
              <a:srgbClr val="DD757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C23192E-0D2B-33EF-6268-4D20FFDF8512}"/>
                </a:ext>
              </a:extLst>
            </p:cNvPr>
            <p:cNvSpPr txBox="1"/>
            <p:nvPr/>
          </p:nvSpPr>
          <p:spPr>
            <a:xfrm>
              <a:off x="1340454" y="1426353"/>
              <a:ext cx="267702" cy="184666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1F61AE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Gap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0AC988E-0424-F8A0-7615-E1930740F1CC}"/>
              </a:ext>
            </a:extLst>
          </p:cNvPr>
          <p:cNvGrpSpPr/>
          <p:nvPr/>
        </p:nvGrpSpPr>
        <p:grpSpPr>
          <a:xfrm>
            <a:off x="2003061" y="1426353"/>
            <a:ext cx="1995748" cy="184666"/>
            <a:chOff x="1849392" y="1426353"/>
            <a:chExt cx="1995748" cy="18466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D2097AA-2852-52D1-FD4E-FB425D50622C}"/>
                </a:ext>
              </a:extLst>
            </p:cNvPr>
            <p:cNvSpPr/>
            <p:nvPr/>
          </p:nvSpPr>
          <p:spPr>
            <a:xfrm>
              <a:off x="1849392" y="1436136"/>
              <a:ext cx="165100" cy="165100"/>
            </a:xfrm>
            <a:prstGeom prst="rect">
              <a:avLst/>
            </a:prstGeom>
            <a:solidFill>
              <a:srgbClr val="FFE699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BC77316-439F-1E05-21EF-2B1DC0271BCE}"/>
                </a:ext>
              </a:extLst>
            </p:cNvPr>
            <p:cNvSpPr txBox="1"/>
            <p:nvPr/>
          </p:nvSpPr>
          <p:spPr>
            <a:xfrm>
              <a:off x="2101073" y="1426353"/>
              <a:ext cx="1744067" cy="184666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1F61AE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Improvement opportunity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9C35AA6-9247-E868-E8E5-6FB80446DFBB}"/>
              </a:ext>
            </a:extLst>
          </p:cNvPr>
          <p:cNvGrpSpPr/>
          <p:nvPr/>
        </p:nvGrpSpPr>
        <p:grpSpPr>
          <a:xfrm>
            <a:off x="4098409" y="1426353"/>
            <a:ext cx="1554922" cy="184666"/>
            <a:chOff x="4098409" y="1426353"/>
            <a:chExt cx="1554922" cy="184666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6A21DF5-F677-49CF-0AF6-0E1024AC6BD9}"/>
                </a:ext>
              </a:extLst>
            </p:cNvPr>
            <p:cNvSpPr/>
            <p:nvPr/>
          </p:nvSpPr>
          <p:spPr>
            <a:xfrm>
              <a:off x="4098409" y="1436136"/>
              <a:ext cx="165100" cy="1651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CED5167-D4FA-7F89-A215-09EFC8ED24D0}"/>
                </a:ext>
              </a:extLst>
            </p:cNvPr>
            <p:cNvSpPr txBox="1"/>
            <p:nvPr/>
          </p:nvSpPr>
          <p:spPr>
            <a:xfrm>
              <a:off x="4350089" y="1426353"/>
              <a:ext cx="1303242" cy="184666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1F61AE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Meets expectations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D5227A86-9353-8619-90F2-DEDE5E3F8B46}"/>
              </a:ext>
            </a:extLst>
          </p:cNvPr>
          <p:cNvSpPr txBox="1">
            <a:spLocks/>
          </p:cNvSpPr>
          <p:nvPr/>
        </p:nvSpPr>
        <p:spPr>
          <a:xfrm>
            <a:off x="554736" y="1103334"/>
            <a:ext cx="5098595" cy="215444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Data Analytics Landscape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3F8D7CF-562E-C8AA-8954-1875282E52B4}"/>
              </a:ext>
            </a:extLst>
          </p:cNvPr>
          <p:cNvCxnSpPr>
            <a:cxnSpLocks/>
          </p:cNvCxnSpPr>
          <p:nvPr/>
        </p:nvCxnSpPr>
        <p:spPr>
          <a:xfrm>
            <a:off x="554736" y="1348914"/>
            <a:ext cx="5098595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29E857A-F171-A3DA-1A6E-8E725920E2B3}"/>
              </a:ext>
            </a:extLst>
          </p:cNvPr>
          <p:cNvSpPr/>
          <p:nvPr/>
        </p:nvSpPr>
        <p:spPr>
          <a:xfrm>
            <a:off x="4810255" y="2451880"/>
            <a:ext cx="851235" cy="2293758"/>
          </a:xfrm>
          <a:prstGeom prst="roundRect">
            <a:avLst>
              <a:gd name="adj" fmla="val 9455"/>
            </a:avLst>
          </a:prstGeom>
          <a:solidFill>
            <a:srgbClr val="DD757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Real Time </a:t>
            </a: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Processing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8E6D44-5742-D430-50FB-784085B9E584}"/>
              </a:ext>
            </a:extLst>
          </p:cNvPr>
          <p:cNvSpPr/>
          <p:nvPr/>
        </p:nvSpPr>
        <p:spPr>
          <a:xfrm>
            <a:off x="919220" y="5002980"/>
            <a:ext cx="2149760" cy="3950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Offline Data Integration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D565486-3E0C-2D61-CFBD-EB48299ECF16}"/>
              </a:ext>
            </a:extLst>
          </p:cNvPr>
          <p:cNvSpPr>
            <a:spLocks/>
          </p:cNvSpPr>
          <p:nvPr/>
        </p:nvSpPr>
        <p:spPr>
          <a:xfrm>
            <a:off x="826692" y="5548102"/>
            <a:ext cx="4801034" cy="678257"/>
          </a:xfrm>
          <a:prstGeom prst="roundRect">
            <a:avLst/>
          </a:prstGeom>
          <a:solidFill>
            <a:srgbClr val="FFE699"/>
          </a:solidFill>
          <a:ln w="2540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Sources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1740903-7CD4-1A74-827D-9BD6761A2C37}"/>
              </a:ext>
            </a:extLst>
          </p:cNvPr>
          <p:cNvSpPr/>
          <p:nvPr/>
        </p:nvSpPr>
        <p:spPr>
          <a:xfrm>
            <a:off x="3100408" y="5008882"/>
            <a:ext cx="2469640" cy="389184"/>
          </a:xfrm>
          <a:prstGeom prst="roundRect">
            <a:avLst/>
          </a:prstGeom>
          <a:solidFill>
            <a:srgbClr val="DD757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Real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Time Data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Integration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CD889F6-8725-B5A4-B2D5-6E78A545D42C}"/>
              </a:ext>
            </a:extLst>
          </p:cNvPr>
          <p:cNvSpPr/>
          <p:nvPr/>
        </p:nvSpPr>
        <p:spPr>
          <a:xfrm>
            <a:off x="1209739" y="2609909"/>
            <a:ext cx="1916844" cy="6072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SQL Analysis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19F3E0D-B3DF-AD97-5AA2-016D1BA6BE89}"/>
              </a:ext>
            </a:extLst>
          </p:cNvPr>
          <p:cNvSpPr>
            <a:spLocks/>
          </p:cNvSpPr>
          <p:nvPr/>
        </p:nvSpPr>
        <p:spPr>
          <a:xfrm>
            <a:off x="1782199" y="1659286"/>
            <a:ext cx="899733" cy="6072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Reporting Tools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C3D4149-C9D5-66A1-DAE2-B51EAD525CB8}"/>
              </a:ext>
            </a:extLst>
          </p:cNvPr>
          <p:cNvSpPr>
            <a:spLocks/>
          </p:cNvSpPr>
          <p:nvPr/>
        </p:nvSpPr>
        <p:spPr>
          <a:xfrm>
            <a:off x="2737875" y="1665837"/>
            <a:ext cx="919846" cy="607257"/>
          </a:xfrm>
          <a:prstGeom prst="roundRect">
            <a:avLst/>
          </a:prstGeom>
          <a:solidFill>
            <a:srgbClr val="DD757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Self Service Reporting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9101E32-D481-914C-90AE-4553ABE6B112}"/>
              </a:ext>
            </a:extLst>
          </p:cNvPr>
          <p:cNvSpPr>
            <a:spLocks/>
          </p:cNvSpPr>
          <p:nvPr/>
        </p:nvSpPr>
        <p:spPr>
          <a:xfrm>
            <a:off x="3740727" y="1665837"/>
            <a:ext cx="918635" cy="607257"/>
          </a:xfrm>
          <a:prstGeom prst="roundRect">
            <a:avLst/>
          </a:prstGeom>
          <a:solidFill>
            <a:srgbClr val="FFE69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Analytical Use Cases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F3E012C-695D-3B71-E9B6-2603A3D0822B}"/>
              </a:ext>
            </a:extLst>
          </p:cNvPr>
          <p:cNvSpPr>
            <a:spLocks/>
          </p:cNvSpPr>
          <p:nvPr/>
        </p:nvSpPr>
        <p:spPr>
          <a:xfrm>
            <a:off x="4736890" y="1674585"/>
            <a:ext cx="916441" cy="607257"/>
          </a:xfrm>
          <a:prstGeom prst="roundRect">
            <a:avLst/>
          </a:prstGeom>
          <a:solidFill>
            <a:srgbClr val="DD757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Real Time Use Cases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4423DF9-F543-AD5A-C8CD-2EE72B917418}"/>
              </a:ext>
            </a:extLst>
          </p:cNvPr>
          <p:cNvSpPr>
            <a:spLocks/>
          </p:cNvSpPr>
          <p:nvPr/>
        </p:nvSpPr>
        <p:spPr>
          <a:xfrm>
            <a:off x="852296" y="1674585"/>
            <a:ext cx="873959" cy="607257"/>
          </a:xfrm>
          <a:prstGeom prst="roundRect">
            <a:avLst/>
          </a:prstGeom>
          <a:solidFill>
            <a:srgbClr val="DD757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MLOps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9744F40-9383-096F-D8D1-DA61CB98D638}"/>
              </a:ext>
            </a:extLst>
          </p:cNvPr>
          <p:cNvSpPr/>
          <p:nvPr/>
        </p:nvSpPr>
        <p:spPr>
          <a:xfrm>
            <a:off x="499337" y="1674586"/>
            <a:ext cx="271317" cy="4551774"/>
          </a:xfrm>
          <a:prstGeom prst="roundRect">
            <a:avLst>
              <a:gd name="adj" fmla="val 29901"/>
            </a:avLst>
          </a:prstGeom>
          <a:solidFill>
            <a:srgbClr val="DD7575"/>
          </a:solidFill>
          <a:ln w="2540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Governance Tools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C2564C0-5369-AD53-8BBF-A136637A6E79}"/>
              </a:ext>
            </a:extLst>
          </p:cNvPr>
          <p:cNvCxnSpPr>
            <a:cxnSpLocks/>
          </p:cNvCxnSpPr>
          <p:nvPr/>
        </p:nvCxnSpPr>
        <p:spPr>
          <a:xfrm>
            <a:off x="852297" y="2367830"/>
            <a:ext cx="4801034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2EE7ABF-E129-40FB-8139-CDAB4D2717E7}"/>
              </a:ext>
            </a:extLst>
          </p:cNvPr>
          <p:cNvCxnSpPr>
            <a:cxnSpLocks/>
          </p:cNvCxnSpPr>
          <p:nvPr/>
        </p:nvCxnSpPr>
        <p:spPr>
          <a:xfrm>
            <a:off x="5927197" y="2634851"/>
            <a:ext cx="5710066" cy="0"/>
          </a:xfrm>
          <a:prstGeom prst="line">
            <a:avLst/>
          </a:prstGeom>
          <a:ln w="12700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54A666E-0187-4EEF-A630-C544B0347F3B}"/>
              </a:ext>
            </a:extLst>
          </p:cNvPr>
          <p:cNvCxnSpPr>
            <a:cxnSpLocks/>
          </p:cNvCxnSpPr>
          <p:nvPr/>
        </p:nvCxnSpPr>
        <p:spPr>
          <a:xfrm>
            <a:off x="5927197" y="3465136"/>
            <a:ext cx="5710066" cy="0"/>
          </a:xfrm>
          <a:prstGeom prst="line">
            <a:avLst/>
          </a:prstGeom>
          <a:ln w="12700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DE6C064-598E-4441-921C-1F572B322DD9}"/>
              </a:ext>
            </a:extLst>
          </p:cNvPr>
          <p:cNvCxnSpPr>
            <a:cxnSpLocks/>
          </p:cNvCxnSpPr>
          <p:nvPr/>
        </p:nvCxnSpPr>
        <p:spPr>
          <a:xfrm>
            <a:off x="5927197" y="5195667"/>
            <a:ext cx="5710066" cy="0"/>
          </a:xfrm>
          <a:prstGeom prst="line">
            <a:avLst/>
          </a:prstGeom>
          <a:ln w="12700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0B51298-5BB9-45AC-A7C0-F98B572B194B}"/>
              </a:ext>
            </a:extLst>
          </p:cNvPr>
          <p:cNvCxnSpPr>
            <a:cxnSpLocks/>
          </p:cNvCxnSpPr>
          <p:nvPr/>
        </p:nvCxnSpPr>
        <p:spPr>
          <a:xfrm>
            <a:off x="5750059" y="2281842"/>
            <a:ext cx="177138" cy="353009"/>
          </a:xfrm>
          <a:prstGeom prst="line">
            <a:avLst/>
          </a:prstGeom>
          <a:ln w="12700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DB44C1E-6071-47BF-8101-633F2C2E942F}"/>
              </a:ext>
            </a:extLst>
          </p:cNvPr>
          <p:cNvCxnSpPr>
            <a:cxnSpLocks/>
          </p:cNvCxnSpPr>
          <p:nvPr/>
        </p:nvCxnSpPr>
        <p:spPr>
          <a:xfrm>
            <a:off x="5750059" y="3201004"/>
            <a:ext cx="177138" cy="264132"/>
          </a:xfrm>
          <a:prstGeom prst="line">
            <a:avLst/>
          </a:prstGeom>
          <a:ln w="12700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9EB52F1-FC3F-4F11-8279-4D251CA85B49}"/>
              </a:ext>
            </a:extLst>
          </p:cNvPr>
          <p:cNvCxnSpPr>
            <a:cxnSpLocks/>
          </p:cNvCxnSpPr>
          <p:nvPr/>
        </p:nvCxnSpPr>
        <p:spPr>
          <a:xfrm>
            <a:off x="5750059" y="4394010"/>
            <a:ext cx="181635" cy="799496"/>
          </a:xfrm>
          <a:prstGeom prst="line">
            <a:avLst/>
          </a:prstGeom>
          <a:ln w="12700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C13F1C2-62DE-4EB2-A7C1-3AF7BA0D0509}"/>
              </a:ext>
            </a:extLst>
          </p:cNvPr>
          <p:cNvCxnSpPr>
            <a:cxnSpLocks/>
          </p:cNvCxnSpPr>
          <p:nvPr/>
        </p:nvCxnSpPr>
        <p:spPr>
          <a:xfrm>
            <a:off x="5743575" y="6232720"/>
            <a:ext cx="5893688" cy="0"/>
          </a:xfrm>
          <a:prstGeom prst="line">
            <a:avLst/>
          </a:prstGeom>
          <a:ln w="12700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B4DD5B7E-D309-4420-837B-6BABF71BBC9E}"/>
              </a:ext>
            </a:extLst>
          </p:cNvPr>
          <p:cNvSpPr txBox="1">
            <a:spLocks/>
          </p:cNvSpPr>
          <p:nvPr/>
        </p:nvSpPr>
        <p:spPr bwMode="gray">
          <a:xfrm>
            <a:off x="878958" y="3523852"/>
            <a:ext cx="1802974" cy="114296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lgDash"/>
          </a:ln>
        </p:spPr>
        <p:txBody>
          <a:bodyPr vert="horz" wrap="square" lIns="80698" tIns="0" rIns="0" bIns="0" rtlCol="0" anchor="t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 STRUCTURAL DATA LAYER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4DD5B7E-D309-4420-837B-6BABF71BBC9E}"/>
              </a:ext>
            </a:extLst>
          </p:cNvPr>
          <p:cNvSpPr txBox="1">
            <a:spLocks/>
          </p:cNvSpPr>
          <p:nvPr/>
        </p:nvSpPr>
        <p:spPr bwMode="gray">
          <a:xfrm>
            <a:off x="2769141" y="3523850"/>
            <a:ext cx="1883441" cy="114296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lgDash"/>
          </a:ln>
        </p:spPr>
        <p:txBody>
          <a:bodyPr vert="horz" wrap="square" lIns="80698" tIns="0" rIns="0" bIns="0" rtlCol="0" anchor="t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 UNSTRUCTURAL DATA LAYER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E792B7D-5CFD-E8B4-D5BC-37BA14325BF9}"/>
              </a:ext>
            </a:extLst>
          </p:cNvPr>
          <p:cNvSpPr/>
          <p:nvPr/>
        </p:nvSpPr>
        <p:spPr>
          <a:xfrm>
            <a:off x="977329" y="3682737"/>
            <a:ext cx="1610178" cy="297201"/>
          </a:xfrm>
          <a:prstGeom prst="roundRect">
            <a:avLst/>
          </a:prstGeom>
          <a:solidFill>
            <a:srgbClr val="FFE699"/>
          </a:solidFill>
          <a:ln w="2540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Datamarts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BE792B7D-5CFD-E8B4-D5BC-37BA14325BF9}"/>
              </a:ext>
            </a:extLst>
          </p:cNvPr>
          <p:cNvSpPr/>
          <p:nvPr/>
        </p:nvSpPr>
        <p:spPr>
          <a:xfrm>
            <a:off x="975356" y="4013306"/>
            <a:ext cx="1610178" cy="297201"/>
          </a:xfrm>
          <a:prstGeom prst="roundRect">
            <a:avLst/>
          </a:prstGeom>
          <a:solidFill>
            <a:srgbClr val="FFE69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Warehouse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BE792B7D-5CFD-E8B4-D5BC-37BA14325BF9}"/>
              </a:ext>
            </a:extLst>
          </p:cNvPr>
          <p:cNvSpPr/>
          <p:nvPr/>
        </p:nvSpPr>
        <p:spPr>
          <a:xfrm>
            <a:off x="972706" y="4340062"/>
            <a:ext cx="1610178" cy="297201"/>
          </a:xfrm>
          <a:prstGeom prst="roundRect">
            <a:avLst/>
          </a:prstGeom>
          <a:solidFill>
            <a:srgbClr val="FFE69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Operation Data Store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B8D7F6A-948F-962D-C357-958341AD6CAD}"/>
              </a:ext>
            </a:extLst>
          </p:cNvPr>
          <p:cNvSpPr>
            <a:spLocks/>
          </p:cNvSpPr>
          <p:nvPr/>
        </p:nvSpPr>
        <p:spPr>
          <a:xfrm>
            <a:off x="2853382" y="4203443"/>
            <a:ext cx="1715750" cy="433819"/>
          </a:xfrm>
          <a:prstGeom prst="roundRect">
            <a:avLst/>
          </a:prstGeom>
          <a:solidFill>
            <a:srgbClr val="DD757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Low-Cost Data Storage (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Minio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BB8D7F6A-948F-962D-C357-958341AD6CAD}"/>
              </a:ext>
            </a:extLst>
          </p:cNvPr>
          <p:cNvSpPr>
            <a:spLocks/>
          </p:cNvSpPr>
          <p:nvPr/>
        </p:nvSpPr>
        <p:spPr>
          <a:xfrm>
            <a:off x="2853382" y="3682737"/>
            <a:ext cx="1727470" cy="458274"/>
          </a:xfrm>
          <a:prstGeom prst="roundRect">
            <a:avLst/>
          </a:prstGeom>
          <a:solidFill>
            <a:srgbClr val="DD757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Processing (Spark)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4DD5B7E-D309-4420-837B-6BABF71BBC9E}"/>
              </a:ext>
            </a:extLst>
          </p:cNvPr>
          <p:cNvSpPr txBox="1">
            <a:spLocks/>
          </p:cNvSpPr>
          <p:nvPr/>
        </p:nvSpPr>
        <p:spPr bwMode="gray">
          <a:xfrm>
            <a:off x="820504" y="2438794"/>
            <a:ext cx="3937485" cy="85941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lgDash"/>
          </a:ln>
        </p:spPr>
        <p:txBody>
          <a:bodyPr vert="horz" wrap="square" lIns="80698" tIns="0" rIns="0" bIns="0" rtlCol="0" anchor="t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 DATA ACCESS LAYER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EB865C8-02D5-1172-F7B9-A72E35905809}"/>
              </a:ext>
            </a:extLst>
          </p:cNvPr>
          <p:cNvSpPr>
            <a:spLocks/>
          </p:cNvSpPr>
          <p:nvPr/>
        </p:nvSpPr>
        <p:spPr>
          <a:xfrm>
            <a:off x="909810" y="2577912"/>
            <a:ext cx="3749552" cy="315613"/>
          </a:xfrm>
          <a:prstGeom prst="roundRect">
            <a:avLst/>
          </a:prstGeom>
          <a:solidFill>
            <a:srgbClr val="DD757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Virtualisation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7EB865C8-02D5-1172-F7B9-A72E35905809}"/>
              </a:ext>
            </a:extLst>
          </p:cNvPr>
          <p:cNvSpPr>
            <a:spLocks/>
          </p:cNvSpPr>
          <p:nvPr/>
        </p:nvSpPr>
        <p:spPr>
          <a:xfrm>
            <a:off x="905992" y="2926893"/>
            <a:ext cx="1775940" cy="3030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SQL Data Analysis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7EB865C8-02D5-1172-F7B9-A72E35905809}"/>
              </a:ext>
            </a:extLst>
          </p:cNvPr>
          <p:cNvSpPr>
            <a:spLocks/>
          </p:cNvSpPr>
          <p:nvPr/>
        </p:nvSpPr>
        <p:spPr>
          <a:xfrm>
            <a:off x="2947639" y="2944204"/>
            <a:ext cx="1684112" cy="303055"/>
          </a:xfrm>
          <a:prstGeom prst="roundRect">
            <a:avLst/>
          </a:prstGeom>
          <a:solidFill>
            <a:srgbClr val="DD757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Big Data Access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C9744F40-9383-096F-D8D1-DA61CB98D638}"/>
              </a:ext>
            </a:extLst>
          </p:cNvPr>
          <p:cNvSpPr/>
          <p:nvPr/>
        </p:nvSpPr>
        <p:spPr>
          <a:xfrm>
            <a:off x="182497" y="1665837"/>
            <a:ext cx="236989" cy="4551774"/>
          </a:xfrm>
          <a:prstGeom prst="roundRect">
            <a:avLst>
              <a:gd name="adj" fmla="val 29901"/>
            </a:avLst>
          </a:prstGeom>
          <a:solidFill>
            <a:srgbClr val="FFE69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On-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prem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/ Cloud Infrastructure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980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s://www.qubole.com/wp-content/uploads/2020/12/Dl-vs-DW-infograph-1000x56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272" y="1020979"/>
            <a:ext cx="9938656" cy="559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1515" y="251762"/>
            <a:ext cx="11963400" cy="553998"/>
          </a:xfrm>
        </p:spPr>
        <p:txBody>
          <a:bodyPr/>
          <a:lstStyle/>
          <a:p>
            <a:r>
              <a:rPr lang="en-US" sz="1800" dirty="0" smtClean="0"/>
              <a:t>Data lake provides us a low-cost big data processing and data storage capability, whereas data warehouse still remains important to serve as a refined data store accessible to all bank users </a:t>
            </a:r>
            <a:endParaRPr lang="tr-TR" sz="1800" dirty="0"/>
          </a:p>
        </p:txBody>
      </p:sp>
    </p:spTree>
    <p:extLst>
      <p:ext uri="{BB962C8B-B14F-4D97-AF65-F5344CB8AC3E}">
        <p14:creationId xmlns:p14="http://schemas.microsoft.com/office/powerpoint/2010/main" val="58823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6896224-8C07-3FE5-3E79-336CBB100A9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8"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6896224-8C07-3FE5-3E79-336CBB100A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1CE8F3D-000F-14A0-57BE-45FE3097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701" y="509226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n-US" dirty="0" smtClean="0"/>
              <a:t>Data Lake vs Data Warehouse in detail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25701" y="1277024"/>
            <a:ext cx="11866299" cy="143780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Lake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Lakes are more suitable for storing large volumes of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structured, semi-structured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and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unstructured,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often used in data exploration and advanced analytics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Warehouse: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Warehouses are designed for structured and organized data storage, optimized 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for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querying and reporting for business analysis and decision-making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8394" y="2714832"/>
            <a:ext cx="4800078" cy="32428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3743" y="3482630"/>
            <a:ext cx="6125068" cy="247508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igh-performance Feature generation for AA 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High-performance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Transformation for Self Service Analytics</a:t>
            </a:r>
          </a:p>
          <a:p>
            <a:pPr marL="285750" marR="0" lvl="0" indent="-28575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Maintaining archival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</a:t>
            </a:r>
          </a:p>
          <a:p>
            <a:pPr marL="285750" marR="0" lvl="0" indent="-28575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Storing data in various file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formats including Dataroid data files,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filenet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1209" y="3020880"/>
            <a:ext cx="5487419" cy="9235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Here are the benefits of employing big data technologies.</a:t>
            </a:r>
          </a:p>
        </p:txBody>
      </p:sp>
    </p:spTree>
    <p:extLst>
      <p:ext uri="{BB962C8B-B14F-4D97-AF65-F5344CB8AC3E}">
        <p14:creationId xmlns:p14="http://schemas.microsoft.com/office/powerpoint/2010/main" val="166411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6349" y="421039"/>
            <a:ext cx="7905205" cy="384721"/>
          </a:xfrm>
        </p:spPr>
        <p:txBody>
          <a:bodyPr/>
          <a:lstStyle/>
          <a:p>
            <a:r>
              <a:rPr lang="en-US" dirty="0"/>
              <a:t>Data Governance, Security &amp; Access Control</a:t>
            </a:r>
          </a:p>
        </p:txBody>
      </p:sp>
      <p:sp>
        <p:nvSpPr>
          <p:cNvPr id="2" name="Rectangle 1"/>
          <p:cNvSpPr/>
          <p:nvPr/>
        </p:nvSpPr>
        <p:spPr>
          <a:xfrm>
            <a:off x="1134812" y="1510981"/>
            <a:ext cx="27622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i="1" dirty="0"/>
              <a:t>Data Quality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1194" y="1513632"/>
            <a:ext cx="28264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i="1" dirty="0"/>
              <a:t>Security &amp;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230" y="2554756"/>
            <a:ext cx="485189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Purpose:</a:t>
            </a:r>
            <a:r>
              <a:rPr lang="en-US" sz="1600" dirty="0"/>
              <a:t> Ensure trusted and validated </a:t>
            </a:r>
            <a:r>
              <a:rPr lang="en-US" sz="1600" dirty="0" smtClean="0"/>
              <a:t>data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Rule-based data validation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Automated quality checks at ingestion &amp; transformation stages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Business rule validation (null checks, thresholds, format validation, reconciliations)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Quality scoring &amp;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Alerting on rule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4960" y="2554756"/>
            <a:ext cx="535888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Purpose: </a:t>
            </a:r>
            <a:r>
              <a:rPr lang="en-US" sz="1600" dirty="0"/>
              <a:t>Centralized policy enforcement &amp; fine-grained access </a:t>
            </a:r>
            <a:r>
              <a:rPr lang="en-US" sz="1600" dirty="0" smtClean="0"/>
              <a:t>control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Role-based access control (RBAC)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Fine-grained table / column-level permissions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Policy-driven authorization</a:t>
            </a:r>
          </a:p>
        </p:txBody>
      </p:sp>
    </p:spTree>
    <p:extLst>
      <p:ext uri="{BB962C8B-B14F-4D97-AF65-F5344CB8AC3E}">
        <p14:creationId xmlns:p14="http://schemas.microsoft.com/office/powerpoint/2010/main" val="124096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>
            <a:extLst>
              <a:ext uri="{FF2B5EF4-FFF2-40B4-BE49-F238E27FC236}">
                <a16:creationId xmlns:a16="http://schemas.microsoft.com/office/drawing/2014/main" id="{B4DD5B7E-D309-4420-837B-6BABF71BBC9E}"/>
              </a:ext>
            </a:extLst>
          </p:cNvPr>
          <p:cNvSpPr txBox="1">
            <a:spLocks/>
          </p:cNvSpPr>
          <p:nvPr/>
        </p:nvSpPr>
        <p:spPr bwMode="gray">
          <a:xfrm>
            <a:off x="826692" y="3373322"/>
            <a:ext cx="3940818" cy="13686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lgDash"/>
          </a:ln>
        </p:spPr>
        <p:txBody>
          <a:bodyPr vert="horz" wrap="square" lIns="80698" tIns="0" rIns="0" bIns="0" rtlCol="0" anchor="t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 DATA LAKE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4DD5B7E-D309-4420-837B-6BABF71BBC9E}"/>
              </a:ext>
            </a:extLst>
          </p:cNvPr>
          <p:cNvSpPr txBox="1">
            <a:spLocks/>
          </p:cNvSpPr>
          <p:nvPr/>
        </p:nvSpPr>
        <p:spPr bwMode="gray">
          <a:xfrm>
            <a:off x="842277" y="4838845"/>
            <a:ext cx="4836159" cy="63414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lgDash"/>
          </a:ln>
        </p:spPr>
        <p:txBody>
          <a:bodyPr vert="horz" wrap="square" lIns="80698" tIns="0" rIns="0" bIns="0" rtlCol="0" anchor="t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 DATA INTEGRATION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6896224-8C07-3FE5-3E79-336CBB100A9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5"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6896224-8C07-3FE5-3E79-336CBB100A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1CE8F3D-000F-14A0-57BE-45FE3097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079" y="201249"/>
            <a:ext cx="11354235" cy="61555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2000" dirty="0"/>
              <a:t>We created ABB AI Factory to unify the missing components, and initiated Self Service BI to close the gaps.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BABB8AF-98C8-4203-8E99-B330EDACC4A0}"/>
              </a:ext>
            </a:extLst>
          </p:cNvPr>
          <p:cNvGrpSpPr/>
          <p:nvPr/>
        </p:nvGrpSpPr>
        <p:grpSpPr>
          <a:xfrm>
            <a:off x="5927197" y="3557113"/>
            <a:ext cx="5710066" cy="1546577"/>
            <a:chOff x="5927197" y="3473663"/>
            <a:chExt cx="5710066" cy="154657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13C9D6A-5487-0F4E-4D76-673929ACE468}"/>
                </a:ext>
              </a:extLst>
            </p:cNvPr>
            <p:cNvSpPr txBox="1">
              <a:spLocks/>
            </p:cNvSpPr>
            <p:nvPr/>
          </p:nvSpPr>
          <p:spPr>
            <a:xfrm>
              <a:off x="5927197" y="3473663"/>
              <a:ext cx="1245128" cy="64633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1F61AE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Data Storage</a:t>
              </a:r>
              <a:b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</a:b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(cost, volume &amp; flexibility)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5E9D8AD-495E-633D-05DB-E323F8EBF7C8}"/>
                </a:ext>
              </a:extLst>
            </p:cNvPr>
            <p:cNvSpPr txBox="1">
              <a:spLocks/>
            </p:cNvSpPr>
            <p:nvPr/>
          </p:nvSpPr>
          <p:spPr>
            <a:xfrm>
              <a:off x="7343775" y="3473663"/>
              <a:ext cx="4293488" cy="154657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182880" marR="0" lvl="1" indent="-18288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tabLst/>
                <a:defRPr/>
              </a:pP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Potential for </a:t>
              </a: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cost optimization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of storage by offloading some data storage &amp; processing to Data Lake</a:t>
              </a:r>
            </a:p>
            <a:p>
              <a:pPr marL="182880" marR="0" lvl="1" indent="-18288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Data Lake is required to store unstructured data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(full EDV data, </a:t>
              </a:r>
              <a:r>
                <a:rPr kumimoji="0" lang="en-IN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audio/video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logs, geodata) for analysis and store </a:t>
              </a: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massive amounts of data cheaply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603B6F6-DBD0-4565-8539-3A7461746212}"/>
              </a:ext>
            </a:extLst>
          </p:cNvPr>
          <p:cNvGrpSpPr/>
          <p:nvPr/>
        </p:nvGrpSpPr>
        <p:grpSpPr>
          <a:xfrm>
            <a:off x="5927197" y="2726828"/>
            <a:ext cx="5710066" cy="646331"/>
            <a:chOff x="5927197" y="2583786"/>
            <a:chExt cx="5710066" cy="6463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2A45E3A-DFEA-BC06-429F-31A1B6404217}"/>
                </a:ext>
              </a:extLst>
            </p:cNvPr>
            <p:cNvSpPr txBox="1">
              <a:spLocks/>
            </p:cNvSpPr>
            <p:nvPr/>
          </p:nvSpPr>
          <p:spPr>
            <a:xfrm>
              <a:off x="5927197" y="2583786"/>
              <a:ext cx="1245128" cy="64633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1F61AE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Data Analysis</a:t>
              </a:r>
              <a:b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</a:b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(speed &amp; capabilities)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6427879-4B8F-F152-327A-2BE1F1558C92}"/>
                </a:ext>
              </a:extLst>
            </p:cNvPr>
            <p:cNvSpPr txBox="1">
              <a:spLocks/>
            </p:cNvSpPr>
            <p:nvPr/>
          </p:nvSpPr>
          <p:spPr>
            <a:xfrm>
              <a:off x="7343775" y="2583786"/>
              <a:ext cx="4293488" cy="64633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182880" marR="0" lvl="1" indent="-18288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Classic tools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used now are </a:t>
              </a: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not effective for complex analytics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, while </a:t>
              </a: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Big Data tools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can provide </a:t>
              </a: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better performance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E7E14D4-5747-45DC-8BF4-4FCFFD328897}"/>
              </a:ext>
            </a:extLst>
          </p:cNvPr>
          <p:cNvGrpSpPr/>
          <p:nvPr/>
        </p:nvGrpSpPr>
        <p:grpSpPr>
          <a:xfrm>
            <a:off x="5927197" y="1427184"/>
            <a:ext cx="5710066" cy="1115690"/>
            <a:chOff x="5927197" y="1427184"/>
            <a:chExt cx="5710066" cy="111569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3BA9F51-C025-CEEA-FFC8-0A67AF2CD960}"/>
                </a:ext>
              </a:extLst>
            </p:cNvPr>
            <p:cNvSpPr txBox="1">
              <a:spLocks/>
            </p:cNvSpPr>
            <p:nvPr/>
          </p:nvSpPr>
          <p:spPr>
            <a:xfrm>
              <a:off x="5927197" y="1427184"/>
              <a:ext cx="1245128" cy="86177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1F61AE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Applications</a:t>
              </a:r>
              <a:b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</a:b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(business features &amp; time-to-market)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1BA3AE7-2123-8AF0-3463-77E07F7670A7}"/>
                </a:ext>
              </a:extLst>
            </p:cNvPr>
            <p:cNvSpPr txBox="1">
              <a:spLocks/>
            </p:cNvSpPr>
            <p:nvPr/>
          </p:nvSpPr>
          <p:spPr>
            <a:xfrm>
              <a:off x="7343775" y="1427184"/>
              <a:ext cx="4293488" cy="111569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182880" marR="0" lvl="1" indent="-18288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Time-to-report can take weeks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while self service reporting can provide 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interactive report generation</a:t>
              </a:r>
            </a:p>
            <a:p>
              <a:pPr marL="182880" marR="0" lvl="1" indent="-18288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Real-time analysis and data driven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apps do not have required infrastructure for effective work</a:t>
              </a:r>
            </a:p>
          </p:txBody>
        </p: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88E8581-771D-4080-45F7-BC0787A9685C}"/>
              </a:ext>
            </a:extLst>
          </p:cNvPr>
          <p:cNvCxnSpPr>
            <a:cxnSpLocks/>
          </p:cNvCxnSpPr>
          <p:nvPr/>
        </p:nvCxnSpPr>
        <p:spPr>
          <a:xfrm>
            <a:off x="5750059" y="3510179"/>
            <a:ext cx="0" cy="887885"/>
          </a:xfrm>
          <a:prstGeom prst="line">
            <a:avLst/>
          </a:prstGeom>
          <a:ln w="381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9B982AC-1CC4-5762-6F12-A7A4EA69840D}"/>
              </a:ext>
            </a:extLst>
          </p:cNvPr>
          <p:cNvCxnSpPr>
            <a:cxnSpLocks/>
          </p:cNvCxnSpPr>
          <p:nvPr/>
        </p:nvCxnSpPr>
        <p:spPr>
          <a:xfrm>
            <a:off x="5750059" y="2592382"/>
            <a:ext cx="0" cy="607257"/>
          </a:xfrm>
          <a:prstGeom prst="line">
            <a:avLst/>
          </a:prstGeom>
          <a:ln w="381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D799543-CBC1-828E-CE54-DF14BCD06901}"/>
              </a:ext>
            </a:extLst>
          </p:cNvPr>
          <p:cNvCxnSpPr>
            <a:cxnSpLocks/>
          </p:cNvCxnSpPr>
          <p:nvPr/>
        </p:nvCxnSpPr>
        <p:spPr>
          <a:xfrm>
            <a:off x="5750059" y="1674585"/>
            <a:ext cx="0" cy="607257"/>
          </a:xfrm>
          <a:prstGeom prst="line">
            <a:avLst/>
          </a:prstGeom>
          <a:ln w="381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7CE5159-00DF-E7D1-BD4E-263942944D7D}"/>
              </a:ext>
            </a:extLst>
          </p:cNvPr>
          <p:cNvCxnSpPr>
            <a:cxnSpLocks/>
          </p:cNvCxnSpPr>
          <p:nvPr/>
        </p:nvCxnSpPr>
        <p:spPr>
          <a:xfrm>
            <a:off x="5750059" y="4715652"/>
            <a:ext cx="0" cy="1517068"/>
          </a:xfrm>
          <a:prstGeom prst="line">
            <a:avLst/>
          </a:prstGeom>
          <a:ln w="381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AF5FC3A-861B-4808-988E-9A8FE3498A6A}"/>
              </a:ext>
            </a:extLst>
          </p:cNvPr>
          <p:cNvGrpSpPr/>
          <p:nvPr/>
        </p:nvGrpSpPr>
        <p:grpSpPr>
          <a:xfrm>
            <a:off x="5927197" y="5287641"/>
            <a:ext cx="5710066" cy="938719"/>
            <a:chOff x="5927197" y="5072198"/>
            <a:chExt cx="5710066" cy="938719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36148D2-61C6-52E4-B31F-F27CDF919B7E}"/>
                </a:ext>
              </a:extLst>
            </p:cNvPr>
            <p:cNvSpPr txBox="1">
              <a:spLocks/>
            </p:cNvSpPr>
            <p:nvPr/>
          </p:nvSpPr>
          <p:spPr>
            <a:xfrm>
              <a:off x="7343775" y="5072198"/>
              <a:ext cx="4293488" cy="93871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182880" marR="0" lvl="1" indent="-18288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tabLst/>
                <a:defRPr/>
              </a:pP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Reports based on </a:t>
              </a: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previous day data only</a:t>
              </a:r>
            </a:p>
            <a:p>
              <a:pPr marL="182880" marR="0" lvl="1" indent="-18288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Integrate additional source data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(full EDV data, </a:t>
              </a:r>
              <a:r>
                <a:rPr kumimoji="0" lang="en-I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gelocation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etc)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7C62682-624A-C5CB-D401-09F03C2458A1}"/>
                </a:ext>
              </a:extLst>
            </p:cNvPr>
            <p:cNvSpPr txBox="1">
              <a:spLocks/>
            </p:cNvSpPr>
            <p:nvPr/>
          </p:nvSpPr>
          <p:spPr>
            <a:xfrm>
              <a:off x="5927197" y="5072198"/>
              <a:ext cx="1245128" cy="86177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1F61AE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Data Availability</a:t>
              </a:r>
              <a:b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</a:b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(delay &amp; coverage)</a:t>
              </a:r>
            </a:p>
          </p:txBody>
        </p:sp>
      </p:grp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043FE15-BC78-B169-3BD2-4293F1BB1F26}"/>
              </a:ext>
            </a:extLst>
          </p:cNvPr>
          <p:cNvCxnSpPr>
            <a:cxnSpLocks/>
          </p:cNvCxnSpPr>
          <p:nvPr/>
        </p:nvCxnSpPr>
        <p:spPr>
          <a:xfrm>
            <a:off x="5927197" y="1356878"/>
            <a:ext cx="5710066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99729EB5-D19C-456D-4451-3FBF628033D2}"/>
              </a:ext>
            </a:extLst>
          </p:cNvPr>
          <p:cNvSpPr txBox="1">
            <a:spLocks/>
          </p:cNvSpPr>
          <p:nvPr/>
        </p:nvSpPr>
        <p:spPr>
          <a:xfrm>
            <a:off x="7343775" y="1103334"/>
            <a:ext cx="4293488" cy="215444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Key Gaps and Improvement Opportunities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1199D8-76B0-67A3-899A-618AA38717A2}"/>
              </a:ext>
            </a:extLst>
          </p:cNvPr>
          <p:cNvSpPr txBox="1">
            <a:spLocks/>
          </p:cNvSpPr>
          <p:nvPr/>
        </p:nvSpPr>
        <p:spPr>
          <a:xfrm>
            <a:off x="5927197" y="1103334"/>
            <a:ext cx="1245128" cy="215444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Area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787506B-56F7-DD65-7EBC-5AA377844AD0}"/>
              </a:ext>
            </a:extLst>
          </p:cNvPr>
          <p:cNvGrpSpPr/>
          <p:nvPr/>
        </p:nvGrpSpPr>
        <p:grpSpPr>
          <a:xfrm>
            <a:off x="1384079" y="1426353"/>
            <a:ext cx="519383" cy="184666"/>
            <a:chOff x="1088773" y="1426353"/>
            <a:chExt cx="519383" cy="184666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DD5654C-932C-DCC9-2BFE-520989123BC4}"/>
                </a:ext>
              </a:extLst>
            </p:cNvPr>
            <p:cNvSpPr/>
            <p:nvPr/>
          </p:nvSpPr>
          <p:spPr>
            <a:xfrm>
              <a:off x="1088773" y="1436136"/>
              <a:ext cx="165100" cy="165100"/>
            </a:xfrm>
            <a:prstGeom prst="rect">
              <a:avLst/>
            </a:prstGeom>
            <a:solidFill>
              <a:srgbClr val="DD757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C23192E-0D2B-33EF-6268-4D20FFDF8512}"/>
                </a:ext>
              </a:extLst>
            </p:cNvPr>
            <p:cNvSpPr txBox="1"/>
            <p:nvPr/>
          </p:nvSpPr>
          <p:spPr>
            <a:xfrm>
              <a:off x="1340454" y="1426353"/>
              <a:ext cx="267702" cy="184666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1F61AE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Gap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0AC988E-0424-F8A0-7615-E1930740F1CC}"/>
              </a:ext>
            </a:extLst>
          </p:cNvPr>
          <p:cNvGrpSpPr/>
          <p:nvPr/>
        </p:nvGrpSpPr>
        <p:grpSpPr>
          <a:xfrm>
            <a:off x="2003061" y="1426353"/>
            <a:ext cx="1995748" cy="184666"/>
            <a:chOff x="1849392" y="1426353"/>
            <a:chExt cx="1995748" cy="18466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D2097AA-2852-52D1-FD4E-FB425D50622C}"/>
                </a:ext>
              </a:extLst>
            </p:cNvPr>
            <p:cNvSpPr/>
            <p:nvPr/>
          </p:nvSpPr>
          <p:spPr>
            <a:xfrm>
              <a:off x="1849392" y="1436136"/>
              <a:ext cx="165100" cy="165100"/>
            </a:xfrm>
            <a:prstGeom prst="rect">
              <a:avLst/>
            </a:prstGeom>
            <a:solidFill>
              <a:srgbClr val="FFE699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BC77316-439F-1E05-21EF-2B1DC0271BCE}"/>
                </a:ext>
              </a:extLst>
            </p:cNvPr>
            <p:cNvSpPr txBox="1"/>
            <p:nvPr/>
          </p:nvSpPr>
          <p:spPr>
            <a:xfrm>
              <a:off x="2101073" y="1426353"/>
              <a:ext cx="1744067" cy="184666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1F61AE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Improvement opportunity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9C35AA6-9247-E868-E8E5-6FB80446DFBB}"/>
              </a:ext>
            </a:extLst>
          </p:cNvPr>
          <p:cNvGrpSpPr/>
          <p:nvPr/>
        </p:nvGrpSpPr>
        <p:grpSpPr>
          <a:xfrm>
            <a:off x="4098409" y="1426353"/>
            <a:ext cx="1554922" cy="184666"/>
            <a:chOff x="4098409" y="1426353"/>
            <a:chExt cx="1554922" cy="184666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6A21DF5-F677-49CF-0AF6-0E1024AC6BD9}"/>
                </a:ext>
              </a:extLst>
            </p:cNvPr>
            <p:cNvSpPr/>
            <p:nvPr/>
          </p:nvSpPr>
          <p:spPr>
            <a:xfrm>
              <a:off x="4098409" y="1436136"/>
              <a:ext cx="165100" cy="1651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CED5167-D4FA-7F89-A215-09EFC8ED24D0}"/>
                </a:ext>
              </a:extLst>
            </p:cNvPr>
            <p:cNvSpPr txBox="1"/>
            <p:nvPr/>
          </p:nvSpPr>
          <p:spPr>
            <a:xfrm>
              <a:off x="4350089" y="1426353"/>
              <a:ext cx="1303242" cy="184666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1F61AE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F61AE"/>
                  </a:solidFill>
                  <a:effectLst/>
                  <a:uLnTx/>
                  <a:uFillTx/>
                  <a:latin typeface="Tahoma"/>
                  <a:ea typeface="+mn-ea"/>
                  <a:cs typeface="Arial" panose="020B0604020202020204" pitchFamily="34" charset="0"/>
                </a:rPr>
                <a:t>Meets expectations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D5227A86-9353-8619-90F2-DEDE5E3F8B46}"/>
              </a:ext>
            </a:extLst>
          </p:cNvPr>
          <p:cNvSpPr txBox="1">
            <a:spLocks/>
          </p:cNvSpPr>
          <p:nvPr/>
        </p:nvSpPr>
        <p:spPr>
          <a:xfrm>
            <a:off x="554736" y="1103334"/>
            <a:ext cx="5098595" cy="215444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Data Analytics Landscape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3F8D7CF-562E-C8AA-8954-1875282E52B4}"/>
              </a:ext>
            </a:extLst>
          </p:cNvPr>
          <p:cNvCxnSpPr>
            <a:cxnSpLocks/>
          </p:cNvCxnSpPr>
          <p:nvPr/>
        </p:nvCxnSpPr>
        <p:spPr>
          <a:xfrm>
            <a:off x="554736" y="1348914"/>
            <a:ext cx="5098595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29E857A-F171-A3DA-1A6E-8E725920E2B3}"/>
              </a:ext>
            </a:extLst>
          </p:cNvPr>
          <p:cNvSpPr/>
          <p:nvPr/>
        </p:nvSpPr>
        <p:spPr>
          <a:xfrm>
            <a:off x="4802096" y="2448174"/>
            <a:ext cx="851235" cy="2293758"/>
          </a:xfrm>
          <a:prstGeom prst="roundRect">
            <a:avLst>
              <a:gd name="adj" fmla="val 9455"/>
            </a:avLst>
          </a:prstGeom>
          <a:solidFill>
            <a:srgbClr val="649FE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Real Time </a:t>
            </a: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Processing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8E6D44-5742-D430-50FB-784085B9E584}"/>
              </a:ext>
            </a:extLst>
          </p:cNvPr>
          <p:cNvSpPr/>
          <p:nvPr/>
        </p:nvSpPr>
        <p:spPr>
          <a:xfrm>
            <a:off x="919220" y="5002980"/>
            <a:ext cx="2149760" cy="3950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Offline Data Integration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D565486-3E0C-2D61-CFBD-EB48299ECF16}"/>
              </a:ext>
            </a:extLst>
          </p:cNvPr>
          <p:cNvSpPr>
            <a:spLocks/>
          </p:cNvSpPr>
          <p:nvPr/>
        </p:nvSpPr>
        <p:spPr>
          <a:xfrm>
            <a:off x="852296" y="5539354"/>
            <a:ext cx="4801034" cy="678257"/>
          </a:xfrm>
          <a:prstGeom prst="roundRect">
            <a:avLst/>
          </a:prstGeom>
          <a:solidFill>
            <a:srgbClr val="FFE699"/>
          </a:solidFill>
          <a:ln w="2540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Sources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1740903-7CD4-1A74-827D-9BD6761A2C37}"/>
              </a:ext>
            </a:extLst>
          </p:cNvPr>
          <p:cNvSpPr/>
          <p:nvPr/>
        </p:nvSpPr>
        <p:spPr>
          <a:xfrm>
            <a:off x="3100408" y="5008882"/>
            <a:ext cx="2469640" cy="389184"/>
          </a:xfrm>
          <a:prstGeom prst="roundRect">
            <a:avLst/>
          </a:prstGeom>
          <a:solidFill>
            <a:srgbClr val="649FE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100" dirty="0">
                <a:solidFill>
                  <a:srgbClr val="FFFFFF"/>
                </a:solidFill>
                <a:latin typeface="Tahoma"/>
              </a:rPr>
              <a:t>Real Time Data Integration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CD889F6-8725-B5A4-B2D5-6E78A545D42C}"/>
              </a:ext>
            </a:extLst>
          </p:cNvPr>
          <p:cNvSpPr/>
          <p:nvPr/>
        </p:nvSpPr>
        <p:spPr>
          <a:xfrm>
            <a:off x="1209739" y="2609909"/>
            <a:ext cx="1916844" cy="6072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SQL Analysis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19F3E0D-B3DF-AD97-5AA2-016D1BA6BE89}"/>
              </a:ext>
            </a:extLst>
          </p:cNvPr>
          <p:cNvSpPr>
            <a:spLocks/>
          </p:cNvSpPr>
          <p:nvPr/>
        </p:nvSpPr>
        <p:spPr>
          <a:xfrm>
            <a:off x="1782199" y="1659286"/>
            <a:ext cx="899733" cy="6072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Reporting Tools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C3D4149-C9D5-66A1-DAE2-B51EAD525CB8}"/>
              </a:ext>
            </a:extLst>
          </p:cNvPr>
          <p:cNvSpPr>
            <a:spLocks/>
          </p:cNvSpPr>
          <p:nvPr/>
        </p:nvSpPr>
        <p:spPr>
          <a:xfrm>
            <a:off x="2737875" y="1665837"/>
            <a:ext cx="919846" cy="607257"/>
          </a:xfrm>
          <a:prstGeom prst="roundRect">
            <a:avLst/>
          </a:prstGeom>
          <a:solidFill>
            <a:srgbClr val="649FE3"/>
          </a:solidFill>
          <a:ln w="2540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Self Service Reporting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9101E32-D481-914C-90AE-4553ABE6B112}"/>
              </a:ext>
            </a:extLst>
          </p:cNvPr>
          <p:cNvSpPr>
            <a:spLocks/>
          </p:cNvSpPr>
          <p:nvPr/>
        </p:nvSpPr>
        <p:spPr>
          <a:xfrm>
            <a:off x="3740727" y="1665837"/>
            <a:ext cx="918635" cy="607257"/>
          </a:xfrm>
          <a:prstGeom prst="roundRect">
            <a:avLst/>
          </a:prstGeom>
          <a:solidFill>
            <a:srgbClr val="649FE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Analytical Use Cases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F3E012C-695D-3B71-E9B6-2603A3D0822B}"/>
              </a:ext>
            </a:extLst>
          </p:cNvPr>
          <p:cNvSpPr>
            <a:spLocks/>
          </p:cNvSpPr>
          <p:nvPr/>
        </p:nvSpPr>
        <p:spPr>
          <a:xfrm>
            <a:off x="4736890" y="1674585"/>
            <a:ext cx="916441" cy="607257"/>
          </a:xfrm>
          <a:prstGeom prst="roundRect">
            <a:avLst/>
          </a:prstGeom>
          <a:solidFill>
            <a:srgbClr val="649FE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</a:pPr>
            <a:r>
              <a:rPr lang="en-US" sz="1200" dirty="0">
                <a:solidFill>
                  <a:srgbClr val="FFFFFF"/>
                </a:solidFill>
                <a:latin typeface="Tahoma"/>
              </a:rPr>
              <a:t>Real Time Use Cases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4423DF9-F543-AD5A-C8CD-2EE72B917418}"/>
              </a:ext>
            </a:extLst>
          </p:cNvPr>
          <p:cNvSpPr>
            <a:spLocks/>
          </p:cNvSpPr>
          <p:nvPr/>
        </p:nvSpPr>
        <p:spPr>
          <a:xfrm>
            <a:off x="852296" y="1674585"/>
            <a:ext cx="873959" cy="607257"/>
          </a:xfrm>
          <a:prstGeom prst="roundRect">
            <a:avLst/>
          </a:prstGeom>
          <a:solidFill>
            <a:srgbClr val="649FE3"/>
          </a:solidFill>
          <a:ln w="2540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MLOps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9744F40-9383-096F-D8D1-DA61CB98D638}"/>
              </a:ext>
            </a:extLst>
          </p:cNvPr>
          <p:cNvSpPr/>
          <p:nvPr/>
        </p:nvSpPr>
        <p:spPr>
          <a:xfrm>
            <a:off x="499337" y="1674586"/>
            <a:ext cx="271317" cy="4551774"/>
          </a:xfrm>
          <a:prstGeom prst="roundRect">
            <a:avLst>
              <a:gd name="adj" fmla="val 29901"/>
            </a:avLst>
          </a:prstGeom>
          <a:solidFill>
            <a:schemeClr val="tx1">
              <a:lumMod val="60000"/>
              <a:lumOff val="40000"/>
            </a:schemeClr>
          </a:solidFill>
          <a:ln w="2540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Governance Tools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C2564C0-5369-AD53-8BBF-A136637A6E79}"/>
              </a:ext>
            </a:extLst>
          </p:cNvPr>
          <p:cNvCxnSpPr>
            <a:cxnSpLocks/>
          </p:cNvCxnSpPr>
          <p:nvPr/>
        </p:nvCxnSpPr>
        <p:spPr>
          <a:xfrm>
            <a:off x="852297" y="2321339"/>
            <a:ext cx="4801034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2EE7ABF-E129-40FB-8139-CDAB4D2717E7}"/>
              </a:ext>
            </a:extLst>
          </p:cNvPr>
          <p:cNvCxnSpPr>
            <a:cxnSpLocks/>
          </p:cNvCxnSpPr>
          <p:nvPr/>
        </p:nvCxnSpPr>
        <p:spPr>
          <a:xfrm>
            <a:off x="5927197" y="2634851"/>
            <a:ext cx="5710066" cy="0"/>
          </a:xfrm>
          <a:prstGeom prst="line">
            <a:avLst/>
          </a:prstGeom>
          <a:ln w="12700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54A666E-0187-4EEF-A630-C544B0347F3B}"/>
              </a:ext>
            </a:extLst>
          </p:cNvPr>
          <p:cNvCxnSpPr>
            <a:cxnSpLocks/>
          </p:cNvCxnSpPr>
          <p:nvPr/>
        </p:nvCxnSpPr>
        <p:spPr>
          <a:xfrm>
            <a:off x="5927197" y="3465136"/>
            <a:ext cx="5710066" cy="0"/>
          </a:xfrm>
          <a:prstGeom prst="line">
            <a:avLst/>
          </a:prstGeom>
          <a:ln w="12700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DE6C064-598E-4441-921C-1F572B322DD9}"/>
              </a:ext>
            </a:extLst>
          </p:cNvPr>
          <p:cNvCxnSpPr>
            <a:cxnSpLocks/>
          </p:cNvCxnSpPr>
          <p:nvPr/>
        </p:nvCxnSpPr>
        <p:spPr>
          <a:xfrm>
            <a:off x="5927197" y="5195667"/>
            <a:ext cx="5710066" cy="0"/>
          </a:xfrm>
          <a:prstGeom prst="line">
            <a:avLst/>
          </a:prstGeom>
          <a:ln w="12700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0B51298-5BB9-45AC-A7C0-F98B572B194B}"/>
              </a:ext>
            </a:extLst>
          </p:cNvPr>
          <p:cNvCxnSpPr>
            <a:cxnSpLocks/>
          </p:cNvCxnSpPr>
          <p:nvPr/>
        </p:nvCxnSpPr>
        <p:spPr>
          <a:xfrm>
            <a:off x="5750059" y="2281842"/>
            <a:ext cx="177138" cy="353009"/>
          </a:xfrm>
          <a:prstGeom prst="line">
            <a:avLst/>
          </a:prstGeom>
          <a:ln w="12700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DB44C1E-6071-47BF-8101-633F2C2E942F}"/>
              </a:ext>
            </a:extLst>
          </p:cNvPr>
          <p:cNvCxnSpPr>
            <a:cxnSpLocks/>
          </p:cNvCxnSpPr>
          <p:nvPr/>
        </p:nvCxnSpPr>
        <p:spPr>
          <a:xfrm>
            <a:off x="5750059" y="3201004"/>
            <a:ext cx="177138" cy="264132"/>
          </a:xfrm>
          <a:prstGeom prst="line">
            <a:avLst/>
          </a:prstGeom>
          <a:ln w="12700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9EB52F1-FC3F-4F11-8279-4D251CA85B49}"/>
              </a:ext>
            </a:extLst>
          </p:cNvPr>
          <p:cNvCxnSpPr>
            <a:cxnSpLocks/>
          </p:cNvCxnSpPr>
          <p:nvPr/>
        </p:nvCxnSpPr>
        <p:spPr>
          <a:xfrm>
            <a:off x="5750059" y="4394010"/>
            <a:ext cx="181635" cy="799496"/>
          </a:xfrm>
          <a:prstGeom prst="line">
            <a:avLst/>
          </a:prstGeom>
          <a:ln w="12700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C13F1C2-62DE-4EB2-A7C1-3AF7BA0D0509}"/>
              </a:ext>
            </a:extLst>
          </p:cNvPr>
          <p:cNvCxnSpPr>
            <a:cxnSpLocks/>
          </p:cNvCxnSpPr>
          <p:nvPr/>
        </p:nvCxnSpPr>
        <p:spPr>
          <a:xfrm>
            <a:off x="5743575" y="6232720"/>
            <a:ext cx="5893688" cy="0"/>
          </a:xfrm>
          <a:prstGeom prst="line">
            <a:avLst/>
          </a:prstGeom>
          <a:ln w="12700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B4DD5B7E-D309-4420-837B-6BABF71BBC9E}"/>
              </a:ext>
            </a:extLst>
          </p:cNvPr>
          <p:cNvSpPr txBox="1">
            <a:spLocks/>
          </p:cNvSpPr>
          <p:nvPr/>
        </p:nvSpPr>
        <p:spPr bwMode="gray">
          <a:xfrm>
            <a:off x="878958" y="3523852"/>
            <a:ext cx="1802974" cy="114296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lgDash"/>
          </a:ln>
        </p:spPr>
        <p:txBody>
          <a:bodyPr vert="horz" wrap="square" lIns="80698" tIns="0" rIns="0" bIns="0" rtlCol="0" anchor="t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 STRUCTURAL DATA LAYER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4DD5B7E-D309-4420-837B-6BABF71BBC9E}"/>
              </a:ext>
            </a:extLst>
          </p:cNvPr>
          <p:cNvSpPr txBox="1">
            <a:spLocks/>
          </p:cNvSpPr>
          <p:nvPr/>
        </p:nvSpPr>
        <p:spPr bwMode="gray">
          <a:xfrm>
            <a:off x="2769141" y="3523850"/>
            <a:ext cx="1883441" cy="114296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lgDash"/>
          </a:ln>
        </p:spPr>
        <p:txBody>
          <a:bodyPr vert="horz" wrap="square" lIns="80698" tIns="0" rIns="0" bIns="0" rtlCol="0" anchor="t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 UNSTRUCTURAL DATA LAYER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E792B7D-5CFD-E8B4-D5BC-37BA14325BF9}"/>
              </a:ext>
            </a:extLst>
          </p:cNvPr>
          <p:cNvSpPr/>
          <p:nvPr/>
        </p:nvSpPr>
        <p:spPr>
          <a:xfrm>
            <a:off x="977329" y="3682737"/>
            <a:ext cx="1610178" cy="297201"/>
          </a:xfrm>
          <a:prstGeom prst="roundRect">
            <a:avLst/>
          </a:prstGeom>
          <a:solidFill>
            <a:srgbClr val="649FE3"/>
          </a:solidFill>
          <a:ln w="2540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</a:pPr>
            <a:r>
              <a:rPr lang="en-US" sz="1200" dirty="0" err="1">
                <a:solidFill>
                  <a:srgbClr val="FFFFFF"/>
                </a:solidFill>
                <a:latin typeface="Tahoma"/>
              </a:rPr>
              <a:t>Datamarts</a:t>
            </a:r>
            <a:endParaRPr lang="en-US" sz="1200" dirty="0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BE792B7D-5CFD-E8B4-D5BC-37BA14325BF9}"/>
              </a:ext>
            </a:extLst>
          </p:cNvPr>
          <p:cNvSpPr/>
          <p:nvPr/>
        </p:nvSpPr>
        <p:spPr>
          <a:xfrm>
            <a:off x="975356" y="4013306"/>
            <a:ext cx="1610178" cy="2972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rgbClr val="FFFFFF"/>
                </a:solidFill>
                <a:latin typeface="Tahoma"/>
              </a:rPr>
              <a:t>Data Warehouse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BE792B7D-5CFD-E8B4-D5BC-37BA14325BF9}"/>
              </a:ext>
            </a:extLst>
          </p:cNvPr>
          <p:cNvSpPr/>
          <p:nvPr/>
        </p:nvSpPr>
        <p:spPr>
          <a:xfrm>
            <a:off x="972706" y="4340062"/>
            <a:ext cx="1610178" cy="2972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rgbClr val="FFFFFF"/>
                </a:solidFill>
                <a:latin typeface="Tahoma"/>
              </a:rPr>
              <a:t>Operation Data Store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B8D7F6A-948F-962D-C357-958341AD6CAD}"/>
              </a:ext>
            </a:extLst>
          </p:cNvPr>
          <p:cNvSpPr>
            <a:spLocks/>
          </p:cNvSpPr>
          <p:nvPr/>
        </p:nvSpPr>
        <p:spPr>
          <a:xfrm>
            <a:off x="2853382" y="4203443"/>
            <a:ext cx="1715750" cy="433819"/>
          </a:xfrm>
          <a:prstGeom prst="roundRect">
            <a:avLst/>
          </a:prstGeom>
          <a:solidFill>
            <a:srgbClr val="649FE3"/>
          </a:solidFill>
          <a:ln w="2540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Low-Cost Data Storage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Minio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BB8D7F6A-948F-962D-C357-958341AD6CAD}"/>
              </a:ext>
            </a:extLst>
          </p:cNvPr>
          <p:cNvSpPr>
            <a:spLocks/>
          </p:cNvSpPr>
          <p:nvPr/>
        </p:nvSpPr>
        <p:spPr>
          <a:xfrm>
            <a:off x="2853382" y="3682737"/>
            <a:ext cx="1727470" cy="458274"/>
          </a:xfrm>
          <a:prstGeom prst="roundRect">
            <a:avLst/>
          </a:prstGeom>
          <a:solidFill>
            <a:srgbClr val="649FE3"/>
          </a:solidFill>
          <a:ln w="2540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F61AE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Processing (Spark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4DD5B7E-D309-4420-837B-6BABF71BBC9E}"/>
              </a:ext>
            </a:extLst>
          </p:cNvPr>
          <p:cNvSpPr txBox="1">
            <a:spLocks/>
          </p:cNvSpPr>
          <p:nvPr/>
        </p:nvSpPr>
        <p:spPr bwMode="gray">
          <a:xfrm>
            <a:off x="820504" y="2438794"/>
            <a:ext cx="3937485" cy="85941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lgDash"/>
          </a:ln>
        </p:spPr>
        <p:txBody>
          <a:bodyPr vert="horz" wrap="square" lIns="80698" tIns="0" rIns="0" bIns="0" rtlCol="0" anchor="t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Arial" panose="020B0604020202020204" pitchFamily="34" charset="0"/>
              </a:rPr>
              <a:t> DATA ACCESS LAYER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EB865C8-02D5-1172-F7B9-A72E35905809}"/>
              </a:ext>
            </a:extLst>
          </p:cNvPr>
          <p:cNvSpPr>
            <a:spLocks/>
          </p:cNvSpPr>
          <p:nvPr/>
        </p:nvSpPr>
        <p:spPr>
          <a:xfrm>
            <a:off x="909810" y="2577912"/>
            <a:ext cx="3749552" cy="315613"/>
          </a:xfrm>
          <a:prstGeom prst="roundRect">
            <a:avLst/>
          </a:prstGeom>
          <a:solidFill>
            <a:srgbClr val="649FE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Virtualisation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7EB865C8-02D5-1172-F7B9-A72E35905809}"/>
              </a:ext>
            </a:extLst>
          </p:cNvPr>
          <p:cNvSpPr>
            <a:spLocks/>
          </p:cNvSpPr>
          <p:nvPr/>
        </p:nvSpPr>
        <p:spPr>
          <a:xfrm>
            <a:off x="905992" y="2926893"/>
            <a:ext cx="1775940" cy="3030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SQL Data Analysis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7EB865C8-02D5-1172-F7B9-A72E35905809}"/>
              </a:ext>
            </a:extLst>
          </p:cNvPr>
          <p:cNvSpPr>
            <a:spLocks/>
          </p:cNvSpPr>
          <p:nvPr/>
        </p:nvSpPr>
        <p:spPr>
          <a:xfrm>
            <a:off x="2947639" y="2944204"/>
            <a:ext cx="1684112" cy="303055"/>
          </a:xfrm>
          <a:prstGeom prst="roundRect">
            <a:avLst/>
          </a:prstGeom>
          <a:solidFill>
            <a:srgbClr val="649FE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Big Data Access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C9744F40-9383-096F-D8D1-DA61CB98D638}"/>
              </a:ext>
            </a:extLst>
          </p:cNvPr>
          <p:cNvSpPr/>
          <p:nvPr/>
        </p:nvSpPr>
        <p:spPr>
          <a:xfrm>
            <a:off x="182497" y="1665837"/>
            <a:ext cx="236989" cy="4551774"/>
          </a:xfrm>
          <a:prstGeom prst="roundRect">
            <a:avLst>
              <a:gd name="adj" fmla="val 29901"/>
            </a:avLst>
          </a:prstGeom>
          <a:solidFill>
            <a:srgbClr val="FFE69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On-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prem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61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/ Cloud Infrastructure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61A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576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8078" y="818461"/>
            <a:ext cx="1678363" cy="458230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en-US" sz="1000" b="1" dirty="0" smtClean="0">
                <a:solidFill>
                  <a:schemeClr val="accent1">
                    <a:lumMod val="75000"/>
                  </a:schemeClr>
                </a:solidFill>
                <a:latin typeface="Tahoma"/>
                <a:cs typeface="Arial" panose="020B0604020202020204" pitchFamily="34" charset="0"/>
              </a:rPr>
              <a:t>External </a:t>
            </a: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Tahoma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30161" y="541462"/>
            <a:ext cx="941283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en-US" sz="1000" i="1" dirty="0">
                <a:latin typeface="Tahoma"/>
                <a:cs typeface="Arial" panose="020B0604020202020204" pitchFamily="34" charset="0"/>
              </a:rPr>
              <a:t>Data</a:t>
            </a:r>
            <a:r>
              <a:rPr lang="en-US" sz="1200" i="1" dirty="0">
                <a:latin typeface="Tahoma"/>
                <a:cs typeface="Arial" panose="020B0604020202020204" pitchFamily="34" charset="0"/>
              </a:rPr>
              <a:t> </a:t>
            </a:r>
            <a:r>
              <a:rPr lang="en-US" sz="1000" i="1" dirty="0">
                <a:latin typeface="Tahoma"/>
                <a:cs typeface="Arial" panose="020B0604020202020204" pitchFamily="34" charset="0"/>
              </a:rPr>
              <a:t>Sources</a:t>
            </a:r>
            <a:endParaRPr lang="ru-RU" sz="1000" i="1" dirty="0">
              <a:latin typeface="Tahoma"/>
              <a:cs typeface="Arial" panose="020B0604020202020204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964783" y="1588246"/>
            <a:ext cx="430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1964783" y="3115673"/>
            <a:ext cx="4740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786096" y="833553"/>
            <a:ext cx="592569" cy="456721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en-US" sz="900" b="1" dirty="0" smtClean="0">
                <a:solidFill>
                  <a:schemeClr val="bg1"/>
                </a:solidFill>
                <a:latin typeface="Tahoma"/>
                <a:cs typeface="Arial" panose="020B0604020202020204" pitchFamily="34" charset="0"/>
              </a:rPr>
              <a:t>Batch</a:t>
            </a:r>
          </a:p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en-US" sz="900" b="1" dirty="0" smtClean="0">
                <a:solidFill>
                  <a:schemeClr val="bg1"/>
                </a:solidFill>
                <a:latin typeface="Tahoma"/>
                <a:cs typeface="Arial" panose="020B0604020202020204" pitchFamily="34" charset="0"/>
              </a:rPr>
              <a:t>Streaming</a:t>
            </a:r>
          </a:p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en-US" sz="800" b="1" dirty="0" smtClean="0">
                <a:solidFill>
                  <a:schemeClr val="bg1"/>
                </a:solidFill>
                <a:latin typeface="Tahoma"/>
                <a:cs typeface="Arial" panose="020B0604020202020204" pitchFamily="34" charset="0"/>
              </a:rPr>
              <a:t>File </a:t>
            </a:r>
            <a:r>
              <a:rPr lang="en-US" sz="900" b="1" dirty="0" smtClean="0">
                <a:solidFill>
                  <a:schemeClr val="bg1"/>
                </a:solidFill>
                <a:latin typeface="Tahoma"/>
                <a:cs typeface="Arial" panose="020B0604020202020204" pitchFamily="34" charset="0"/>
              </a:rPr>
              <a:t>transfer</a:t>
            </a:r>
            <a:endParaRPr lang="en-US" sz="900" b="1" dirty="0">
              <a:solidFill>
                <a:schemeClr val="bg1"/>
              </a:solidFill>
              <a:latin typeface="Tahoma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58688" y="570732"/>
            <a:ext cx="1472678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en-US" sz="1000" i="1" dirty="0">
                <a:latin typeface="Tahoma"/>
                <a:cs typeface="Arial" panose="020B0604020202020204" pitchFamily="34" charset="0"/>
              </a:rPr>
              <a:t>Data </a:t>
            </a:r>
            <a:r>
              <a:rPr lang="en-US" sz="1000" i="1" dirty="0" smtClean="0">
                <a:latin typeface="Tahoma"/>
                <a:cs typeface="Arial" panose="020B0604020202020204" pitchFamily="34" charset="0"/>
              </a:rPr>
              <a:t>Ingestion</a:t>
            </a:r>
            <a:endParaRPr lang="ru-RU" sz="1000" i="1" dirty="0">
              <a:latin typeface="Tahoma"/>
              <a:cs typeface="Arial" panose="020B0604020202020204" pitchFamily="34" charset="0"/>
            </a:endParaRPr>
          </a:p>
        </p:txBody>
      </p:sp>
      <p:sp>
        <p:nvSpPr>
          <p:cNvPr id="8" name="Flowchart: Magnetic Disk 7"/>
          <p:cNvSpPr/>
          <p:nvPr/>
        </p:nvSpPr>
        <p:spPr>
          <a:xfrm>
            <a:off x="2395055" y="1252767"/>
            <a:ext cx="1013670" cy="61806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en-US" sz="900" i="1" dirty="0" smtClean="0">
                <a:latin typeface="Tahoma"/>
                <a:cs typeface="Arial" panose="020B0604020202020204" pitchFamily="34" charset="0"/>
              </a:rPr>
              <a:t>Structured Data</a:t>
            </a:r>
            <a:endParaRPr lang="ru-RU" sz="900" i="1" dirty="0">
              <a:latin typeface="Tahoma"/>
              <a:cs typeface="Arial" panose="020B0604020202020204" pitchFamily="34" charset="0"/>
            </a:endParaRPr>
          </a:p>
        </p:txBody>
      </p:sp>
      <p:sp>
        <p:nvSpPr>
          <p:cNvPr id="9" name="Flowchart: Magnetic Disk 8"/>
          <p:cNvSpPr/>
          <p:nvPr/>
        </p:nvSpPr>
        <p:spPr>
          <a:xfrm>
            <a:off x="2436856" y="4081724"/>
            <a:ext cx="969940" cy="61798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en-US" sz="900" i="1" dirty="0" smtClean="0">
                <a:latin typeface="Tahoma"/>
                <a:cs typeface="Arial" panose="020B0604020202020204" pitchFamily="34" charset="0"/>
              </a:rPr>
              <a:t>Unstructured Data</a:t>
            </a:r>
            <a:endParaRPr lang="ru-RU" sz="900" i="1" dirty="0">
              <a:latin typeface="Tahoma"/>
              <a:cs typeface="Arial" panose="020B0604020202020204" pitchFamily="34" charset="0"/>
            </a:endParaRPr>
          </a:p>
        </p:txBody>
      </p:sp>
      <p:sp>
        <p:nvSpPr>
          <p:cNvPr id="10" name="Flowchart: Magnetic Disk 9"/>
          <p:cNvSpPr/>
          <p:nvPr/>
        </p:nvSpPr>
        <p:spPr>
          <a:xfrm>
            <a:off x="2449770" y="2813783"/>
            <a:ext cx="969940" cy="58327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en-US" sz="900" i="1" dirty="0" smtClean="0">
                <a:latin typeface="Tahoma"/>
                <a:cs typeface="Arial" panose="020B0604020202020204" pitchFamily="34" charset="0"/>
              </a:rPr>
              <a:t>Semi-structured Data</a:t>
            </a:r>
            <a:endParaRPr lang="ru-RU" sz="900" i="1" dirty="0">
              <a:latin typeface="Tahoma"/>
              <a:cs typeface="Arial" panose="020B0604020202020204" pitchFamily="34" charset="0"/>
            </a:endParaRPr>
          </a:p>
        </p:txBody>
      </p:sp>
      <p:cxnSp>
        <p:nvCxnSpPr>
          <p:cNvPr id="11" name="Straight Arrow Connector 10"/>
          <p:cNvCxnSpPr>
            <a:endCxn id="9" idx="2"/>
          </p:cNvCxnSpPr>
          <p:nvPr/>
        </p:nvCxnSpPr>
        <p:spPr>
          <a:xfrm>
            <a:off x="1962854" y="4390719"/>
            <a:ext cx="4740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8" idx="4"/>
            <a:endCxn id="6" idx="1"/>
          </p:cNvCxnSpPr>
          <p:nvPr/>
        </p:nvCxnSpPr>
        <p:spPr>
          <a:xfrm>
            <a:off x="3408725" y="1561799"/>
            <a:ext cx="377371" cy="15553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408725" y="3115673"/>
            <a:ext cx="1932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3801" y="1420506"/>
            <a:ext cx="1620982" cy="33547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 smtClean="0"/>
              <a:t>RDBMS</a:t>
            </a:r>
            <a:endParaRPr lang="en-US" sz="1000" dirty="0"/>
          </a:p>
        </p:txBody>
      </p:sp>
      <p:sp>
        <p:nvSpPr>
          <p:cNvPr id="15" name="Rounded Rectangle 14"/>
          <p:cNvSpPr/>
          <p:nvPr/>
        </p:nvSpPr>
        <p:spPr>
          <a:xfrm>
            <a:off x="343801" y="1903697"/>
            <a:ext cx="1620982" cy="33547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NoSQL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01" y="2360440"/>
            <a:ext cx="1620982" cy="33547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Alternative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5641" y="1075796"/>
            <a:ext cx="950901" cy="2308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en-US" sz="900" b="1" dirty="0" smtClean="0">
                <a:solidFill>
                  <a:schemeClr val="accent1">
                    <a:lumMod val="75000"/>
                  </a:schemeClr>
                </a:solidFill>
                <a:latin typeface="Tahoma"/>
                <a:cs typeface="Arial" panose="020B0604020202020204" pitchFamily="34" charset="0"/>
              </a:rPr>
              <a:t>Internal </a:t>
            </a: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Tahoma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768" y="3331401"/>
            <a:ext cx="1620982" cy="33547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APIs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0601" y="3814592"/>
            <a:ext cx="1620982" cy="33547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Websites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0601" y="4297872"/>
            <a:ext cx="1620982" cy="33547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0601" y="4781152"/>
            <a:ext cx="1620982" cy="33547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/>
              <a:t>Streaming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144" y="898758"/>
            <a:ext cx="4103810" cy="18695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defRPr/>
            </a:pPr>
            <a:endParaRPr lang="en-US" sz="800" b="1" dirty="0" smtClean="0">
              <a:solidFill>
                <a:schemeClr val="bg1"/>
              </a:solidFill>
              <a:latin typeface="Tahoma"/>
              <a:cs typeface="Arial" panose="020B0604020202020204" pitchFamily="34" charset="0"/>
            </a:endParaRPr>
          </a:p>
        </p:txBody>
      </p:sp>
      <p:cxnSp>
        <p:nvCxnSpPr>
          <p:cNvPr id="23" name="Elbow Connector 22"/>
          <p:cNvCxnSpPr>
            <a:stCxn id="9" idx="4"/>
            <a:endCxn id="6" idx="1"/>
          </p:cNvCxnSpPr>
          <p:nvPr/>
        </p:nvCxnSpPr>
        <p:spPr>
          <a:xfrm flipV="1">
            <a:off x="3406796" y="3117159"/>
            <a:ext cx="379300" cy="12735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76843" y="645571"/>
            <a:ext cx="1070765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en-US" sz="1000" i="1" dirty="0" smtClean="0">
                <a:latin typeface="Tahoma"/>
                <a:cs typeface="Arial" panose="020B0604020202020204" pitchFamily="34" charset="0"/>
              </a:rPr>
              <a:t>Data Storage</a:t>
            </a:r>
            <a:endParaRPr lang="ru-RU" sz="1000" i="1" dirty="0">
              <a:latin typeface="Tahoma"/>
              <a:cs typeface="Arial" panose="020B0604020202020204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836270" y="1158780"/>
            <a:ext cx="1562792" cy="14534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en-US" sz="1100" b="1" i="1" dirty="0">
                <a:solidFill>
                  <a:schemeClr val="accent1">
                    <a:lumMod val="75000"/>
                  </a:schemeClr>
                </a:solidFill>
                <a:latin typeface="Tahoma"/>
                <a:cs typeface="Arial" panose="020B0604020202020204" pitchFamily="34" charset="0"/>
              </a:rPr>
              <a:t>Object storage</a:t>
            </a:r>
            <a:endParaRPr lang="ru-RU" sz="1100" b="1" i="1" dirty="0">
              <a:solidFill>
                <a:schemeClr val="accent1">
                  <a:lumMod val="75000"/>
                </a:schemeClr>
              </a:solidFill>
              <a:latin typeface="Tahoma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077572" y="897170"/>
            <a:ext cx="184730" cy="2616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endParaRPr lang="ru-RU" sz="1100" i="1" dirty="0">
              <a:latin typeface="Tahoma"/>
              <a:cs typeface="Arial" panose="020B0604020202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08243" y="1795996"/>
            <a:ext cx="184730" cy="2616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endParaRPr lang="ru-RU" sz="1100" b="1" i="1" dirty="0">
              <a:solidFill>
                <a:schemeClr val="accent1">
                  <a:lumMod val="75000"/>
                </a:schemeClr>
              </a:solidFill>
              <a:latin typeface="Tahoma"/>
              <a:cs typeface="Arial" panose="020B0604020202020204" pitchFamily="34" charset="0"/>
            </a:endParaRPr>
          </a:p>
        </p:txBody>
      </p:sp>
      <p:cxnSp>
        <p:nvCxnSpPr>
          <p:cNvPr id="28" name="Elbow Connector 27"/>
          <p:cNvCxnSpPr/>
          <p:nvPr/>
        </p:nvCxnSpPr>
        <p:spPr>
          <a:xfrm flipV="1">
            <a:off x="4389650" y="2775144"/>
            <a:ext cx="2696256" cy="3860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/>
          <p:nvPr/>
        </p:nvCxnSpPr>
        <p:spPr>
          <a:xfrm flipV="1">
            <a:off x="4365751" y="1844418"/>
            <a:ext cx="4279360" cy="1404621"/>
          </a:xfrm>
          <a:prstGeom prst="bentConnector3">
            <a:avLst>
              <a:gd name="adj1" fmla="val 10534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757377" y="1106514"/>
            <a:ext cx="1562792" cy="14534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en-US" sz="1100" b="1" i="1" dirty="0" smtClean="0">
                <a:solidFill>
                  <a:schemeClr val="accent1">
                    <a:lumMod val="75000"/>
                  </a:schemeClr>
                </a:solidFill>
                <a:latin typeface="Tahoma"/>
                <a:cs typeface="Arial" panose="020B0604020202020204" pitchFamily="34" charset="0"/>
              </a:rPr>
              <a:t>DWH</a:t>
            </a:r>
            <a:endParaRPr lang="ru-RU" sz="1100" b="1" i="1" dirty="0">
              <a:solidFill>
                <a:schemeClr val="accent1">
                  <a:lumMod val="75000"/>
                </a:schemeClr>
              </a:solidFill>
              <a:latin typeface="Tahoma"/>
              <a:cs typeface="Arial" panose="020B0604020202020204" pitchFamily="34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6320169" y="1755985"/>
            <a:ext cx="503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6333083" y="2071436"/>
            <a:ext cx="503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6320169" y="1511516"/>
            <a:ext cx="50318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60951" y="3631137"/>
            <a:ext cx="4287911" cy="173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defRPr/>
            </a:pPr>
            <a:endParaRPr lang="en-US" sz="800" b="1" dirty="0" smtClean="0">
              <a:solidFill>
                <a:schemeClr val="bg1"/>
              </a:solidFill>
              <a:latin typeface="Tahoma"/>
              <a:cs typeface="Arial" panose="020B06040202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146267" y="3365276"/>
            <a:ext cx="1088761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en-US" sz="1000" i="1" dirty="0">
                <a:latin typeface="Tahoma"/>
                <a:cs typeface="Arial" panose="020B0604020202020204" pitchFamily="34" charset="0"/>
              </a:rPr>
              <a:t>Data </a:t>
            </a:r>
            <a:r>
              <a:rPr lang="az-Latn-AZ" sz="1000" i="1" dirty="0" smtClean="0">
                <a:latin typeface="Tahoma"/>
                <a:cs typeface="Arial" panose="020B0604020202020204" pitchFamily="34" charset="0"/>
              </a:rPr>
              <a:t>Processing</a:t>
            </a:r>
            <a:endParaRPr lang="ru-RU" sz="1000" i="1" dirty="0">
              <a:latin typeface="Tahoma"/>
              <a:cs typeface="Arial" panose="020B0604020202020204" pitchFamily="34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827151" y="3826964"/>
            <a:ext cx="1610611" cy="139813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</a:pPr>
            <a:r>
              <a:rPr lang="az-Latn-AZ" sz="1100" b="1" i="1" dirty="0">
                <a:solidFill>
                  <a:schemeClr val="bg1"/>
                </a:solidFill>
                <a:latin typeface="Tahoma"/>
                <a:cs typeface="Arial" panose="020B0604020202020204" pitchFamily="34" charset="0"/>
              </a:rPr>
              <a:t>Oracle</a:t>
            </a:r>
            <a:endParaRPr lang="ru-RU" sz="1100" b="1" i="1" dirty="0">
              <a:solidFill>
                <a:schemeClr val="bg1"/>
              </a:solidFill>
              <a:latin typeface="Tahoma"/>
              <a:cs typeface="Arial" panose="020B0604020202020204" pitchFamily="34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979782" y="3790065"/>
            <a:ext cx="1609430" cy="139813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</a:pPr>
            <a:r>
              <a:rPr lang="az-Latn-AZ" sz="1100" b="1" i="1" dirty="0" smtClean="0">
                <a:solidFill>
                  <a:schemeClr val="bg1"/>
                </a:solidFill>
                <a:latin typeface="Tahoma"/>
                <a:cs typeface="Arial" panose="020B0604020202020204" pitchFamily="34" charset="0"/>
              </a:rPr>
              <a:t>Big Data</a:t>
            </a:r>
            <a:endParaRPr lang="ru-RU" sz="1100" b="1" i="1" dirty="0">
              <a:solidFill>
                <a:schemeClr val="bg1"/>
              </a:solidFill>
              <a:latin typeface="Tahoma"/>
              <a:cs typeface="Arial" panose="020B0604020202020204" pitchFamily="34" charset="0"/>
            </a:endParaRPr>
          </a:p>
        </p:txBody>
      </p:sp>
      <p:cxnSp>
        <p:nvCxnSpPr>
          <p:cNvPr id="38" name="Elbow Connector 37"/>
          <p:cNvCxnSpPr>
            <a:endCxn id="34" idx="3"/>
          </p:cNvCxnSpPr>
          <p:nvPr/>
        </p:nvCxnSpPr>
        <p:spPr>
          <a:xfrm rot="5400000">
            <a:off x="7557162" y="2844206"/>
            <a:ext cx="2945575" cy="3621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8679490" y="1544595"/>
            <a:ext cx="54527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8077572" y="2775144"/>
            <a:ext cx="0" cy="848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607779" y="833553"/>
            <a:ext cx="592569" cy="4567212"/>
          </a:xfrm>
          <a:prstGeom prst="roundRect">
            <a:avLst/>
          </a:prstGeom>
          <a:solidFill>
            <a:schemeClr val="accent4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endParaRPr lang="en-US" sz="800" b="1" dirty="0" smtClean="0">
              <a:solidFill>
                <a:schemeClr val="bg1"/>
              </a:solidFill>
              <a:latin typeface="Tahoma"/>
              <a:cs typeface="Arial" panose="020B0604020202020204" pitchFamily="34" charset="0"/>
            </a:endParaRPr>
          </a:p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az-Latn-AZ" sz="1050" b="1" dirty="0" smtClean="0">
                <a:solidFill>
                  <a:schemeClr val="bg1"/>
                </a:solidFill>
                <a:latin typeface="Tahoma"/>
                <a:cs typeface="Arial" panose="020B0604020202020204" pitchFamily="34" charset="0"/>
              </a:rPr>
              <a:t>Data</a:t>
            </a:r>
            <a:br>
              <a:rPr lang="az-Latn-AZ" sz="1050" b="1" dirty="0" smtClean="0">
                <a:solidFill>
                  <a:schemeClr val="bg1"/>
                </a:solidFill>
                <a:latin typeface="Tahoma"/>
                <a:cs typeface="Arial" panose="020B0604020202020204" pitchFamily="34" charset="0"/>
              </a:rPr>
            </a:br>
            <a:r>
              <a:rPr lang="az-Latn-AZ" sz="1050" b="1" dirty="0" smtClean="0">
                <a:solidFill>
                  <a:schemeClr val="bg1"/>
                </a:solidFill>
                <a:latin typeface="Tahoma"/>
                <a:cs typeface="Arial" panose="020B0604020202020204" pitchFamily="34" charset="0"/>
              </a:rPr>
              <a:t>Mart layer</a:t>
            </a:r>
            <a:endParaRPr lang="en-US" sz="1050" b="1" dirty="0">
              <a:solidFill>
                <a:schemeClr val="bg1"/>
              </a:solidFill>
              <a:latin typeface="Tahoma"/>
              <a:cs typeface="Arial" panose="020B0604020202020204" pitchFamily="34" charset="0"/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8848862" y="4948891"/>
            <a:ext cx="7589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8783095" y="221143"/>
            <a:ext cx="322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10192365" y="228837"/>
            <a:ext cx="3591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0551496" y="105726"/>
            <a:ext cx="928459" cy="2308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az-Latn-AZ" sz="900" i="1" dirty="0" smtClean="0">
                <a:latin typeface="Tahoma"/>
                <a:cs typeface="Arial" panose="020B0604020202020204" pitchFamily="34" charset="0"/>
              </a:rPr>
              <a:t>Real-time data</a:t>
            </a:r>
            <a:endParaRPr lang="ru-RU" sz="900" i="1" dirty="0">
              <a:latin typeface="Tahoma"/>
              <a:cs typeface="Arial" panose="020B0604020202020204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105195" y="98032"/>
            <a:ext cx="841897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en-US" sz="1000" i="1" dirty="0" smtClean="0">
                <a:latin typeface="Tahoma"/>
                <a:cs typeface="Arial" panose="020B0604020202020204" pitchFamily="34" charset="0"/>
              </a:rPr>
              <a:t>Offline data</a:t>
            </a:r>
            <a:endParaRPr lang="ru-RU" sz="1000" i="1" dirty="0">
              <a:latin typeface="Tahoma"/>
              <a:cs typeface="Arial" panose="020B0604020202020204" pitchFamily="34" charset="0"/>
            </a:endParaRPr>
          </a:p>
        </p:txBody>
      </p:sp>
      <p:sp>
        <p:nvSpPr>
          <p:cNvPr id="47" name="Flowchart: Alternate Process 46"/>
          <p:cNvSpPr/>
          <p:nvPr/>
        </p:nvSpPr>
        <p:spPr>
          <a:xfrm>
            <a:off x="300095" y="5945110"/>
            <a:ext cx="11591809" cy="606582"/>
          </a:xfrm>
          <a:prstGeom prst="flowChartAlternateProcess">
            <a:avLst/>
          </a:prstGeom>
          <a:solidFill>
            <a:schemeClr val="bg1"/>
          </a:solidFill>
          <a:ln w="381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17" y="6045351"/>
            <a:ext cx="823748" cy="483185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176" y="6020378"/>
            <a:ext cx="928481" cy="464241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2160" y="6001451"/>
            <a:ext cx="1062629" cy="531314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6121" y="6006172"/>
            <a:ext cx="503788" cy="526593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8619" y="6000456"/>
            <a:ext cx="514070" cy="514070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0951" y="5807468"/>
            <a:ext cx="952500" cy="952500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9856" y="6027407"/>
            <a:ext cx="703084" cy="493449"/>
          </a:xfrm>
          <a:prstGeom prst="rect">
            <a:avLst/>
          </a:prstGeom>
          <a:solidFill>
            <a:srgbClr val="FF99CC"/>
          </a:solidFill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9942" y="5952076"/>
            <a:ext cx="1260126" cy="630063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0796" y="6018317"/>
            <a:ext cx="411585" cy="460168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64188" y="6018317"/>
            <a:ext cx="459338" cy="459338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04496" y="5944069"/>
            <a:ext cx="679298" cy="679298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41308" y="5979174"/>
            <a:ext cx="1030622" cy="556633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52893" y="5974836"/>
            <a:ext cx="562832" cy="502797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27629" y="6045351"/>
            <a:ext cx="652371" cy="393430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308078" y="5667070"/>
            <a:ext cx="1119089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en-US" sz="1200" i="1" dirty="0" smtClean="0">
                <a:latin typeface="Tahoma"/>
                <a:cs typeface="Arial" panose="020B0604020202020204" pitchFamily="34" charset="0"/>
              </a:rPr>
              <a:t>Infrastructure</a:t>
            </a:r>
            <a:endParaRPr lang="ru-RU" sz="1200" i="1" dirty="0">
              <a:latin typeface="Tahoma"/>
              <a:cs typeface="Arial" panose="020B0604020202020204" pitchFamily="34" charset="0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10563171" y="836437"/>
            <a:ext cx="1142055" cy="456721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endParaRPr lang="en-US" sz="800" b="1" dirty="0" smtClean="0">
              <a:solidFill>
                <a:schemeClr val="bg1"/>
              </a:solidFill>
              <a:latin typeface="Tahoma"/>
              <a:cs typeface="Arial" panose="020B0604020202020204" pitchFamily="34" charset="0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10561425" y="1738069"/>
            <a:ext cx="1115065" cy="2809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BI tools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10570243" y="2414954"/>
            <a:ext cx="1115065" cy="2809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Reporting tools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10561427" y="3335082"/>
            <a:ext cx="1115065" cy="2809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Bussiness applications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10561426" y="4197932"/>
            <a:ext cx="1115065" cy="2809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Operational systems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0437091" y="575466"/>
            <a:ext cx="1342909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defRPr/>
            </a:pPr>
            <a:r>
              <a:rPr lang="en-US" sz="1000" i="1" dirty="0" smtClean="0">
                <a:latin typeface="Tahoma"/>
                <a:cs typeface="Arial" panose="020B0604020202020204" pitchFamily="34" charset="0"/>
              </a:rPr>
              <a:t>Presentation layer</a:t>
            </a:r>
            <a:endParaRPr lang="ru-RU" sz="1000" i="1" dirty="0">
              <a:latin typeface="Tahoma"/>
              <a:cs typeface="Arial" panose="020B0604020202020204" pitchFamily="34" charset="0"/>
            </a:endParaRPr>
          </a:p>
        </p:txBody>
      </p:sp>
      <p:cxnSp>
        <p:nvCxnSpPr>
          <p:cNvPr id="69" name="Elbow Connector 68"/>
          <p:cNvCxnSpPr>
            <a:endCxn id="63" idx="2"/>
          </p:cNvCxnSpPr>
          <p:nvPr/>
        </p:nvCxnSpPr>
        <p:spPr>
          <a:xfrm rot="16200000" flipH="1">
            <a:off x="8199936" y="2469386"/>
            <a:ext cx="4071912" cy="1796613"/>
          </a:xfrm>
          <a:prstGeom prst="bentConnector3">
            <a:avLst>
              <a:gd name="adj1" fmla="val 10561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8675954" y="1331736"/>
            <a:ext cx="6616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10203086" y="2239176"/>
            <a:ext cx="348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10200348" y="3867232"/>
            <a:ext cx="3610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80843" y="-168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 smtClean="0">
                <a:solidFill>
                  <a:schemeClr val="accent5"/>
                </a:solidFill>
              </a:rPr>
              <a:t>Current architecture</a:t>
            </a:r>
            <a:endParaRPr lang="en-US" i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04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6350" y="421039"/>
            <a:ext cx="5353594" cy="384721"/>
          </a:xfrm>
        </p:spPr>
        <p:txBody>
          <a:bodyPr/>
          <a:lstStyle/>
          <a:p>
            <a:r>
              <a:rPr lang="en-US" dirty="0"/>
              <a:t>Outcomes &amp; Value Delivered</a:t>
            </a:r>
          </a:p>
        </p:txBody>
      </p:sp>
    </p:spTree>
    <p:extLst>
      <p:ext uri="{BB962C8B-B14F-4D97-AF65-F5344CB8AC3E}">
        <p14:creationId xmlns:p14="http://schemas.microsoft.com/office/powerpoint/2010/main" val="148106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6350" y="421039"/>
            <a:ext cx="3411581" cy="384721"/>
          </a:xfrm>
        </p:spPr>
        <p:txBody>
          <a:bodyPr/>
          <a:lstStyle/>
          <a:p>
            <a:r>
              <a:rPr lang="en-US" dirty="0"/>
              <a:t>Future Roadmap </a:t>
            </a:r>
          </a:p>
        </p:txBody>
      </p:sp>
    </p:spTree>
    <p:extLst>
      <p:ext uri="{BB962C8B-B14F-4D97-AF65-F5344CB8AC3E}">
        <p14:creationId xmlns:p14="http://schemas.microsoft.com/office/powerpoint/2010/main" val="416205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005163" y="2219106"/>
            <a:ext cx="11082528" cy="923330"/>
          </a:xfrm>
        </p:spPr>
        <p:txBody>
          <a:bodyPr/>
          <a:lstStyle/>
          <a:p>
            <a:r>
              <a:rPr lang="en-US" sz="6000" dirty="0" smtClean="0"/>
              <a:t>ALIK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07008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35C45BF-69A6-4A0C-AE1F-C0E1DC43CB1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7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35C45BF-69A6-4A0C-AE1F-C0E1DC43CB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0D2EE9-FED5-4FEA-846D-0821378DB6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F2647B-5343-4A24-B473-13BDCA744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Overall tech stack landscape</a:t>
            </a:r>
            <a:endParaRPr lang="tr-TR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99FD5A-F801-4464-BA58-A4DA2EE2C94C}"/>
              </a:ext>
            </a:extLst>
          </p:cNvPr>
          <p:cNvGrpSpPr/>
          <p:nvPr/>
        </p:nvGrpSpPr>
        <p:grpSpPr>
          <a:xfrm>
            <a:off x="554736" y="1109481"/>
            <a:ext cx="1953334" cy="246221"/>
            <a:chOff x="554736" y="1422991"/>
            <a:chExt cx="1796578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F9F2869-9AAC-4A5A-A5F7-D8A4D94D2146}"/>
                </a:ext>
              </a:extLst>
            </p:cNvPr>
            <p:cNvSpPr txBox="1"/>
            <p:nvPr/>
          </p:nvSpPr>
          <p:spPr>
            <a:xfrm>
              <a:off x="554736" y="1422991"/>
              <a:ext cx="1796578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/>
                <a:t>Component</a:t>
              </a:r>
              <a:endParaRPr lang="tr-TR" sz="1400" b="1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53B8334-9034-45A6-9AB7-7B116E819F60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6" y="1669212"/>
              <a:ext cx="1796578" cy="0"/>
            </a:xfrm>
            <a:prstGeom prst="line">
              <a:avLst/>
            </a:prstGeom>
            <a:ln w="635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403F53-5C74-485F-BE7A-A9AA7956DCF8}"/>
              </a:ext>
            </a:extLst>
          </p:cNvPr>
          <p:cNvGrpSpPr/>
          <p:nvPr/>
        </p:nvGrpSpPr>
        <p:grpSpPr>
          <a:xfrm>
            <a:off x="2705998" y="1109480"/>
            <a:ext cx="3921225" cy="246221"/>
            <a:chOff x="554736" y="1422991"/>
            <a:chExt cx="1796578" cy="24622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01367F3-766C-4DF6-A241-83A4A01EDB87}"/>
                </a:ext>
              </a:extLst>
            </p:cNvPr>
            <p:cNvSpPr txBox="1"/>
            <p:nvPr/>
          </p:nvSpPr>
          <p:spPr>
            <a:xfrm>
              <a:off x="554736" y="1422991"/>
              <a:ext cx="1796578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/>
                <a:t>Options</a:t>
              </a:r>
              <a:endParaRPr lang="tr-TR" sz="1400" b="1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407D54-1F8E-4DAA-989E-5A89F29ACEFA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6" y="1669212"/>
              <a:ext cx="1796578" cy="0"/>
            </a:xfrm>
            <a:prstGeom prst="line">
              <a:avLst/>
            </a:prstGeom>
            <a:ln w="635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15B62A-9B41-45C6-82BB-7BD5D401D351}"/>
              </a:ext>
            </a:extLst>
          </p:cNvPr>
          <p:cNvGrpSpPr/>
          <p:nvPr/>
        </p:nvGrpSpPr>
        <p:grpSpPr>
          <a:xfrm>
            <a:off x="6825151" y="1109479"/>
            <a:ext cx="1796578" cy="246221"/>
            <a:chOff x="554736" y="1422991"/>
            <a:chExt cx="1796578" cy="2462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2872610-CF2F-4321-923D-B8C43E36A3A0}"/>
                </a:ext>
              </a:extLst>
            </p:cNvPr>
            <p:cNvSpPr txBox="1"/>
            <p:nvPr/>
          </p:nvSpPr>
          <p:spPr>
            <a:xfrm>
              <a:off x="554736" y="1422991"/>
              <a:ext cx="1796578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/>
                <a:t>Choice</a:t>
              </a:r>
              <a:endParaRPr lang="tr-TR" sz="1400" b="1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7EF52B0-416F-479C-B99D-6F8C4D0006D8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6" y="1669212"/>
              <a:ext cx="1796578" cy="0"/>
            </a:xfrm>
            <a:prstGeom prst="line">
              <a:avLst/>
            </a:prstGeom>
            <a:ln w="635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3FC6BFF-C48D-451F-B8C1-15439907AB0D}"/>
              </a:ext>
            </a:extLst>
          </p:cNvPr>
          <p:cNvGrpSpPr/>
          <p:nvPr/>
        </p:nvGrpSpPr>
        <p:grpSpPr>
          <a:xfrm>
            <a:off x="8819656" y="1109479"/>
            <a:ext cx="2817607" cy="246221"/>
            <a:chOff x="554736" y="1422991"/>
            <a:chExt cx="1796578" cy="24622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93B8A33-70B8-406E-879F-5B0042490049}"/>
                </a:ext>
              </a:extLst>
            </p:cNvPr>
            <p:cNvSpPr txBox="1"/>
            <p:nvPr/>
          </p:nvSpPr>
          <p:spPr>
            <a:xfrm>
              <a:off x="554736" y="1422991"/>
              <a:ext cx="1796578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/>
                <a:t>Next Steps</a:t>
              </a:r>
              <a:endParaRPr lang="tr-TR" sz="1400" b="1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7B6C108-0CEC-4D72-9A42-7AD541CD6E93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6" y="1669212"/>
              <a:ext cx="1796578" cy="0"/>
            </a:xfrm>
            <a:prstGeom prst="line">
              <a:avLst/>
            </a:prstGeom>
            <a:ln w="635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F1A150A-08D9-4B9F-B3A5-F83FA439EAF0}"/>
              </a:ext>
            </a:extLst>
          </p:cNvPr>
          <p:cNvSpPr txBox="1"/>
          <p:nvPr/>
        </p:nvSpPr>
        <p:spPr>
          <a:xfrm>
            <a:off x="554736" y="1478811"/>
            <a:ext cx="1953335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1. Data Format</a:t>
            </a:r>
            <a:br>
              <a:rPr lang="en-US" sz="1400" dirty="0"/>
            </a:br>
            <a:r>
              <a:rPr lang="en-US" sz="1400" dirty="0"/>
              <a:t>(Data Lake Storage)</a:t>
            </a:r>
            <a:endParaRPr lang="tr-TR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EC95F3-C2F2-470A-8A3F-C387B2F26F40}"/>
              </a:ext>
            </a:extLst>
          </p:cNvPr>
          <p:cNvSpPr txBox="1"/>
          <p:nvPr/>
        </p:nvSpPr>
        <p:spPr>
          <a:xfrm>
            <a:off x="554736" y="2342175"/>
            <a:ext cx="2133510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2. Big Data Access &amp; ELT</a:t>
            </a:r>
            <a:br>
              <a:rPr lang="en-US" sz="1400" dirty="0"/>
            </a:br>
            <a:r>
              <a:rPr lang="en-US" sz="1400" dirty="0"/>
              <a:t>(Data Lake Processing)</a:t>
            </a:r>
            <a:endParaRPr lang="tr-TR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9A1EDC-BA51-4EFD-A274-A29CC3D74BEB}"/>
              </a:ext>
            </a:extLst>
          </p:cNvPr>
          <p:cNvSpPr txBox="1"/>
          <p:nvPr/>
        </p:nvSpPr>
        <p:spPr>
          <a:xfrm>
            <a:off x="554736" y="3127160"/>
            <a:ext cx="1953335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3. Big Data Warehouse (Data Lake SQL)</a:t>
            </a:r>
            <a:endParaRPr lang="tr-TR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5CB8A4-79A0-4859-865F-B9BF931B3560}"/>
              </a:ext>
            </a:extLst>
          </p:cNvPr>
          <p:cNvSpPr txBox="1"/>
          <p:nvPr/>
        </p:nvSpPr>
        <p:spPr>
          <a:xfrm>
            <a:off x="554736" y="3912145"/>
            <a:ext cx="1953335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4. Object Storage</a:t>
            </a:r>
            <a:br>
              <a:rPr lang="en-US" sz="1400" dirty="0"/>
            </a:br>
            <a:r>
              <a:rPr lang="en-US" sz="1400" dirty="0"/>
              <a:t>(Data Lake NoSQL)</a:t>
            </a:r>
            <a:endParaRPr lang="tr-TR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2F8F8F-6FCD-48D1-9792-3AA8B656D6A9}"/>
              </a:ext>
            </a:extLst>
          </p:cNvPr>
          <p:cNvSpPr txBox="1"/>
          <p:nvPr/>
        </p:nvSpPr>
        <p:spPr>
          <a:xfrm>
            <a:off x="554736" y="4888720"/>
            <a:ext cx="195333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5. EDWH</a:t>
            </a:r>
            <a:endParaRPr lang="tr-TR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AF4422-6362-4D09-9550-30473B6CA194}"/>
              </a:ext>
            </a:extLst>
          </p:cNvPr>
          <p:cNvSpPr txBox="1"/>
          <p:nvPr/>
        </p:nvSpPr>
        <p:spPr>
          <a:xfrm>
            <a:off x="554736" y="5161217"/>
            <a:ext cx="195333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6. ODS</a:t>
            </a:r>
            <a:endParaRPr lang="tr-TR" sz="14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06E9828-4082-480D-961B-8FE6FC4653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6172" y="3127160"/>
            <a:ext cx="485222" cy="436700"/>
          </a:xfrm>
          <a:prstGeom prst="rect">
            <a:avLst/>
          </a:prstGeom>
        </p:spPr>
      </p:pic>
      <p:pic>
        <p:nvPicPr>
          <p:cNvPr id="40" name="Picture 10" descr="Что такое Impala: архитектура, история, принцип работы, примеры">
            <a:extLst>
              <a:ext uri="{FF2B5EF4-FFF2-40B4-BE49-F238E27FC236}">
                <a16:creationId xmlns:a16="http://schemas.microsoft.com/office/drawing/2014/main" id="{FC726123-33C4-4426-97A8-66E0B95CD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017" y="3127160"/>
            <a:ext cx="679270" cy="472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2" descr="Apache Tez – Welcome to Apache TEZ®">
            <a:extLst>
              <a:ext uri="{FF2B5EF4-FFF2-40B4-BE49-F238E27FC236}">
                <a16:creationId xmlns:a16="http://schemas.microsoft.com/office/drawing/2014/main" id="{95799444-72BA-4ADE-9318-EAB66004D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5822" y="3127160"/>
            <a:ext cx="831685" cy="42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0" descr="Spark SQL — Национальная библиотека им. Н. Э. Баумана">
            <a:extLst>
              <a:ext uri="{FF2B5EF4-FFF2-40B4-BE49-F238E27FC236}">
                <a16:creationId xmlns:a16="http://schemas.microsoft.com/office/drawing/2014/main" id="{AD1C81ED-E536-4B7C-A71D-622775F26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935" y="3127160"/>
            <a:ext cx="1084653" cy="42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8">
            <a:extLst>
              <a:ext uri="{FF2B5EF4-FFF2-40B4-BE49-F238E27FC236}">
                <a16:creationId xmlns:a16="http://schemas.microsoft.com/office/drawing/2014/main" id="{62E022D2-BE02-488D-9A23-AA247781A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173" y="2374522"/>
            <a:ext cx="679650" cy="35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3" descr="Images and Logos — Dask documentation">
            <a:extLst>
              <a:ext uri="{FF2B5EF4-FFF2-40B4-BE49-F238E27FC236}">
                <a16:creationId xmlns:a16="http://schemas.microsoft.com/office/drawing/2014/main" id="{82E503D5-2BC9-4DE5-BB25-DB7361EDF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443" y="2359349"/>
            <a:ext cx="841181" cy="37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79" descr="Ускорение анализа данных на GPU c RAPIDS | NVIDIA">
            <a:extLst>
              <a:ext uri="{FF2B5EF4-FFF2-40B4-BE49-F238E27FC236}">
                <a16:creationId xmlns:a16="http://schemas.microsoft.com/office/drawing/2014/main" id="{48EF9E45-C6F0-433C-A254-CD4F3F6195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5" t="33292" r="17185" b="33292"/>
          <a:stretch/>
        </p:blipFill>
        <p:spPr bwMode="auto">
          <a:xfrm>
            <a:off x="5818244" y="2466407"/>
            <a:ext cx="732043" cy="208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35">
            <a:extLst>
              <a:ext uri="{FF2B5EF4-FFF2-40B4-BE49-F238E27FC236}">
                <a16:creationId xmlns:a16="http://schemas.microsoft.com/office/drawing/2014/main" id="{894270B7-AF64-4013-BF42-96072ADE7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860" y="4985906"/>
            <a:ext cx="705621" cy="18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37">
            <a:extLst>
              <a:ext uri="{FF2B5EF4-FFF2-40B4-BE49-F238E27FC236}">
                <a16:creationId xmlns:a16="http://schemas.microsoft.com/office/drawing/2014/main" id="{A43FC52D-9614-4C52-88CE-CA35ADABB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532" y="4990592"/>
            <a:ext cx="705621" cy="176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39" descr="Greenplum Database">
            <a:extLst>
              <a:ext uri="{FF2B5EF4-FFF2-40B4-BE49-F238E27FC236}">
                <a16:creationId xmlns:a16="http://schemas.microsoft.com/office/drawing/2014/main" id="{2BE2A96F-61FD-4C08-A215-F17B86378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204" y="4994622"/>
            <a:ext cx="679270" cy="168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0" descr="Vertica - Wikipedia">
            <a:extLst>
              <a:ext uri="{FF2B5EF4-FFF2-40B4-BE49-F238E27FC236}">
                <a16:creationId xmlns:a16="http://schemas.microsoft.com/office/drawing/2014/main" id="{9F9622B0-0DA2-4938-BFAB-087DCB45EF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45" t="42289" r="21845" b="42289"/>
          <a:stretch/>
        </p:blipFill>
        <p:spPr bwMode="auto">
          <a:xfrm>
            <a:off x="2895512" y="5376661"/>
            <a:ext cx="670310" cy="14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549CC079-6279-4622-83CE-1ED02A32FAA8}"/>
              </a:ext>
            </a:extLst>
          </p:cNvPr>
          <p:cNvSpPr txBox="1"/>
          <p:nvPr/>
        </p:nvSpPr>
        <p:spPr>
          <a:xfrm>
            <a:off x="554736" y="5433714"/>
            <a:ext cx="195333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7. Data Marts</a:t>
            </a:r>
            <a:endParaRPr lang="tr-TR" sz="1400" dirty="0"/>
          </a:p>
        </p:txBody>
      </p:sp>
      <p:pic>
        <p:nvPicPr>
          <p:cNvPr id="54" name="Picture 18">
            <a:extLst>
              <a:ext uri="{FF2B5EF4-FFF2-40B4-BE49-F238E27FC236}">
                <a16:creationId xmlns:a16="http://schemas.microsoft.com/office/drawing/2014/main" id="{8C617FF8-C5E3-4F49-AA45-0405CE959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614" y="2374522"/>
            <a:ext cx="679650" cy="35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BC7AAAC-1EE1-435A-8860-AB1664DC9B6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05998" y="1478811"/>
            <a:ext cx="1003853" cy="342643"/>
          </a:xfrm>
          <a:prstGeom prst="rect">
            <a:avLst/>
          </a:prstGeom>
        </p:spPr>
      </p:pic>
      <p:pic>
        <p:nvPicPr>
          <p:cNvPr id="444423" name="Picture 7">
            <a:extLst>
              <a:ext uri="{FF2B5EF4-FFF2-40B4-BE49-F238E27FC236}">
                <a16:creationId xmlns:a16="http://schemas.microsoft.com/office/drawing/2014/main" id="{93884340-78A0-4678-8362-7BF4B34D2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446" y="1478811"/>
            <a:ext cx="841182" cy="325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4425" name="Picture 9">
            <a:extLst>
              <a:ext uri="{FF2B5EF4-FFF2-40B4-BE49-F238E27FC236}">
                <a16:creationId xmlns:a16="http://schemas.microsoft.com/office/drawing/2014/main" id="{D9552937-A2D6-4F4A-BA3D-82A161484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223" y="1478811"/>
            <a:ext cx="1143000" cy="23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89B5EAF-1F99-4574-8187-863AEDACBD26}"/>
              </a:ext>
            </a:extLst>
          </p:cNvPr>
          <p:cNvSpPr txBox="1">
            <a:spLocks/>
          </p:cNvSpPr>
          <p:nvPr/>
        </p:nvSpPr>
        <p:spPr>
          <a:xfrm>
            <a:off x="6825151" y="1504670"/>
            <a:ext cx="1796578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All options for </a:t>
            </a:r>
            <a:r>
              <a:rPr lang="en-US" sz="1000" dirty="0" err="1"/>
              <a:t>differrent</a:t>
            </a:r>
            <a:r>
              <a:rPr lang="en-US" sz="1000" dirty="0"/>
              <a:t> purposes (Avro – ingestion, ORC – SQL, Parquet – Spark)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0738EDAD-11F5-45F4-A80C-6434F5A324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0828" y="3127160"/>
            <a:ext cx="485222" cy="436700"/>
          </a:xfrm>
          <a:prstGeom prst="rect">
            <a:avLst/>
          </a:prstGeom>
        </p:spPr>
      </p:pic>
      <p:pic>
        <p:nvPicPr>
          <p:cNvPr id="444429" name="Picture 13" descr="Amazon AWS S3 Bucket für Pimcore Assets">
            <a:extLst>
              <a:ext uri="{FF2B5EF4-FFF2-40B4-BE49-F238E27FC236}">
                <a16:creationId xmlns:a16="http://schemas.microsoft.com/office/drawing/2014/main" id="{55FAF753-1189-44F9-8A5E-629E37731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446" y="3912145"/>
            <a:ext cx="1432504" cy="49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4" descr="logo-oracle-database - iData">
            <a:extLst>
              <a:ext uri="{FF2B5EF4-FFF2-40B4-BE49-F238E27FC236}">
                <a16:creationId xmlns:a16="http://schemas.microsoft.com/office/drawing/2014/main" id="{7A3E3353-99E0-4AC4-B797-5264BE8CB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187" y="4902389"/>
            <a:ext cx="705622" cy="352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">
            <a:extLst>
              <a:ext uri="{FF2B5EF4-FFF2-40B4-BE49-F238E27FC236}">
                <a16:creationId xmlns:a16="http://schemas.microsoft.com/office/drawing/2014/main" id="{D8089DA3-C56B-4163-A690-9ED61B0E7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240" y="5269604"/>
            <a:ext cx="344987" cy="355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8">
            <a:extLst>
              <a:ext uri="{FF2B5EF4-FFF2-40B4-BE49-F238E27FC236}">
                <a16:creationId xmlns:a16="http://schemas.microsoft.com/office/drawing/2014/main" id="{CB2DAD33-1018-41FA-B955-DC55AEFBB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645" y="5314421"/>
            <a:ext cx="329592" cy="26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6">
            <a:extLst>
              <a:ext uri="{FF2B5EF4-FFF2-40B4-BE49-F238E27FC236}">
                <a16:creationId xmlns:a16="http://schemas.microsoft.com/office/drawing/2014/main" id="{09C4C343-9C12-4CFE-B963-FD88ACCEAC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7" t="19521" r="10127" b="32082"/>
          <a:stretch/>
        </p:blipFill>
        <p:spPr bwMode="auto">
          <a:xfrm>
            <a:off x="5123656" y="5343943"/>
            <a:ext cx="1060609" cy="207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4" descr="logo-oracle-database - iData">
            <a:extLst>
              <a:ext uri="{FF2B5EF4-FFF2-40B4-BE49-F238E27FC236}">
                <a16:creationId xmlns:a16="http://schemas.microsoft.com/office/drawing/2014/main" id="{FC2B8A54-FF56-487F-9B9D-7D0848E71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629" y="4902389"/>
            <a:ext cx="705622" cy="352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D842AEE-1490-42F3-84A4-23AEC691591A}"/>
              </a:ext>
            </a:extLst>
          </p:cNvPr>
          <p:cNvCxnSpPr>
            <a:cxnSpLocks/>
          </p:cNvCxnSpPr>
          <p:nvPr/>
        </p:nvCxnSpPr>
        <p:spPr>
          <a:xfrm>
            <a:off x="554736" y="4797064"/>
            <a:ext cx="11082526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FFCF7EA-7EEF-4F87-81D9-1E706A9083CE}"/>
              </a:ext>
            </a:extLst>
          </p:cNvPr>
          <p:cNvCxnSpPr>
            <a:cxnSpLocks/>
          </p:cNvCxnSpPr>
          <p:nvPr/>
        </p:nvCxnSpPr>
        <p:spPr>
          <a:xfrm>
            <a:off x="554736" y="3760745"/>
            <a:ext cx="8066993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0A3DCFA-0B72-4897-864B-E8FAAC50173E}"/>
              </a:ext>
            </a:extLst>
          </p:cNvPr>
          <p:cNvCxnSpPr>
            <a:cxnSpLocks/>
          </p:cNvCxnSpPr>
          <p:nvPr/>
        </p:nvCxnSpPr>
        <p:spPr>
          <a:xfrm>
            <a:off x="554736" y="2942139"/>
            <a:ext cx="8066993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F903CB1-D6C5-48A1-A30C-ABA3A58358E9}"/>
              </a:ext>
            </a:extLst>
          </p:cNvPr>
          <p:cNvCxnSpPr>
            <a:cxnSpLocks/>
          </p:cNvCxnSpPr>
          <p:nvPr/>
        </p:nvCxnSpPr>
        <p:spPr>
          <a:xfrm>
            <a:off x="554736" y="2149661"/>
            <a:ext cx="8066993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002F19A-2211-4C5B-B8B9-D284603E99E8}"/>
              </a:ext>
            </a:extLst>
          </p:cNvPr>
          <p:cNvSpPr txBox="1">
            <a:spLocks/>
          </p:cNvSpPr>
          <p:nvPr/>
        </p:nvSpPr>
        <p:spPr>
          <a:xfrm>
            <a:off x="6825151" y="5279825"/>
            <a:ext cx="179657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Currently used at the Bank with already procured licenses, performance may be improved using multi-tiered storage and other optimization methods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C8F0592-A2E1-4365-B37F-80F4E7554500}"/>
              </a:ext>
            </a:extLst>
          </p:cNvPr>
          <p:cNvSpPr txBox="1">
            <a:spLocks/>
          </p:cNvSpPr>
          <p:nvPr/>
        </p:nvSpPr>
        <p:spPr>
          <a:xfrm>
            <a:off x="8819656" y="1504670"/>
            <a:ext cx="2817606" cy="32227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No license procurement required, sizing, </a:t>
            </a:r>
            <a:r>
              <a:rPr lang="en-US" sz="1000" dirty="0" err="1"/>
              <a:t>roadmapping</a:t>
            </a:r>
            <a:r>
              <a:rPr lang="en-US" sz="1000" dirty="0"/>
              <a:t> and cost estimation with hardware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BD3C18C-65E6-440E-BCB7-8BFE1DEC8327}"/>
              </a:ext>
            </a:extLst>
          </p:cNvPr>
          <p:cNvSpPr txBox="1">
            <a:spLocks/>
          </p:cNvSpPr>
          <p:nvPr/>
        </p:nvSpPr>
        <p:spPr>
          <a:xfrm>
            <a:off x="8819656" y="4888721"/>
            <a:ext cx="2817606" cy="11605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defPPr>
              <a:defRPr lang="en-DE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00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sz="160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sz="160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sz="160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dirty="0"/>
              <a:t>Needs to be sized to determine procurement need, optimization methods to be discussed and implemented</a:t>
            </a:r>
          </a:p>
        </p:txBody>
      </p:sp>
      <p:grpSp>
        <p:nvGrpSpPr>
          <p:cNvPr id="444424" name="Group 444423">
            <a:extLst>
              <a:ext uri="{FF2B5EF4-FFF2-40B4-BE49-F238E27FC236}">
                <a16:creationId xmlns:a16="http://schemas.microsoft.com/office/drawing/2014/main" id="{AFB908B2-46CF-46C6-8D0F-22B3D5E7FD95}"/>
              </a:ext>
            </a:extLst>
          </p:cNvPr>
          <p:cNvGrpSpPr/>
          <p:nvPr/>
        </p:nvGrpSpPr>
        <p:grpSpPr>
          <a:xfrm>
            <a:off x="9413407" y="72375"/>
            <a:ext cx="2223855" cy="731990"/>
            <a:chOff x="9413407" y="72375"/>
            <a:chExt cx="2223855" cy="731990"/>
          </a:xfrm>
        </p:grpSpPr>
        <p:grpSp>
          <p:nvGrpSpPr>
            <p:cNvPr id="444421" name="Group 444420">
              <a:extLst>
                <a:ext uri="{FF2B5EF4-FFF2-40B4-BE49-F238E27FC236}">
                  <a16:creationId xmlns:a16="http://schemas.microsoft.com/office/drawing/2014/main" id="{0225D6B8-BB78-4D94-98BA-4EDBD6E52926}"/>
                </a:ext>
              </a:extLst>
            </p:cNvPr>
            <p:cNvGrpSpPr/>
            <p:nvPr/>
          </p:nvGrpSpPr>
          <p:grpSpPr>
            <a:xfrm>
              <a:off x="9413407" y="346037"/>
              <a:ext cx="2223855" cy="184666"/>
              <a:chOff x="252549" y="6068076"/>
              <a:chExt cx="2223855" cy="184666"/>
            </a:xfrm>
          </p:grpSpPr>
          <p:sp>
            <p:nvSpPr>
              <p:cNvPr id="444419" name="Rectangle 444418">
                <a:extLst>
                  <a:ext uri="{FF2B5EF4-FFF2-40B4-BE49-F238E27FC236}">
                    <a16:creationId xmlns:a16="http://schemas.microsoft.com/office/drawing/2014/main" id="{36FD9A0D-02AD-4370-9E05-F35574504F3C}"/>
                  </a:ext>
                </a:extLst>
              </p:cNvPr>
              <p:cNvSpPr/>
              <p:nvPr/>
            </p:nvSpPr>
            <p:spPr>
              <a:xfrm>
                <a:off x="252549" y="6082031"/>
                <a:ext cx="156755" cy="15675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tr-TR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444420" name="TextBox 444419">
                <a:extLst>
                  <a:ext uri="{FF2B5EF4-FFF2-40B4-BE49-F238E27FC236}">
                    <a16:creationId xmlns:a16="http://schemas.microsoft.com/office/drawing/2014/main" id="{9966CC06-B4C5-463E-9C05-B62F74ED6918}"/>
                  </a:ext>
                </a:extLst>
              </p:cNvPr>
              <p:cNvSpPr txBox="1"/>
              <p:nvPr/>
            </p:nvSpPr>
            <p:spPr>
              <a:xfrm>
                <a:off x="510481" y="6068076"/>
                <a:ext cx="1965923" cy="18466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Segoe UI" panose="020B0502040204020203" pitchFamily="34" charset="0"/>
                  <a:buChar char="​"/>
                  <a:defRPr lang="en-US" sz="1600" dirty="0">
                    <a:cs typeface="Arial" panose="020B0604020202020204" pitchFamily="34" charset="0"/>
                  </a:defRPr>
                </a:lvl1pPr>
                <a:lvl2pPr marL="182880" lvl="1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Wingdings" panose="05000000000000000000" pitchFamily="2" charset="2"/>
                  <a:buChar char=""/>
                  <a:defRPr lang="en-US" sz="1600" dirty="0"/>
                </a:lvl2pPr>
                <a:lvl3pPr marL="365760" lvl="2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Arial" panose="020B0604020202020204" pitchFamily="34" charset="0"/>
                  <a:buChar char="‒"/>
                  <a:defRPr lang="en-US" sz="1600" dirty="0"/>
                </a:lvl3pPr>
                <a:lvl4pPr marL="548640" lvl="3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lang="en-US" sz="1600" dirty="0"/>
                </a:lvl4pPr>
                <a:lvl5pPr marL="731520" lvl="4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̶"/>
                  <a:defRPr lang="en-US" sz="1600" dirty="0"/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en-US" sz="1200" dirty="0"/>
                  <a:t>Procurement may be needed</a:t>
                </a:r>
                <a:endParaRPr lang="tr-TR" sz="1200" dirty="0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20169BEE-6A54-46C3-86CD-AB0AEA95968F}"/>
                </a:ext>
              </a:extLst>
            </p:cNvPr>
            <p:cNvGrpSpPr/>
            <p:nvPr/>
          </p:nvGrpSpPr>
          <p:grpSpPr>
            <a:xfrm>
              <a:off x="9413407" y="619699"/>
              <a:ext cx="1944356" cy="184666"/>
              <a:chOff x="252549" y="6068076"/>
              <a:chExt cx="1944356" cy="184666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0EC783A5-A303-45D0-85A3-A789F382F411}"/>
                  </a:ext>
                </a:extLst>
              </p:cNvPr>
              <p:cNvSpPr/>
              <p:nvPr/>
            </p:nvSpPr>
            <p:spPr>
              <a:xfrm>
                <a:off x="252549" y="6082031"/>
                <a:ext cx="156755" cy="15675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tr-TR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EE7A09DD-4DD4-482E-80AC-395849F5A118}"/>
                  </a:ext>
                </a:extLst>
              </p:cNvPr>
              <p:cNvSpPr txBox="1"/>
              <p:nvPr/>
            </p:nvSpPr>
            <p:spPr>
              <a:xfrm>
                <a:off x="510481" y="6068076"/>
                <a:ext cx="1686424" cy="18466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Segoe UI" panose="020B0502040204020203" pitchFamily="34" charset="0"/>
                  <a:buChar char="​"/>
                  <a:defRPr lang="en-US" sz="1600" dirty="0">
                    <a:cs typeface="Arial" panose="020B0604020202020204" pitchFamily="34" charset="0"/>
                  </a:defRPr>
                </a:lvl1pPr>
                <a:lvl2pPr marL="182880" lvl="1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Wingdings" panose="05000000000000000000" pitchFamily="2" charset="2"/>
                  <a:buChar char=""/>
                  <a:defRPr lang="en-US" sz="1600" dirty="0"/>
                </a:lvl2pPr>
                <a:lvl3pPr marL="365760" lvl="2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Arial" panose="020B0604020202020204" pitchFamily="34" charset="0"/>
                  <a:buChar char="‒"/>
                  <a:defRPr lang="en-US" sz="1600" dirty="0"/>
                </a:lvl3pPr>
                <a:lvl4pPr marL="548640" lvl="3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lang="en-US" sz="1600" dirty="0"/>
                </a:lvl4pPr>
                <a:lvl5pPr marL="731520" lvl="4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̶"/>
                  <a:defRPr lang="en-US" sz="1600" dirty="0"/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en-US" sz="1200" dirty="0"/>
                  <a:t>Procurement not needed</a:t>
                </a:r>
                <a:endParaRPr lang="tr-TR" sz="1200" dirty="0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5964B3EF-0325-4ACB-8DAB-68BC42443459}"/>
                </a:ext>
              </a:extLst>
            </p:cNvPr>
            <p:cNvGrpSpPr/>
            <p:nvPr/>
          </p:nvGrpSpPr>
          <p:grpSpPr>
            <a:xfrm>
              <a:off x="9413407" y="72375"/>
              <a:ext cx="543267" cy="184666"/>
              <a:chOff x="252549" y="6068076"/>
              <a:chExt cx="543267" cy="184666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BA3627BD-50D6-4EC2-8106-37075C92D561}"/>
                  </a:ext>
                </a:extLst>
              </p:cNvPr>
              <p:cNvSpPr/>
              <p:nvPr/>
            </p:nvSpPr>
            <p:spPr>
              <a:xfrm>
                <a:off x="252549" y="6082031"/>
                <a:ext cx="156755" cy="15675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tr-TR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C5D4A03-32D8-42FB-B9BF-BE3D921A07F1}"/>
                  </a:ext>
                </a:extLst>
              </p:cNvPr>
              <p:cNvSpPr txBox="1"/>
              <p:nvPr/>
            </p:nvSpPr>
            <p:spPr>
              <a:xfrm>
                <a:off x="510481" y="6068076"/>
                <a:ext cx="285335" cy="18466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Segoe UI" panose="020B0502040204020203" pitchFamily="34" charset="0"/>
                  <a:buChar char="​"/>
                  <a:defRPr lang="en-US" sz="1600" dirty="0">
                    <a:cs typeface="Arial" panose="020B0604020202020204" pitchFamily="34" charset="0"/>
                  </a:defRPr>
                </a:lvl1pPr>
                <a:lvl2pPr marL="182880" lvl="1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Wingdings" panose="05000000000000000000" pitchFamily="2" charset="2"/>
                  <a:buChar char=""/>
                  <a:defRPr lang="en-US" sz="1600" dirty="0"/>
                </a:lvl2pPr>
                <a:lvl3pPr marL="365760" lvl="2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Arial" panose="020B0604020202020204" pitchFamily="34" charset="0"/>
                  <a:buChar char="‒"/>
                  <a:defRPr lang="en-US" sz="1600" dirty="0"/>
                </a:lvl3pPr>
                <a:lvl4pPr marL="548640" lvl="3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lang="en-US" sz="1600" dirty="0"/>
                </a:lvl4pPr>
                <a:lvl5pPr marL="731520" lvl="4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̶"/>
                  <a:defRPr lang="en-US" sz="1600" dirty="0"/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en-US" sz="1200" dirty="0"/>
                  <a:t>TBD</a:t>
                </a:r>
                <a:endParaRPr lang="tr-TR" sz="1200" dirty="0"/>
              </a:p>
            </p:txBody>
          </p:sp>
        </p:grpSp>
      </p:grpSp>
      <p:pic>
        <p:nvPicPr>
          <p:cNvPr id="1026" name="Picture 2" descr="hdfs-logo-square | MuleSoft Blog">
            <a:extLst>
              <a:ext uri="{FF2B5EF4-FFF2-40B4-BE49-F238E27FC236}">
                <a16:creationId xmlns:a16="http://schemas.microsoft.com/office/drawing/2014/main" id="{D57E3423-863F-2285-E083-12E939EE42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36" b="32736"/>
          <a:stretch/>
        </p:blipFill>
        <p:spPr bwMode="auto">
          <a:xfrm>
            <a:off x="7181094" y="3955213"/>
            <a:ext cx="1084689" cy="37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hdfs-logo-square | MuleSoft Blog">
            <a:extLst>
              <a:ext uri="{FF2B5EF4-FFF2-40B4-BE49-F238E27FC236}">
                <a16:creationId xmlns:a16="http://schemas.microsoft.com/office/drawing/2014/main" id="{832DBF49-E4D7-B111-5636-D0107FDEBB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36" b="32736"/>
          <a:stretch/>
        </p:blipFill>
        <p:spPr bwMode="auto">
          <a:xfrm>
            <a:off x="2818644" y="4079038"/>
            <a:ext cx="1084689" cy="37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nIO | Understand the guidelines for using MinIO's marks">
            <a:extLst>
              <a:ext uri="{FF2B5EF4-FFF2-40B4-BE49-F238E27FC236}">
                <a16:creationId xmlns:a16="http://schemas.microsoft.com/office/drawing/2014/main" id="{C8C0CB2D-71B6-003F-0E66-0CE699CAE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8564" y="4212334"/>
            <a:ext cx="592575" cy="89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eph.io — Logo Usage">
            <a:extLst>
              <a:ext uri="{FF2B5EF4-FFF2-40B4-BE49-F238E27FC236}">
                <a16:creationId xmlns:a16="http://schemas.microsoft.com/office/drawing/2014/main" id="{80FD94B5-B816-51ED-917B-799EF0299A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70" t="22322" r="10670" b="22322"/>
          <a:stretch/>
        </p:blipFill>
        <p:spPr bwMode="auto">
          <a:xfrm>
            <a:off x="5031737" y="4337675"/>
            <a:ext cx="635019" cy="20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008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35C45BF-69A6-4A0C-AE1F-C0E1DC43CB1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1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35C45BF-69A6-4A0C-AE1F-C0E1DC43CB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2. Slide Title">
            <a:extLst>
              <a:ext uri="{FF2B5EF4-FFF2-40B4-BE49-F238E27FC236}">
                <a16:creationId xmlns:a16="http://schemas.microsoft.com/office/drawing/2014/main" id="{CBF2647B-5343-4A24-B473-13BDCA744311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/>
          <a:lstStyle/>
          <a:p>
            <a:r>
              <a:rPr lang="en-US" dirty="0"/>
              <a:t>Overall tech stack landscape</a:t>
            </a:r>
            <a:endParaRPr lang="tr-TR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99FD5A-F801-4464-BA58-A4DA2EE2C94C}"/>
              </a:ext>
            </a:extLst>
          </p:cNvPr>
          <p:cNvGrpSpPr/>
          <p:nvPr/>
        </p:nvGrpSpPr>
        <p:grpSpPr>
          <a:xfrm>
            <a:off x="554736" y="1109481"/>
            <a:ext cx="1953334" cy="246221"/>
            <a:chOff x="554736" y="1422991"/>
            <a:chExt cx="1796578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F9F2869-9AAC-4A5A-A5F7-D8A4D94D2146}"/>
                </a:ext>
              </a:extLst>
            </p:cNvPr>
            <p:cNvSpPr txBox="1"/>
            <p:nvPr/>
          </p:nvSpPr>
          <p:spPr>
            <a:xfrm>
              <a:off x="554736" y="1422991"/>
              <a:ext cx="1796578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/>
                <a:t>Component</a:t>
              </a:r>
              <a:endParaRPr lang="tr-TR" sz="1400" b="1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53B8334-9034-45A6-9AB7-7B116E819F60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6" y="1669212"/>
              <a:ext cx="1796578" cy="0"/>
            </a:xfrm>
            <a:prstGeom prst="line">
              <a:avLst/>
            </a:prstGeom>
            <a:ln w="635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403F53-5C74-485F-BE7A-A9AA7956DCF8}"/>
              </a:ext>
            </a:extLst>
          </p:cNvPr>
          <p:cNvGrpSpPr/>
          <p:nvPr/>
        </p:nvGrpSpPr>
        <p:grpSpPr>
          <a:xfrm>
            <a:off x="2705998" y="1109480"/>
            <a:ext cx="3921225" cy="246221"/>
            <a:chOff x="554736" y="1422991"/>
            <a:chExt cx="1796578" cy="24622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01367F3-766C-4DF6-A241-83A4A01EDB87}"/>
                </a:ext>
              </a:extLst>
            </p:cNvPr>
            <p:cNvSpPr txBox="1"/>
            <p:nvPr/>
          </p:nvSpPr>
          <p:spPr>
            <a:xfrm>
              <a:off x="554736" y="1422991"/>
              <a:ext cx="1796578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/>
                <a:t>Options</a:t>
              </a:r>
              <a:endParaRPr lang="tr-TR" sz="1400" b="1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407D54-1F8E-4DAA-989E-5A89F29ACEFA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6" y="1669212"/>
              <a:ext cx="1796578" cy="0"/>
            </a:xfrm>
            <a:prstGeom prst="line">
              <a:avLst/>
            </a:prstGeom>
            <a:ln w="635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15B62A-9B41-45C6-82BB-7BD5D401D351}"/>
              </a:ext>
            </a:extLst>
          </p:cNvPr>
          <p:cNvGrpSpPr/>
          <p:nvPr/>
        </p:nvGrpSpPr>
        <p:grpSpPr>
          <a:xfrm>
            <a:off x="6825151" y="1109479"/>
            <a:ext cx="1796578" cy="246221"/>
            <a:chOff x="554736" y="1422991"/>
            <a:chExt cx="1796578" cy="2462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2872610-CF2F-4321-923D-B8C43E36A3A0}"/>
                </a:ext>
              </a:extLst>
            </p:cNvPr>
            <p:cNvSpPr txBox="1"/>
            <p:nvPr/>
          </p:nvSpPr>
          <p:spPr>
            <a:xfrm>
              <a:off x="554736" y="1422991"/>
              <a:ext cx="1796578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/>
                <a:t>Choice</a:t>
              </a:r>
              <a:endParaRPr lang="tr-TR" sz="1400" b="1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7EF52B0-416F-479C-B99D-6F8C4D0006D8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6" y="1669212"/>
              <a:ext cx="1796578" cy="0"/>
            </a:xfrm>
            <a:prstGeom prst="line">
              <a:avLst/>
            </a:prstGeom>
            <a:ln w="635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3FC6BFF-C48D-451F-B8C1-15439907AB0D}"/>
              </a:ext>
            </a:extLst>
          </p:cNvPr>
          <p:cNvGrpSpPr/>
          <p:nvPr/>
        </p:nvGrpSpPr>
        <p:grpSpPr>
          <a:xfrm>
            <a:off x="8819656" y="1109479"/>
            <a:ext cx="2817607" cy="246221"/>
            <a:chOff x="554736" y="1422991"/>
            <a:chExt cx="1796578" cy="24622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93B8A33-70B8-406E-879F-5B0042490049}"/>
                </a:ext>
              </a:extLst>
            </p:cNvPr>
            <p:cNvSpPr txBox="1"/>
            <p:nvPr/>
          </p:nvSpPr>
          <p:spPr>
            <a:xfrm>
              <a:off x="554736" y="1422991"/>
              <a:ext cx="1796578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/>
                <a:t>Next Steps</a:t>
              </a:r>
              <a:endParaRPr lang="tr-TR" sz="1400" b="1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7B6C108-0CEC-4D72-9A42-7AD541CD6E93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6" y="1669212"/>
              <a:ext cx="1796578" cy="0"/>
            </a:xfrm>
            <a:prstGeom prst="line">
              <a:avLst/>
            </a:prstGeom>
            <a:ln w="635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F1A150A-08D9-4B9F-B3A5-F83FA439EAF0}"/>
              </a:ext>
            </a:extLst>
          </p:cNvPr>
          <p:cNvSpPr txBox="1"/>
          <p:nvPr/>
        </p:nvSpPr>
        <p:spPr>
          <a:xfrm>
            <a:off x="554736" y="1478811"/>
            <a:ext cx="195333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8. Microservices</a:t>
            </a:r>
            <a:endParaRPr lang="tr-TR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EC95F3-C2F2-470A-8A3F-C387B2F26F40}"/>
              </a:ext>
            </a:extLst>
          </p:cNvPr>
          <p:cNvSpPr txBox="1"/>
          <p:nvPr/>
        </p:nvSpPr>
        <p:spPr>
          <a:xfrm>
            <a:off x="554736" y="2302378"/>
            <a:ext cx="1953335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9. Sandboxes &amp; Advanced Analytics (</a:t>
            </a:r>
            <a:r>
              <a:rPr lang="en-US" sz="1400" dirty="0" err="1"/>
              <a:t>MLOps</a:t>
            </a:r>
            <a:r>
              <a:rPr lang="en-US" sz="1400" dirty="0"/>
              <a:t>)</a:t>
            </a:r>
            <a:endParaRPr lang="tr-TR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9A1EDC-BA51-4EFD-A274-A29CC3D74BEB}"/>
              </a:ext>
            </a:extLst>
          </p:cNvPr>
          <p:cNvSpPr txBox="1"/>
          <p:nvPr/>
        </p:nvSpPr>
        <p:spPr>
          <a:xfrm>
            <a:off x="554736" y="3125945"/>
            <a:ext cx="195333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10. Streaming</a:t>
            </a:r>
            <a:endParaRPr lang="tr-TR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5CB8A4-79A0-4859-865F-B9BF931B3560}"/>
              </a:ext>
            </a:extLst>
          </p:cNvPr>
          <p:cNvSpPr txBox="1"/>
          <p:nvPr/>
        </p:nvSpPr>
        <p:spPr>
          <a:xfrm>
            <a:off x="554736" y="4219479"/>
            <a:ext cx="195333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11. Data Virtualization</a:t>
            </a:r>
            <a:endParaRPr lang="tr-TR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2F8F8F-6FCD-48D1-9792-3AA8B656D6A9}"/>
              </a:ext>
            </a:extLst>
          </p:cNvPr>
          <p:cNvSpPr txBox="1"/>
          <p:nvPr/>
        </p:nvSpPr>
        <p:spPr>
          <a:xfrm>
            <a:off x="554736" y="4868872"/>
            <a:ext cx="195333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12. In-Memory Database</a:t>
            </a:r>
            <a:endParaRPr lang="tr-TR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AF4422-6362-4D09-9550-30473B6CA194}"/>
              </a:ext>
            </a:extLst>
          </p:cNvPr>
          <p:cNvSpPr txBox="1"/>
          <p:nvPr/>
        </p:nvSpPr>
        <p:spPr>
          <a:xfrm>
            <a:off x="554736" y="5692439"/>
            <a:ext cx="195333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13. Reporting &amp; BI</a:t>
            </a:r>
            <a:endParaRPr lang="tr-TR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49CC079-6279-4622-83CE-1ED02A32FAA8}"/>
              </a:ext>
            </a:extLst>
          </p:cNvPr>
          <p:cNvSpPr txBox="1"/>
          <p:nvPr/>
        </p:nvSpPr>
        <p:spPr>
          <a:xfrm>
            <a:off x="554736" y="6195664"/>
            <a:ext cx="1953335" cy="43088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14. Decision Management</a:t>
            </a:r>
            <a:endParaRPr lang="tr-TR" sz="1400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D842AEE-1490-42F3-84A4-23AEC691591A}"/>
              </a:ext>
            </a:extLst>
          </p:cNvPr>
          <p:cNvCxnSpPr>
            <a:cxnSpLocks/>
          </p:cNvCxnSpPr>
          <p:nvPr/>
        </p:nvCxnSpPr>
        <p:spPr>
          <a:xfrm>
            <a:off x="554736" y="4744809"/>
            <a:ext cx="11082527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FFCF7EA-7EEF-4F87-81D9-1E706A9083CE}"/>
              </a:ext>
            </a:extLst>
          </p:cNvPr>
          <p:cNvCxnSpPr>
            <a:cxnSpLocks/>
          </p:cNvCxnSpPr>
          <p:nvPr/>
        </p:nvCxnSpPr>
        <p:spPr>
          <a:xfrm>
            <a:off x="554736" y="4143925"/>
            <a:ext cx="11082527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0A3DCFA-0B72-4897-864B-E8FAAC50173E}"/>
              </a:ext>
            </a:extLst>
          </p:cNvPr>
          <p:cNvCxnSpPr>
            <a:cxnSpLocks/>
          </p:cNvCxnSpPr>
          <p:nvPr/>
        </p:nvCxnSpPr>
        <p:spPr>
          <a:xfrm>
            <a:off x="554736" y="3064062"/>
            <a:ext cx="11082527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F903CB1-D6C5-48A1-A30C-ABA3A58358E9}"/>
              </a:ext>
            </a:extLst>
          </p:cNvPr>
          <p:cNvCxnSpPr>
            <a:cxnSpLocks/>
          </p:cNvCxnSpPr>
          <p:nvPr/>
        </p:nvCxnSpPr>
        <p:spPr>
          <a:xfrm>
            <a:off x="554736" y="2149661"/>
            <a:ext cx="11082527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5445" name="Picture 5">
            <a:extLst>
              <a:ext uri="{FF2B5EF4-FFF2-40B4-BE49-F238E27FC236}">
                <a16:creationId xmlns:a16="http://schemas.microsoft.com/office/drawing/2014/main" id="{ABE24C62-D026-4730-A95A-6C54B093C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998" y="1478811"/>
            <a:ext cx="1106031" cy="327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5447" name="Picture 7">
            <a:extLst>
              <a:ext uri="{FF2B5EF4-FFF2-40B4-BE49-F238E27FC236}">
                <a16:creationId xmlns:a16="http://schemas.microsoft.com/office/drawing/2014/main" id="{7D76E39F-A520-4A99-9AC7-EFA22266E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4363" y="1478811"/>
            <a:ext cx="587420" cy="456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5">
            <a:extLst>
              <a:ext uri="{FF2B5EF4-FFF2-40B4-BE49-F238E27FC236}">
                <a16:creationId xmlns:a16="http://schemas.microsoft.com/office/drawing/2014/main" id="{6AFE389C-059A-456B-A031-F8684B205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424" y="1478811"/>
            <a:ext cx="1106031" cy="327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888DD382-C11C-47DB-9F7C-93F6A32CF921}"/>
              </a:ext>
            </a:extLst>
          </p:cNvPr>
          <p:cNvSpPr txBox="1">
            <a:spLocks/>
          </p:cNvSpPr>
          <p:nvPr/>
        </p:nvSpPr>
        <p:spPr>
          <a:xfrm>
            <a:off x="6825151" y="1775243"/>
            <a:ext cx="1796578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Currently used at the Bank, has superior integration options</a:t>
            </a:r>
          </a:p>
        </p:txBody>
      </p:sp>
      <p:pic>
        <p:nvPicPr>
          <p:cNvPr id="445451" name="Picture 11" descr="Databricks - Wikipedia">
            <a:extLst>
              <a:ext uri="{FF2B5EF4-FFF2-40B4-BE49-F238E27FC236}">
                <a16:creationId xmlns:a16="http://schemas.microsoft.com/office/drawing/2014/main" id="{07B89D7F-0CC6-4C0D-AC18-7AC51AC11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998" y="2302378"/>
            <a:ext cx="1020147" cy="53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5453" name="Picture 13" descr="How To Convert Sagemaker GroundTruth Manifest to CreateML JSON">
            <a:extLst>
              <a:ext uri="{FF2B5EF4-FFF2-40B4-BE49-F238E27FC236}">
                <a16:creationId xmlns:a16="http://schemas.microsoft.com/office/drawing/2014/main" id="{C534DF4D-2D64-4A6F-820A-02F9DE1196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7" t="23842" r="10457" b="23842"/>
          <a:stretch/>
        </p:blipFill>
        <p:spPr bwMode="auto">
          <a:xfrm>
            <a:off x="3871933" y="2352659"/>
            <a:ext cx="1315239" cy="435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5455" name="Picture 15" descr="Vertex AI Workbench. Vertex AI is a fully managed, unified… | by karthik  keyan | The Cloudside View">
            <a:extLst>
              <a:ext uri="{FF2B5EF4-FFF2-40B4-BE49-F238E27FC236}">
                <a16:creationId xmlns:a16="http://schemas.microsoft.com/office/drawing/2014/main" id="{5AE64CA1-F6CF-4F34-AC99-0B140C9523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23" t="15334" r="30223" b="15334"/>
          <a:stretch/>
        </p:blipFill>
        <p:spPr bwMode="auto">
          <a:xfrm>
            <a:off x="5332959" y="2341312"/>
            <a:ext cx="411383" cy="45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11" descr="Databricks - Wikipedia">
            <a:extLst>
              <a:ext uri="{FF2B5EF4-FFF2-40B4-BE49-F238E27FC236}">
                <a16:creationId xmlns:a16="http://schemas.microsoft.com/office/drawing/2014/main" id="{3C200C71-F4C5-4FD6-80B2-967FFB3A7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365" y="2302378"/>
            <a:ext cx="1020147" cy="53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EB31C222-ACF0-4EC5-84F2-8FAAC3A20D25}"/>
              </a:ext>
            </a:extLst>
          </p:cNvPr>
          <p:cNvSpPr txBox="1">
            <a:spLocks/>
          </p:cNvSpPr>
          <p:nvPr/>
        </p:nvSpPr>
        <p:spPr>
          <a:xfrm>
            <a:off x="6825151" y="2855057"/>
            <a:ext cx="1796578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Based on POC results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93501B5-6F7C-4C19-9697-6CDC5EFD3065}"/>
              </a:ext>
            </a:extLst>
          </p:cNvPr>
          <p:cNvSpPr txBox="1">
            <a:spLocks/>
          </p:cNvSpPr>
          <p:nvPr/>
        </p:nvSpPr>
        <p:spPr>
          <a:xfrm>
            <a:off x="8819656" y="2302378"/>
            <a:ext cx="2817606" cy="644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Need to decide on procurement based on pilot use case implementation cost compared to discounted procured cost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C7C7E2E-8903-4BD9-BA44-41D38A2A2715}"/>
              </a:ext>
            </a:extLst>
          </p:cNvPr>
          <p:cNvSpPr txBox="1">
            <a:spLocks/>
          </p:cNvSpPr>
          <p:nvPr/>
        </p:nvSpPr>
        <p:spPr>
          <a:xfrm>
            <a:off x="8819656" y="1504670"/>
            <a:ext cx="2817606" cy="5783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No license procurement required, sizing, </a:t>
            </a:r>
            <a:r>
              <a:rPr lang="en-US" sz="1000" dirty="0" err="1"/>
              <a:t>roadmapping</a:t>
            </a:r>
            <a:r>
              <a:rPr lang="en-US" sz="1000" dirty="0"/>
              <a:t> and cost estimation with hardware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A4F614C-336D-444D-9332-145E7E66D730}"/>
              </a:ext>
            </a:extLst>
          </p:cNvPr>
          <p:cNvSpPr txBox="1"/>
          <p:nvPr/>
        </p:nvSpPr>
        <p:spPr>
          <a:xfrm>
            <a:off x="554735" y="3321278"/>
            <a:ext cx="195333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  - Steaming</a:t>
            </a:r>
            <a:endParaRPr lang="tr-TR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E0EB00C-7A1A-4E0A-813E-D4475DC54CB4}"/>
              </a:ext>
            </a:extLst>
          </p:cNvPr>
          <p:cNvSpPr txBox="1"/>
          <p:nvPr/>
        </p:nvSpPr>
        <p:spPr>
          <a:xfrm>
            <a:off x="554736" y="3698233"/>
            <a:ext cx="195333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  - CDC</a:t>
            </a:r>
            <a:endParaRPr lang="tr-TR" sz="1400" dirty="0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EC49A1B-9124-4D60-9D26-0FE55105AB15}"/>
              </a:ext>
            </a:extLst>
          </p:cNvPr>
          <p:cNvCxnSpPr>
            <a:cxnSpLocks/>
          </p:cNvCxnSpPr>
          <p:nvPr/>
        </p:nvCxnSpPr>
        <p:spPr>
          <a:xfrm>
            <a:off x="554736" y="3621410"/>
            <a:ext cx="11082527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5458" name="Picture 18" descr="asf - Revision 1901193: /kafka/site/logos/originals/png">
            <a:extLst>
              <a:ext uri="{FF2B5EF4-FFF2-40B4-BE49-F238E27FC236}">
                <a16:creationId xmlns:a16="http://schemas.microsoft.com/office/drawing/2014/main" id="{C13D076D-12E0-46C4-8857-FC9453C49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998" y="3125945"/>
            <a:ext cx="837437" cy="44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5460" name="Picture 20" descr="Hello from Apache Pulsar | Apache Pulsar">
            <a:extLst>
              <a:ext uri="{FF2B5EF4-FFF2-40B4-BE49-F238E27FC236}">
                <a16:creationId xmlns:a16="http://schemas.microsoft.com/office/drawing/2014/main" id="{817936FD-E864-4595-8F03-387DBE756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029" y="3228369"/>
            <a:ext cx="1214751" cy="23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152" descr="Resultado de imagen para Oracle golden gate logo">
            <a:extLst>
              <a:ext uri="{FF2B5EF4-FFF2-40B4-BE49-F238E27FC236}">
                <a16:creationId xmlns:a16="http://schemas.microsoft.com/office/drawing/2014/main" id="{C9E289EA-D893-4B42-A5EE-6A5B1D3AC84C}"/>
              </a:ext>
            </a:extLst>
          </p:cNvPr>
          <p:cNvPicPr>
            <a:picLocks noChangeArrowheads="1"/>
          </p:cNvPicPr>
          <p:nvPr/>
        </p:nvPicPr>
        <p:blipFill rotWithShape="1"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7" t="12470" r="3651" b="17788"/>
          <a:stretch/>
        </p:blipFill>
        <p:spPr bwMode="auto">
          <a:xfrm>
            <a:off x="2658240" y="3760039"/>
            <a:ext cx="698529" cy="262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605B7753-5F7D-4FE6-8077-BB8C4722E541}"/>
              </a:ext>
            </a:extLst>
          </p:cNvPr>
          <p:cNvGrpSpPr/>
          <p:nvPr/>
        </p:nvGrpSpPr>
        <p:grpSpPr>
          <a:xfrm>
            <a:off x="4015534" y="3792219"/>
            <a:ext cx="413856" cy="220075"/>
            <a:chOff x="1499732" y="4762524"/>
            <a:chExt cx="962753" cy="511960"/>
          </a:xfrm>
        </p:grpSpPr>
        <p:pic>
          <p:nvPicPr>
            <p:cNvPr id="83" name="Picture 4" descr="List of mergers and acquisitions by IBM - Wikipedia">
              <a:extLst>
                <a:ext uri="{FF2B5EF4-FFF2-40B4-BE49-F238E27FC236}">
                  <a16:creationId xmlns:a16="http://schemas.microsoft.com/office/drawing/2014/main" id="{E3512C45-581C-481A-A16F-C5D9EB3CF2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4878" y="4762524"/>
              <a:ext cx="822806" cy="330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9F48756-B2DC-4554-8C6E-8A3D0280E423}"/>
                </a:ext>
              </a:extLst>
            </p:cNvPr>
            <p:cNvSpPr txBox="1"/>
            <p:nvPr/>
          </p:nvSpPr>
          <p:spPr>
            <a:xfrm>
              <a:off x="1499732" y="5112903"/>
              <a:ext cx="962753" cy="161581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500" dirty="0">
                  <a:solidFill>
                    <a:schemeClr val="accent6">
                      <a:lumMod val="50000"/>
                    </a:schemeClr>
                  </a:solidFill>
                </a:rPr>
                <a:t>Data Replication</a:t>
              </a:r>
            </a:p>
          </p:txBody>
        </p:sp>
      </p:grpSp>
      <p:pic>
        <p:nvPicPr>
          <p:cNvPr id="87" name="Picture 21" descr="Transform Your Data | SME Solutions Group, Inc.">
            <a:extLst>
              <a:ext uri="{FF2B5EF4-FFF2-40B4-BE49-F238E27FC236}">
                <a16:creationId xmlns:a16="http://schemas.microsoft.com/office/drawing/2014/main" id="{DA34C206-A612-480A-ABBC-6CE6E88C2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6538" y="3758544"/>
            <a:ext cx="630936" cy="30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2" descr="Azure Data Platform Landscape">
            <a:extLst>
              <a:ext uri="{FF2B5EF4-FFF2-40B4-BE49-F238E27FC236}">
                <a16:creationId xmlns:a16="http://schemas.microsoft.com/office/drawing/2014/main" id="{4E8949D4-29B4-4CC6-8142-45B465F92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603" y="3712342"/>
            <a:ext cx="469074" cy="35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446B69D-35CC-43F5-8983-E6B8043EC61A}"/>
              </a:ext>
            </a:extLst>
          </p:cNvPr>
          <p:cNvSpPr txBox="1">
            <a:spLocks/>
          </p:cNvSpPr>
          <p:nvPr/>
        </p:nvSpPr>
        <p:spPr>
          <a:xfrm>
            <a:off x="6825151" y="3706099"/>
            <a:ext cx="1796578" cy="3622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Waiting for procurement decision</a:t>
            </a:r>
          </a:p>
        </p:txBody>
      </p:sp>
      <p:pic>
        <p:nvPicPr>
          <p:cNvPr id="90" name="Picture 18" descr="asf - Revision 1901193: /kafka/site/logos/originals/png">
            <a:extLst>
              <a:ext uri="{FF2B5EF4-FFF2-40B4-BE49-F238E27FC236}">
                <a16:creationId xmlns:a16="http://schemas.microsoft.com/office/drawing/2014/main" id="{3D0A6D86-DFED-4CFE-9A49-C633B95C5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719" y="3057175"/>
            <a:ext cx="837437" cy="44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D5A88B0A-9FAA-4FE1-8F85-D0C4DB65E9BC}"/>
              </a:ext>
            </a:extLst>
          </p:cNvPr>
          <p:cNvSpPr txBox="1">
            <a:spLocks/>
          </p:cNvSpPr>
          <p:nvPr/>
        </p:nvSpPr>
        <p:spPr>
          <a:xfrm>
            <a:off x="6825151" y="3459124"/>
            <a:ext cx="1796578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Already used at the Bank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B0136E6-F514-4E5C-9B7F-D3866431C38E}"/>
              </a:ext>
            </a:extLst>
          </p:cNvPr>
          <p:cNvSpPr txBox="1">
            <a:spLocks/>
          </p:cNvSpPr>
          <p:nvPr/>
        </p:nvSpPr>
        <p:spPr>
          <a:xfrm>
            <a:off x="8819656" y="3706099"/>
            <a:ext cx="2817606" cy="3622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Need to choose target option &amp; initiate procurement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BACEE4C-5343-4E7D-8114-15A100A0A042}"/>
              </a:ext>
            </a:extLst>
          </p:cNvPr>
          <p:cNvCxnSpPr>
            <a:cxnSpLocks/>
          </p:cNvCxnSpPr>
          <p:nvPr/>
        </p:nvCxnSpPr>
        <p:spPr>
          <a:xfrm>
            <a:off x="554736" y="5580832"/>
            <a:ext cx="11082527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Picture 29">
            <a:extLst>
              <a:ext uri="{FF2B5EF4-FFF2-40B4-BE49-F238E27FC236}">
                <a16:creationId xmlns:a16="http://schemas.microsoft.com/office/drawing/2014/main" id="{3546ED08-6420-446B-92E0-FB62AB628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502" y="4918025"/>
            <a:ext cx="407558" cy="36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32">
            <a:extLst>
              <a:ext uri="{FF2B5EF4-FFF2-40B4-BE49-F238E27FC236}">
                <a16:creationId xmlns:a16="http://schemas.microsoft.com/office/drawing/2014/main" id="{A19F1B7D-7652-4D88-BCCA-508C7D0B3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240" y="4945348"/>
            <a:ext cx="698529" cy="309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93" descr="Hazelcast | The Leading In-Memory Computing Platform">
            <a:extLst>
              <a:ext uri="{FF2B5EF4-FFF2-40B4-BE49-F238E27FC236}">
                <a16:creationId xmlns:a16="http://schemas.microsoft.com/office/drawing/2014/main" id="{724D8A3C-5B0F-4755-843D-729B43AF0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584" y="4868873"/>
            <a:ext cx="462375" cy="4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0D79D47-557C-4DCE-8858-1E2A9102F692}"/>
              </a:ext>
            </a:extLst>
          </p:cNvPr>
          <p:cNvGrpSpPr/>
          <p:nvPr/>
        </p:nvGrpSpPr>
        <p:grpSpPr>
          <a:xfrm>
            <a:off x="4057379" y="4915618"/>
            <a:ext cx="724050" cy="368886"/>
            <a:chOff x="4057379" y="4396783"/>
            <a:chExt cx="724050" cy="368886"/>
          </a:xfrm>
        </p:grpSpPr>
        <p:pic>
          <p:nvPicPr>
            <p:cNvPr id="97" name="Picture 102" descr="Home - VoltDB">
              <a:extLst>
                <a:ext uri="{FF2B5EF4-FFF2-40B4-BE49-F238E27FC236}">
                  <a16:creationId xmlns:a16="http://schemas.microsoft.com/office/drawing/2014/main" id="{E7B91158-83C4-4DFF-8FC5-B3A49D1582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4363" y="4518031"/>
              <a:ext cx="600335" cy="247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4">
              <a:extLst>
                <a:ext uri="{FF2B5EF4-FFF2-40B4-BE49-F238E27FC236}">
                  <a16:creationId xmlns:a16="http://schemas.microsoft.com/office/drawing/2014/main" id="{BDB08BE7-7589-490B-A321-42CAA31F6A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7379" y="4396783"/>
              <a:ext cx="724050" cy="87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9" name="Picture 4" descr="Database of Databases - Coherence">
            <a:extLst>
              <a:ext uri="{FF2B5EF4-FFF2-40B4-BE49-F238E27FC236}">
                <a16:creationId xmlns:a16="http://schemas.microsoft.com/office/drawing/2014/main" id="{AFD741FA-FB17-4A01-A0D8-4CD875975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585" y="4974544"/>
            <a:ext cx="816659" cy="251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04552723-3D4D-4F81-B626-2C989FF74C7A}"/>
              </a:ext>
            </a:extLst>
          </p:cNvPr>
          <p:cNvSpPr txBox="1">
            <a:spLocks/>
          </p:cNvSpPr>
          <p:nvPr/>
        </p:nvSpPr>
        <p:spPr>
          <a:xfrm>
            <a:off x="6825151" y="4922231"/>
            <a:ext cx="1796578" cy="3622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Postpone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D5D1C4B-9009-46BF-8413-59D6CBE63F78}"/>
              </a:ext>
            </a:extLst>
          </p:cNvPr>
          <p:cNvSpPr txBox="1">
            <a:spLocks/>
          </p:cNvSpPr>
          <p:nvPr/>
        </p:nvSpPr>
        <p:spPr>
          <a:xfrm>
            <a:off x="8819656" y="4922231"/>
            <a:ext cx="2817606" cy="3676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Not a priority at this moment, procurement (if needed) may be deferred to 2024</a:t>
            </a:r>
          </a:p>
        </p:txBody>
      </p:sp>
      <p:pic>
        <p:nvPicPr>
          <p:cNvPr id="103" name="Picture 15" descr="Database of Databases - Presto">
            <a:extLst>
              <a:ext uri="{FF2B5EF4-FFF2-40B4-BE49-F238E27FC236}">
                <a16:creationId xmlns:a16="http://schemas.microsoft.com/office/drawing/2014/main" id="{28924863-1C26-4B4E-BA1A-49C4A6D4E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287" y="4300360"/>
            <a:ext cx="701482" cy="22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17">
            <a:extLst>
              <a:ext uri="{FF2B5EF4-FFF2-40B4-BE49-F238E27FC236}">
                <a16:creationId xmlns:a16="http://schemas.microsoft.com/office/drawing/2014/main" id="{F67562E6-FEC2-4E07-ADFB-FAE8B025B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4360" y="4219479"/>
            <a:ext cx="775146" cy="38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15" descr="Database of Databases - Presto">
            <a:extLst>
              <a:ext uri="{FF2B5EF4-FFF2-40B4-BE49-F238E27FC236}">
                <a16:creationId xmlns:a16="http://schemas.microsoft.com/office/drawing/2014/main" id="{C35EE6B4-B87D-4B5A-941B-969C1100C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696" y="4221695"/>
            <a:ext cx="701482" cy="22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0E474959-7CDA-4628-9082-0E744C2667E3}"/>
              </a:ext>
            </a:extLst>
          </p:cNvPr>
          <p:cNvSpPr txBox="1">
            <a:spLocks/>
          </p:cNvSpPr>
          <p:nvPr/>
        </p:nvSpPr>
        <p:spPr>
          <a:xfrm>
            <a:off x="8819656" y="4221695"/>
            <a:ext cx="2817606" cy="444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No procurement required, needs to be </a:t>
            </a:r>
            <a:r>
              <a:rPr lang="en-US" sz="1000" dirty="0" err="1"/>
              <a:t>roadmapped</a:t>
            </a:r>
            <a:r>
              <a:rPr lang="en-US" sz="1000" dirty="0"/>
              <a:t>, not a priority, ETA circa 2024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B8BEB93-76B7-4A0D-AC64-F2F23BFBACC3}"/>
              </a:ext>
            </a:extLst>
          </p:cNvPr>
          <p:cNvSpPr txBox="1">
            <a:spLocks/>
          </p:cNvSpPr>
          <p:nvPr/>
        </p:nvSpPr>
        <p:spPr>
          <a:xfrm>
            <a:off x="8819656" y="3124766"/>
            <a:ext cx="2817606" cy="4358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No license procurement required, sizing, </a:t>
            </a:r>
            <a:r>
              <a:rPr lang="en-US" sz="1000" dirty="0" err="1"/>
              <a:t>roadmapping</a:t>
            </a:r>
            <a:r>
              <a:rPr lang="en-US" sz="1000" dirty="0"/>
              <a:t> and cost estimation with hardware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78EA6B1-A4F2-4FE5-974E-1F211F5A058D}"/>
              </a:ext>
            </a:extLst>
          </p:cNvPr>
          <p:cNvGrpSpPr/>
          <p:nvPr/>
        </p:nvGrpSpPr>
        <p:grpSpPr>
          <a:xfrm>
            <a:off x="9413407" y="72375"/>
            <a:ext cx="2223855" cy="731990"/>
            <a:chOff x="9413407" y="72375"/>
            <a:chExt cx="2223855" cy="731990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75CCADF9-C291-4020-8042-A6965C3FFDD2}"/>
                </a:ext>
              </a:extLst>
            </p:cNvPr>
            <p:cNvGrpSpPr/>
            <p:nvPr/>
          </p:nvGrpSpPr>
          <p:grpSpPr>
            <a:xfrm>
              <a:off x="9413407" y="346037"/>
              <a:ext cx="2223855" cy="184666"/>
              <a:chOff x="252549" y="6068076"/>
              <a:chExt cx="2223855" cy="184666"/>
            </a:xfrm>
          </p:grpSpPr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B7C3C573-AD47-442E-8627-6CDBAF9DFDD5}"/>
                  </a:ext>
                </a:extLst>
              </p:cNvPr>
              <p:cNvSpPr/>
              <p:nvPr/>
            </p:nvSpPr>
            <p:spPr>
              <a:xfrm>
                <a:off x="252549" y="6082031"/>
                <a:ext cx="156755" cy="15675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tr-TR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B6068B06-AF09-46AC-B342-8B4CB2DB70C7}"/>
                  </a:ext>
                </a:extLst>
              </p:cNvPr>
              <p:cNvSpPr txBox="1"/>
              <p:nvPr/>
            </p:nvSpPr>
            <p:spPr>
              <a:xfrm>
                <a:off x="510481" y="6068076"/>
                <a:ext cx="1965923" cy="18466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Segoe UI" panose="020B0502040204020203" pitchFamily="34" charset="0"/>
                  <a:buChar char="​"/>
                  <a:defRPr lang="en-US" sz="1600" dirty="0">
                    <a:cs typeface="Arial" panose="020B0604020202020204" pitchFamily="34" charset="0"/>
                  </a:defRPr>
                </a:lvl1pPr>
                <a:lvl2pPr marL="182880" lvl="1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Wingdings" panose="05000000000000000000" pitchFamily="2" charset="2"/>
                  <a:buChar char=""/>
                  <a:defRPr lang="en-US" sz="1600" dirty="0"/>
                </a:lvl2pPr>
                <a:lvl3pPr marL="365760" lvl="2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Arial" panose="020B0604020202020204" pitchFamily="34" charset="0"/>
                  <a:buChar char="‒"/>
                  <a:defRPr lang="en-US" sz="1600" dirty="0"/>
                </a:lvl3pPr>
                <a:lvl4pPr marL="548640" lvl="3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lang="en-US" sz="1600" dirty="0"/>
                </a:lvl4pPr>
                <a:lvl5pPr marL="731520" lvl="4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̶"/>
                  <a:defRPr lang="en-US" sz="1600" dirty="0"/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en-US" sz="1200" dirty="0"/>
                  <a:t>Procurement may be needed</a:t>
                </a:r>
                <a:endParaRPr lang="tr-TR" sz="1200" dirty="0"/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48190F72-6468-4258-AA45-7049F11549CE}"/>
                </a:ext>
              </a:extLst>
            </p:cNvPr>
            <p:cNvGrpSpPr/>
            <p:nvPr/>
          </p:nvGrpSpPr>
          <p:grpSpPr>
            <a:xfrm>
              <a:off x="9413407" y="619699"/>
              <a:ext cx="1944356" cy="184666"/>
              <a:chOff x="252549" y="6068076"/>
              <a:chExt cx="1944356" cy="184666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B30213D9-9CEE-4B75-BD63-7108F2E8DBEA}"/>
                  </a:ext>
                </a:extLst>
              </p:cNvPr>
              <p:cNvSpPr/>
              <p:nvPr/>
            </p:nvSpPr>
            <p:spPr>
              <a:xfrm>
                <a:off x="252549" y="6082031"/>
                <a:ext cx="156755" cy="15675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tr-TR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7E5950AD-192E-47BF-9993-58C88CDCB379}"/>
                  </a:ext>
                </a:extLst>
              </p:cNvPr>
              <p:cNvSpPr txBox="1"/>
              <p:nvPr/>
            </p:nvSpPr>
            <p:spPr>
              <a:xfrm>
                <a:off x="510481" y="6068076"/>
                <a:ext cx="1686424" cy="18466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Segoe UI" panose="020B0502040204020203" pitchFamily="34" charset="0"/>
                  <a:buChar char="​"/>
                  <a:defRPr lang="en-US" sz="1600" dirty="0">
                    <a:cs typeface="Arial" panose="020B0604020202020204" pitchFamily="34" charset="0"/>
                  </a:defRPr>
                </a:lvl1pPr>
                <a:lvl2pPr marL="182880" lvl="1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Wingdings" panose="05000000000000000000" pitchFamily="2" charset="2"/>
                  <a:buChar char=""/>
                  <a:defRPr lang="en-US" sz="1600" dirty="0"/>
                </a:lvl2pPr>
                <a:lvl3pPr marL="365760" lvl="2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Arial" panose="020B0604020202020204" pitchFamily="34" charset="0"/>
                  <a:buChar char="‒"/>
                  <a:defRPr lang="en-US" sz="1600" dirty="0"/>
                </a:lvl3pPr>
                <a:lvl4pPr marL="548640" lvl="3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lang="en-US" sz="1600" dirty="0"/>
                </a:lvl4pPr>
                <a:lvl5pPr marL="731520" lvl="4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̶"/>
                  <a:defRPr lang="en-US" sz="1600" dirty="0"/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en-US" sz="1200" dirty="0"/>
                  <a:t>Procurement not needed</a:t>
                </a:r>
                <a:endParaRPr lang="tr-TR" sz="1200" dirty="0"/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7E031534-D2D1-4DCB-AB52-E3D6487CDFBC}"/>
                </a:ext>
              </a:extLst>
            </p:cNvPr>
            <p:cNvGrpSpPr/>
            <p:nvPr/>
          </p:nvGrpSpPr>
          <p:grpSpPr>
            <a:xfrm>
              <a:off x="9413407" y="72375"/>
              <a:ext cx="543267" cy="184666"/>
              <a:chOff x="252549" y="6068076"/>
              <a:chExt cx="543267" cy="184666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1808D89F-918C-49FB-B48F-A27D90DA05A0}"/>
                  </a:ext>
                </a:extLst>
              </p:cNvPr>
              <p:cNvSpPr/>
              <p:nvPr/>
            </p:nvSpPr>
            <p:spPr>
              <a:xfrm>
                <a:off x="252549" y="6082031"/>
                <a:ext cx="156755" cy="15675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tr-TR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F0751C9C-BB17-4672-836B-C76D47F74D83}"/>
                  </a:ext>
                </a:extLst>
              </p:cNvPr>
              <p:cNvSpPr txBox="1"/>
              <p:nvPr/>
            </p:nvSpPr>
            <p:spPr>
              <a:xfrm>
                <a:off x="510481" y="6068076"/>
                <a:ext cx="285335" cy="18466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Segoe UI" panose="020B0502040204020203" pitchFamily="34" charset="0"/>
                  <a:buChar char="​"/>
                  <a:defRPr lang="en-US" sz="1600" dirty="0">
                    <a:cs typeface="Arial" panose="020B0604020202020204" pitchFamily="34" charset="0"/>
                  </a:defRPr>
                </a:lvl1pPr>
                <a:lvl2pPr marL="182880" lvl="1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Wingdings" panose="05000000000000000000" pitchFamily="2" charset="2"/>
                  <a:buChar char=""/>
                  <a:defRPr lang="en-US" sz="1600" dirty="0"/>
                </a:lvl2pPr>
                <a:lvl3pPr marL="365760" lvl="2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Arial" panose="020B0604020202020204" pitchFamily="34" charset="0"/>
                  <a:buChar char="‒"/>
                  <a:defRPr lang="en-US" sz="1600" dirty="0"/>
                </a:lvl3pPr>
                <a:lvl4pPr marL="548640" lvl="3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lang="en-US" sz="1600" dirty="0"/>
                </a:lvl4pPr>
                <a:lvl5pPr marL="731520" lvl="4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̶"/>
                  <a:defRPr lang="en-US" sz="1600" dirty="0"/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en-US" sz="1200" dirty="0"/>
                  <a:t>TBD</a:t>
                </a:r>
                <a:endParaRPr lang="tr-TR" sz="1200" dirty="0"/>
              </a:p>
            </p:txBody>
          </p:sp>
        </p:grpSp>
      </p:grp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1B5424B-CFAC-8EB7-53E2-E42B33733A28}"/>
              </a:ext>
            </a:extLst>
          </p:cNvPr>
          <p:cNvCxnSpPr>
            <a:cxnSpLocks/>
          </p:cNvCxnSpPr>
          <p:nvPr/>
        </p:nvCxnSpPr>
        <p:spPr>
          <a:xfrm>
            <a:off x="565010" y="6197282"/>
            <a:ext cx="11082527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4" name="Picture 2">
            <a:extLst>
              <a:ext uri="{FF2B5EF4-FFF2-40B4-BE49-F238E27FC236}">
                <a16:creationId xmlns:a16="http://schemas.microsoft.com/office/drawing/2014/main" id="{458E6080-1BF4-BA50-50FD-6C23F02D8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801" y="6314437"/>
            <a:ext cx="724050" cy="290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5F20A204-5DC6-BEFE-04AC-C01E910DF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829" y="6285216"/>
            <a:ext cx="832207" cy="34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D014BA2C-CB05-CAB2-B9C0-7D9AD5D01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014" y="6318423"/>
            <a:ext cx="767862" cy="274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Press Releases, News and Events | Actico">
            <a:extLst>
              <a:ext uri="{FF2B5EF4-FFF2-40B4-BE49-F238E27FC236}">
                <a16:creationId xmlns:a16="http://schemas.microsoft.com/office/drawing/2014/main" id="{43198223-152F-4C0A-FBD3-157DB08A3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854" y="6296473"/>
            <a:ext cx="801340" cy="318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2">
            <a:extLst>
              <a:ext uri="{FF2B5EF4-FFF2-40B4-BE49-F238E27FC236}">
                <a16:creationId xmlns:a16="http://schemas.microsoft.com/office/drawing/2014/main" id="{23812E89-C3D8-FDD4-A6E4-17495F601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106" y="6314437"/>
            <a:ext cx="724050" cy="290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>
            <a:extLst>
              <a:ext uri="{FF2B5EF4-FFF2-40B4-BE49-F238E27FC236}">
                <a16:creationId xmlns:a16="http://schemas.microsoft.com/office/drawing/2014/main" id="{0A7107E8-4F82-62E0-35A0-7ED0DB6364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71" b="21371"/>
          <a:stretch/>
        </p:blipFill>
        <p:spPr bwMode="auto">
          <a:xfrm>
            <a:off x="2663801" y="5682644"/>
            <a:ext cx="1224625" cy="38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Microsoft, powerbi, logo Symbol in Vector Logo">
            <a:extLst>
              <a:ext uri="{FF2B5EF4-FFF2-40B4-BE49-F238E27FC236}">
                <a16:creationId xmlns:a16="http://schemas.microsoft.com/office/drawing/2014/main" id="{F5D20258-7DC8-FB7C-1441-8D5AA15CE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828" y="5559192"/>
            <a:ext cx="1210670" cy="60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>
            <a:extLst>
              <a:ext uri="{FF2B5EF4-FFF2-40B4-BE49-F238E27FC236}">
                <a16:creationId xmlns:a16="http://schemas.microsoft.com/office/drawing/2014/main" id="{15DE1A62-95E2-C71C-4412-FB275D2A7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676" y="5736536"/>
            <a:ext cx="1210670" cy="25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10">
            <a:extLst>
              <a:ext uri="{FF2B5EF4-FFF2-40B4-BE49-F238E27FC236}">
                <a16:creationId xmlns:a16="http://schemas.microsoft.com/office/drawing/2014/main" id="{A885345C-F0EA-D85B-62C7-CA1CF689AB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71" b="21371"/>
          <a:stretch/>
        </p:blipFill>
        <p:spPr bwMode="auto">
          <a:xfrm>
            <a:off x="7111124" y="5682644"/>
            <a:ext cx="1224625" cy="38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11DDC4D8-2D1C-9CF2-1898-CC9473495AD1}"/>
              </a:ext>
            </a:extLst>
          </p:cNvPr>
          <p:cNvSpPr txBox="1">
            <a:spLocks/>
          </p:cNvSpPr>
          <p:nvPr/>
        </p:nvSpPr>
        <p:spPr>
          <a:xfrm>
            <a:off x="8819656" y="5650307"/>
            <a:ext cx="2817606" cy="444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Continuing to use current product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3385DB7-4C13-1062-443A-BDF7E1DB148E}"/>
              </a:ext>
            </a:extLst>
          </p:cNvPr>
          <p:cNvSpPr txBox="1">
            <a:spLocks/>
          </p:cNvSpPr>
          <p:nvPr/>
        </p:nvSpPr>
        <p:spPr>
          <a:xfrm>
            <a:off x="8819656" y="6228060"/>
            <a:ext cx="2817606" cy="444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Continuing to use current product</a:t>
            </a:r>
          </a:p>
        </p:txBody>
      </p:sp>
    </p:spTree>
    <p:extLst>
      <p:ext uri="{BB962C8B-B14F-4D97-AF65-F5344CB8AC3E}">
        <p14:creationId xmlns:p14="http://schemas.microsoft.com/office/powerpoint/2010/main" val="3456395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35C45BF-69A6-4A0C-AE1F-C0E1DC43CB1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5"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35C45BF-69A6-4A0C-AE1F-C0E1DC43CB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370D2EE9-FED5-4FEA-846D-0821378DB691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CBF2647B-5343-4A24-B473-13BDCA744311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/>
          <a:lstStyle/>
          <a:p>
            <a:r>
              <a:rPr lang="en-US" dirty="0"/>
              <a:t>Data Governance stack landscape</a:t>
            </a:r>
            <a:endParaRPr lang="tr-TR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99FD5A-F801-4464-BA58-A4DA2EE2C94C}"/>
              </a:ext>
            </a:extLst>
          </p:cNvPr>
          <p:cNvGrpSpPr/>
          <p:nvPr/>
        </p:nvGrpSpPr>
        <p:grpSpPr>
          <a:xfrm>
            <a:off x="554736" y="1109481"/>
            <a:ext cx="1953334" cy="246221"/>
            <a:chOff x="554736" y="1422991"/>
            <a:chExt cx="1796578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F9F2869-9AAC-4A5A-A5F7-D8A4D94D2146}"/>
                </a:ext>
              </a:extLst>
            </p:cNvPr>
            <p:cNvSpPr txBox="1"/>
            <p:nvPr/>
          </p:nvSpPr>
          <p:spPr>
            <a:xfrm>
              <a:off x="554736" y="1422991"/>
              <a:ext cx="1796578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/>
                <a:t>Component</a:t>
              </a:r>
              <a:endParaRPr lang="tr-TR" sz="1400" b="1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53B8334-9034-45A6-9AB7-7B116E819F60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6" y="1669212"/>
              <a:ext cx="1796578" cy="0"/>
            </a:xfrm>
            <a:prstGeom prst="line">
              <a:avLst/>
            </a:prstGeom>
            <a:ln w="635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403F53-5C74-485F-BE7A-A9AA7956DCF8}"/>
              </a:ext>
            </a:extLst>
          </p:cNvPr>
          <p:cNvGrpSpPr/>
          <p:nvPr/>
        </p:nvGrpSpPr>
        <p:grpSpPr>
          <a:xfrm>
            <a:off x="2705998" y="1109480"/>
            <a:ext cx="3921225" cy="246221"/>
            <a:chOff x="554736" y="1422991"/>
            <a:chExt cx="1796578" cy="24622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01367F3-766C-4DF6-A241-83A4A01EDB87}"/>
                </a:ext>
              </a:extLst>
            </p:cNvPr>
            <p:cNvSpPr txBox="1"/>
            <p:nvPr/>
          </p:nvSpPr>
          <p:spPr>
            <a:xfrm>
              <a:off x="554736" y="1422991"/>
              <a:ext cx="1796578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/>
                <a:t>Options</a:t>
              </a:r>
              <a:endParaRPr lang="tr-TR" sz="1400" b="1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407D54-1F8E-4DAA-989E-5A89F29ACEFA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6" y="1669212"/>
              <a:ext cx="1796578" cy="0"/>
            </a:xfrm>
            <a:prstGeom prst="line">
              <a:avLst/>
            </a:prstGeom>
            <a:ln w="635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15B62A-9B41-45C6-82BB-7BD5D401D351}"/>
              </a:ext>
            </a:extLst>
          </p:cNvPr>
          <p:cNvGrpSpPr/>
          <p:nvPr/>
        </p:nvGrpSpPr>
        <p:grpSpPr>
          <a:xfrm>
            <a:off x="6825151" y="1109479"/>
            <a:ext cx="1796578" cy="246221"/>
            <a:chOff x="554736" y="1422991"/>
            <a:chExt cx="1796578" cy="2462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2872610-CF2F-4321-923D-B8C43E36A3A0}"/>
                </a:ext>
              </a:extLst>
            </p:cNvPr>
            <p:cNvSpPr txBox="1"/>
            <p:nvPr/>
          </p:nvSpPr>
          <p:spPr>
            <a:xfrm>
              <a:off x="554736" y="1422991"/>
              <a:ext cx="1796578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/>
                <a:t>Choice</a:t>
              </a:r>
              <a:endParaRPr lang="tr-TR" sz="1400" b="1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7EF52B0-416F-479C-B99D-6F8C4D0006D8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6" y="1669212"/>
              <a:ext cx="1796578" cy="0"/>
            </a:xfrm>
            <a:prstGeom prst="line">
              <a:avLst/>
            </a:prstGeom>
            <a:ln w="635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3FC6BFF-C48D-451F-B8C1-15439907AB0D}"/>
              </a:ext>
            </a:extLst>
          </p:cNvPr>
          <p:cNvGrpSpPr/>
          <p:nvPr/>
        </p:nvGrpSpPr>
        <p:grpSpPr>
          <a:xfrm>
            <a:off x="8819656" y="1109479"/>
            <a:ext cx="2817607" cy="246221"/>
            <a:chOff x="554736" y="1422991"/>
            <a:chExt cx="1796578" cy="24622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93B8A33-70B8-406E-879F-5B0042490049}"/>
                </a:ext>
              </a:extLst>
            </p:cNvPr>
            <p:cNvSpPr txBox="1"/>
            <p:nvPr/>
          </p:nvSpPr>
          <p:spPr>
            <a:xfrm>
              <a:off x="554736" y="1422991"/>
              <a:ext cx="1796578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/>
                <a:t>Next Steps</a:t>
              </a:r>
              <a:endParaRPr lang="tr-TR" sz="1400" b="1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7B6C108-0CEC-4D72-9A42-7AD541CD6E93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6" y="1669212"/>
              <a:ext cx="1796578" cy="0"/>
            </a:xfrm>
            <a:prstGeom prst="line">
              <a:avLst/>
            </a:prstGeom>
            <a:ln w="635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F1A150A-08D9-4B9F-B3A5-F83FA439EAF0}"/>
              </a:ext>
            </a:extLst>
          </p:cNvPr>
          <p:cNvSpPr txBox="1"/>
          <p:nvPr/>
        </p:nvSpPr>
        <p:spPr>
          <a:xfrm>
            <a:off x="554736" y="1478811"/>
            <a:ext cx="195333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15. Data Quality</a:t>
            </a:r>
            <a:endParaRPr lang="tr-TR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9A1EDC-BA51-4EFD-A274-A29CC3D74BEB}"/>
              </a:ext>
            </a:extLst>
          </p:cNvPr>
          <p:cNvSpPr txBox="1"/>
          <p:nvPr/>
        </p:nvSpPr>
        <p:spPr>
          <a:xfrm>
            <a:off x="554735" y="3325900"/>
            <a:ext cx="1953335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18. Data Model Management</a:t>
            </a:r>
            <a:endParaRPr lang="tr-TR" sz="1400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0A3DCFA-0B72-4897-864B-E8FAAC50173E}"/>
              </a:ext>
            </a:extLst>
          </p:cNvPr>
          <p:cNvCxnSpPr>
            <a:cxnSpLocks/>
          </p:cNvCxnSpPr>
          <p:nvPr/>
        </p:nvCxnSpPr>
        <p:spPr>
          <a:xfrm>
            <a:off x="554735" y="3264017"/>
            <a:ext cx="11082527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78EA6B1-A4F2-4FE5-974E-1F211F5A058D}"/>
              </a:ext>
            </a:extLst>
          </p:cNvPr>
          <p:cNvGrpSpPr/>
          <p:nvPr/>
        </p:nvGrpSpPr>
        <p:grpSpPr>
          <a:xfrm>
            <a:off x="9413407" y="72375"/>
            <a:ext cx="2223855" cy="731990"/>
            <a:chOff x="9413407" y="72375"/>
            <a:chExt cx="2223855" cy="731990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75CCADF9-C291-4020-8042-A6965C3FFDD2}"/>
                </a:ext>
              </a:extLst>
            </p:cNvPr>
            <p:cNvGrpSpPr/>
            <p:nvPr/>
          </p:nvGrpSpPr>
          <p:grpSpPr>
            <a:xfrm>
              <a:off x="9413407" y="346037"/>
              <a:ext cx="2223855" cy="184666"/>
              <a:chOff x="252549" y="6068076"/>
              <a:chExt cx="2223855" cy="184666"/>
            </a:xfrm>
          </p:grpSpPr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B7C3C573-AD47-442E-8627-6CDBAF9DFDD5}"/>
                  </a:ext>
                </a:extLst>
              </p:cNvPr>
              <p:cNvSpPr/>
              <p:nvPr/>
            </p:nvSpPr>
            <p:spPr>
              <a:xfrm>
                <a:off x="252549" y="6082031"/>
                <a:ext cx="156755" cy="15675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tr-TR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B6068B06-AF09-46AC-B342-8B4CB2DB70C7}"/>
                  </a:ext>
                </a:extLst>
              </p:cNvPr>
              <p:cNvSpPr txBox="1"/>
              <p:nvPr/>
            </p:nvSpPr>
            <p:spPr>
              <a:xfrm>
                <a:off x="510481" y="6068076"/>
                <a:ext cx="1965923" cy="18466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Segoe UI" panose="020B0502040204020203" pitchFamily="34" charset="0"/>
                  <a:buChar char="​"/>
                  <a:defRPr lang="en-US" sz="1600" dirty="0">
                    <a:cs typeface="Arial" panose="020B0604020202020204" pitchFamily="34" charset="0"/>
                  </a:defRPr>
                </a:lvl1pPr>
                <a:lvl2pPr marL="182880" lvl="1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Wingdings" panose="05000000000000000000" pitchFamily="2" charset="2"/>
                  <a:buChar char=""/>
                  <a:defRPr lang="en-US" sz="1600" dirty="0"/>
                </a:lvl2pPr>
                <a:lvl3pPr marL="365760" lvl="2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Arial" panose="020B0604020202020204" pitchFamily="34" charset="0"/>
                  <a:buChar char="‒"/>
                  <a:defRPr lang="en-US" sz="1600" dirty="0"/>
                </a:lvl3pPr>
                <a:lvl4pPr marL="548640" lvl="3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lang="en-US" sz="1600" dirty="0"/>
                </a:lvl4pPr>
                <a:lvl5pPr marL="731520" lvl="4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̶"/>
                  <a:defRPr lang="en-US" sz="1600" dirty="0"/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en-US" sz="1200" dirty="0"/>
                  <a:t>Procurement may be needed</a:t>
                </a:r>
                <a:endParaRPr lang="tr-TR" sz="1200" dirty="0"/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48190F72-6468-4258-AA45-7049F11549CE}"/>
                </a:ext>
              </a:extLst>
            </p:cNvPr>
            <p:cNvGrpSpPr/>
            <p:nvPr/>
          </p:nvGrpSpPr>
          <p:grpSpPr>
            <a:xfrm>
              <a:off x="9413407" y="619699"/>
              <a:ext cx="1944356" cy="184666"/>
              <a:chOff x="252549" y="6068076"/>
              <a:chExt cx="1944356" cy="184666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B30213D9-9CEE-4B75-BD63-7108F2E8DBEA}"/>
                  </a:ext>
                </a:extLst>
              </p:cNvPr>
              <p:cNvSpPr/>
              <p:nvPr/>
            </p:nvSpPr>
            <p:spPr>
              <a:xfrm>
                <a:off x="252549" y="6082031"/>
                <a:ext cx="156755" cy="15675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tr-TR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7E5950AD-192E-47BF-9993-58C88CDCB379}"/>
                  </a:ext>
                </a:extLst>
              </p:cNvPr>
              <p:cNvSpPr txBox="1"/>
              <p:nvPr/>
            </p:nvSpPr>
            <p:spPr>
              <a:xfrm>
                <a:off x="510481" y="6068076"/>
                <a:ext cx="1686424" cy="18466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Segoe UI" panose="020B0502040204020203" pitchFamily="34" charset="0"/>
                  <a:buChar char="​"/>
                  <a:defRPr lang="en-US" sz="1600" dirty="0">
                    <a:cs typeface="Arial" panose="020B0604020202020204" pitchFamily="34" charset="0"/>
                  </a:defRPr>
                </a:lvl1pPr>
                <a:lvl2pPr marL="182880" lvl="1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Wingdings" panose="05000000000000000000" pitchFamily="2" charset="2"/>
                  <a:buChar char=""/>
                  <a:defRPr lang="en-US" sz="1600" dirty="0"/>
                </a:lvl2pPr>
                <a:lvl3pPr marL="365760" lvl="2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Arial" panose="020B0604020202020204" pitchFamily="34" charset="0"/>
                  <a:buChar char="‒"/>
                  <a:defRPr lang="en-US" sz="1600" dirty="0"/>
                </a:lvl3pPr>
                <a:lvl4pPr marL="548640" lvl="3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lang="en-US" sz="1600" dirty="0"/>
                </a:lvl4pPr>
                <a:lvl5pPr marL="731520" lvl="4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̶"/>
                  <a:defRPr lang="en-US" sz="1600" dirty="0"/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en-US" sz="1200" dirty="0"/>
                  <a:t>Procurement not needed</a:t>
                </a:r>
                <a:endParaRPr lang="tr-TR" sz="1200" dirty="0"/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7E031534-D2D1-4DCB-AB52-E3D6487CDFBC}"/>
                </a:ext>
              </a:extLst>
            </p:cNvPr>
            <p:cNvGrpSpPr/>
            <p:nvPr/>
          </p:nvGrpSpPr>
          <p:grpSpPr>
            <a:xfrm>
              <a:off x="9413407" y="72375"/>
              <a:ext cx="543267" cy="184666"/>
              <a:chOff x="252549" y="6068076"/>
              <a:chExt cx="543267" cy="184666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1808D89F-918C-49FB-B48F-A27D90DA05A0}"/>
                  </a:ext>
                </a:extLst>
              </p:cNvPr>
              <p:cNvSpPr/>
              <p:nvPr/>
            </p:nvSpPr>
            <p:spPr>
              <a:xfrm>
                <a:off x="252549" y="6082031"/>
                <a:ext cx="156755" cy="15675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tr-TR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F0751C9C-BB17-4672-836B-C76D47F74D83}"/>
                  </a:ext>
                </a:extLst>
              </p:cNvPr>
              <p:cNvSpPr txBox="1"/>
              <p:nvPr/>
            </p:nvSpPr>
            <p:spPr>
              <a:xfrm>
                <a:off x="510481" y="6068076"/>
                <a:ext cx="285335" cy="18466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Segoe UI" panose="020B0502040204020203" pitchFamily="34" charset="0"/>
                  <a:buChar char="​"/>
                  <a:defRPr lang="en-US" sz="1600" dirty="0">
                    <a:cs typeface="Arial" panose="020B0604020202020204" pitchFamily="34" charset="0"/>
                  </a:defRPr>
                </a:lvl1pPr>
                <a:lvl2pPr marL="182880" lvl="1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Wingdings" panose="05000000000000000000" pitchFamily="2" charset="2"/>
                  <a:buChar char=""/>
                  <a:defRPr lang="en-US" sz="1600" dirty="0"/>
                </a:lvl2pPr>
                <a:lvl3pPr marL="365760" lvl="2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10000"/>
                  <a:buFont typeface="Arial" panose="020B0604020202020204" pitchFamily="34" charset="0"/>
                  <a:buChar char="‒"/>
                  <a:defRPr lang="en-US" sz="1600" dirty="0"/>
                </a:lvl3pPr>
                <a:lvl4pPr marL="548640" lvl="3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•"/>
                  <a:defRPr lang="en-US" sz="1600" dirty="0"/>
                </a:lvl4pPr>
                <a:lvl5pPr marL="731520" lvl="4" indent="-18288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 typeface="Arial" panose="020B0604020202020204" pitchFamily="34" charset="0"/>
                  <a:buChar char="̶"/>
                  <a:defRPr lang="en-US" sz="1600" dirty="0"/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en-US" sz="1200" dirty="0"/>
                  <a:t>TBD</a:t>
                </a:r>
                <a:endParaRPr lang="tr-TR" sz="1200" dirty="0"/>
              </a:p>
            </p:txBody>
          </p:sp>
        </p:grp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6722EF2F-980E-4EF7-B7E2-C1C9A64DE9C0}"/>
              </a:ext>
            </a:extLst>
          </p:cNvPr>
          <p:cNvSpPr txBox="1">
            <a:spLocks/>
          </p:cNvSpPr>
          <p:nvPr/>
        </p:nvSpPr>
        <p:spPr>
          <a:xfrm>
            <a:off x="6825151" y="3298851"/>
            <a:ext cx="1796578" cy="4801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Waiting for decision on approach</a:t>
            </a:r>
          </a:p>
        </p:txBody>
      </p:sp>
      <p:pic>
        <p:nvPicPr>
          <p:cNvPr id="111" name="Picture 7" descr="TIBCO – Bloor Research">
            <a:extLst>
              <a:ext uri="{FF2B5EF4-FFF2-40B4-BE49-F238E27FC236}">
                <a16:creationId xmlns:a16="http://schemas.microsoft.com/office/drawing/2014/main" id="{A9BAEC33-44C2-4FE6-BF47-A0D638964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7" t="31517" r="8247" b="31517"/>
          <a:stretch/>
        </p:blipFill>
        <p:spPr bwMode="auto">
          <a:xfrm>
            <a:off x="3969617" y="2833124"/>
            <a:ext cx="661400" cy="18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8" descr="Semarchy is the Unified Data Platform - Semarchy">
            <a:extLst>
              <a:ext uri="{FF2B5EF4-FFF2-40B4-BE49-F238E27FC236}">
                <a16:creationId xmlns:a16="http://schemas.microsoft.com/office/drawing/2014/main" id="{5BE17AB3-2FD1-482E-8D35-A55D3BBD7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373" y="2729959"/>
            <a:ext cx="854247" cy="20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10" descr="Riversand Technologies Inc. im PIM-Verzeichnis">
            <a:extLst>
              <a:ext uri="{FF2B5EF4-FFF2-40B4-BE49-F238E27FC236}">
                <a16:creationId xmlns:a16="http://schemas.microsoft.com/office/drawing/2014/main" id="{2AA93E06-9F80-4700-B3FC-2258E9308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216" y="3010086"/>
            <a:ext cx="991090" cy="185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FA62F0E7-25F5-49BB-BF2F-ACA00E4B9308}"/>
              </a:ext>
            </a:extLst>
          </p:cNvPr>
          <p:cNvSpPr txBox="1"/>
          <p:nvPr/>
        </p:nvSpPr>
        <p:spPr>
          <a:xfrm>
            <a:off x="554736" y="2724766"/>
            <a:ext cx="1953335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17. Master Data Management</a:t>
            </a:r>
            <a:endParaRPr lang="tr-TR" sz="1400" dirty="0"/>
          </a:p>
        </p:txBody>
      </p:sp>
      <p:pic>
        <p:nvPicPr>
          <p:cNvPr id="129" name="Picture 128">
            <a:extLst>
              <a:ext uri="{FF2B5EF4-FFF2-40B4-BE49-F238E27FC236}">
                <a16:creationId xmlns:a16="http://schemas.microsoft.com/office/drawing/2014/main" id="{4FA681AB-A156-4458-87CD-697A5A934D3A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2182" y="3534044"/>
            <a:ext cx="572489" cy="212625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CB0F6C47-74AF-405E-96EA-C040300C3B10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6850" y="3310945"/>
            <a:ext cx="813966" cy="122118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2E64329D-9AB4-4F68-984C-A5C60B2A6817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60805" y="3534044"/>
            <a:ext cx="322726" cy="107214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E85BA3B8-B37C-4AE3-A628-5DEF311C23F4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57559" y="3310085"/>
            <a:ext cx="851196" cy="140185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126DB2E4-4059-43EB-A86F-0BF89A3D4438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8927" y="3382404"/>
            <a:ext cx="567766" cy="285539"/>
          </a:xfrm>
          <a:prstGeom prst="rect">
            <a:avLst/>
          </a:prstGeom>
        </p:spPr>
      </p:pic>
      <p:pic>
        <p:nvPicPr>
          <p:cNvPr id="144" name="Picture 15" descr="draw.io | Flow chart, Org chart, Diagram">
            <a:extLst>
              <a:ext uri="{FF2B5EF4-FFF2-40B4-BE49-F238E27FC236}">
                <a16:creationId xmlns:a16="http://schemas.microsoft.com/office/drawing/2014/main" id="{8277F5F7-6DAA-41D8-B92C-976384394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264" y="3582464"/>
            <a:ext cx="572489" cy="144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FE2A92F1-E7A6-4B65-8EE8-EC649B9B1E65}"/>
              </a:ext>
            </a:extLst>
          </p:cNvPr>
          <p:cNvSpPr txBox="1">
            <a:spLocks/>
          </p:cNvSpPr>
          <p:nvPr/>
        </p:nvSpPr>
        <p:spPr>
          <a:xfrm>
            <a:off x="6825152" y="2721303"/>
            <a:ext cx="1796578" cy="4801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Waiting for decision on approach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F9CE4C1-7895-4E17-A962-B2E2CABA24CF}"/>
              </a:ext>
            </a:extLst>
          </p:cNvPr>
          <p:cNvSpPr txBox="1"/>
          <p:nvPr/>
        </p:nvSpPr>
        <p:spPr>
          <a:xfrm>
            <a:off x="554736" y="2003655"/>
            <a:ext cx="1953335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16. Metadata </a:t>
            </a:r>
            <a:r>
              <a:rPr lang="en-US" sz="1400" dirty="0" err="1"/>
              <a:t>Mgmt</a:t>
            </a:r>
            <a:r>
              <a:rPr lang="en-US" sz="1400" dirty="0"/>
              <a:t>, Business Catalog</a:t>
            </a:r>
            <a:endParaRPr lang="tr-TR" sz="14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9CE417D-E345-F645-372A-63C00E4AE9B4}"/>
              </a:ext>
            </a:extLst>
          </p:cNvPr>
          <p:cNvGrpSpPr/>
          <p:nvPr/>
        </p:nvGrpSpPr>
        <p:grpSpPr>
          <a:xfrm>
            <a:off x="554734" y="1930780"/>
            <a:ext cx="2104193" cy="726776"/>
            <a:chOff x="554734" y="1930780"/>
            <a:chExt cx="2104193" cy="726776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FFCF7EA-7EEF-4F87-81D9-1E706A9083CE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4" y="2657556"/>
              <a:ext cx="2104193" cy="0"/>
            </a:xfrm>
            <a:prstGeom prst="line">
              <a:avLst/>
            </a:prstGeom>
            <a:ln w="635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5E3F7A0-2CC6-4595-B09A-7259831738EC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4" y="1930780"/>
              <a:ext cx="2104193" cy="0"/>
            </a:xfrm>
            <a:prstGeom prst="line">
              <a:avLst/>
            </a:prstGeom>
            <a:ln w="635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6F6225A-5A6D-B06C-2203-92D649E494CC}"/>
              </a:ext>
            </a:extLst>
          </p:cNvPr>
          <p:cNvCxnSpPr>
            <a:cxnSpLocks/>
          </p:cNvCxnSpPr>
          <p:nvPr/>
        </p:nvCxnSpPr>
        <p:spPr>
          <a:xfrm>
            <a:off x="3969617" y="2657556"/>
            <a:ext cx="7667643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A4F7AA9-17E5-9895-B50E-0E55BDF77463}"/>
              </a:ext>
            </a:extLst>
          </p:cNvPr>
          <p:cNvCxnSpPr>
            <a:cxnSpLocks/>
          </p:cNvCxnSpPr>
          <p:nvPr/>
        </p:nvCxnSpPr>
        <p:spPr>
          <a:xfrm>
            <a:off x="3969617" y="1930780"/>
            <a:ext cx="7667643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8" descr="Informatica – Logos Download">
            <a:extLst>
              <a:ext uri="{FF2B5EF4-FFF2-40B4-BE49-F238E27FC236}">
                <a16:creationId xmlns:a16="http://schemas.microsoft.com/office/drawing/2014/main" id="{7768725A-5974-5D2B-705D-DF9E003E1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187" y="1487319"/>
            <a:ext cx="958616" cy="23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10" descr="Ataccama Named a Leader in the 2021 Gartner® Magic Quadrant™ for Data  Quality Solutions">
            <a:extLst>
              <a:ext uri="{FF2B5EF4-FFF2-40B4-BE49-F238E27FC236}">
                <a16:creationId xmlns:a16="http://schemas.microsoft.com/office/drawing/2014/main" id="{E215E934-B349-B975-CE57-F3409026F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187" y="1941930"/>
            <a:ext cx="958616" cy="240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4">
            <a:extLst>
              <a:ext uri="{FF2B5EF4-FFF2-40B4-BE49-F238E27FC236}">
                <a16:creationId xmlns:a16="http://schemas.microsoft.com/office/drawing/2014/main" id="{2181387C-4E41-F06D-49B1-BF7548307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842" y="2403828"/>
            <a:ext cx="656823" cy="262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2">
            <a:extLst>
              <a:ext uri="{FF2B5EF4-FFF2-40B4-BE49-F238E27FC236}">
                <a16:creationId xmlns:a16="http://schemas.microsoft.com/office/drawing/2014/main" id="{A997B587-5EB8-422B-9E2A-30CC756AA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178" y="2881300"/>
            <a:ext cx="600585" cy="29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DFC5FD6D-884F-4F47-FC55-FC820CAE50FC}"/>
              </a:ext>
            </a:extLst>
          </p:cNvPr>
          <p:cNvSpPr txBox="1">
            <a:spLocks/>
          </p:cNvSpPr>
          <p:nvPr/>
        </p:nvSpPr>
        <p:spPr>
          <a:xfrm>
            <a:off x="6827586" y="2053365"/>
            <a:ext cx="1796578" cy="4801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Waiting for decision on approach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687D263-CAB8-12C8-8355-9EA868C4EB1E}"/>
              </a:ext>
            </a:extLst>
          </p:cNvPr>
          <p:cNvSpPr txBox="1">
            <a:spLocks/>
          </p:cNvSpPr>
          <p:nvPr/>
        </p:nvSpPr>
        <p:spPr>
          <a:xfrm>
            <a:off x="6825150" y="1395788"/>
            <a:ext cx="1796578" cy="4801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Waiting for decision on approach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88435A6-D7EA-9930-A75C-8C98AB451505}"/>
              </a:ext>
            </a:extLst>
          </p:cNvPr>
          <p:cNvSpPr txBox="1"/>
          <p:nvPr/>
        </p:nvSpPr>
        <p:spPr>
          <a:xfrm>
            <a:off x="554736" y="3938333"/>
            <a:ext cx="195333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19. Data Security</a:t>
            </a:r>
            <a:endParaRPr lang="tr-TR" sz="140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504ABA5-29D7-85F3-352A-56930FF8869E}"/>
              </a:ext>
            </a:extLst>
          </p:cNvPr>
          <p:cNvCxnSpPr>
            <a:cxnSpLocks/>
          </p:cNvCxnSpPr>
          <p:nvPr/>
        </p:nvCxnSpPr>
        <p:spPr>
          <a:xfrm>
            <a:off x="554736" y="3876450"/>
            <a:ext cx="11082527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BCDA6ED-D059-F58E-3681-25D1703FFF07}"/>
              </a:ext>
            </a:extLst>
          </p:cNvPr>
          <p:cNvSpPr txBox="1">
            <a:spLocks/>
          </p:cNvSpPr>
          <p:nvPr/>
        </p:nvSpPr>
        <p:spPr>
          <a:xfrm>
            <a:off x="2705998" y="3911284"/>
            <a:ext cx="5915732" cy="4801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TBD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88F13C-C04C-D60A-9495-8354ACB61063}"/>
              </a:ext>
            </a:extLst>
          </p:cNvPr>
          <p:cNvSpPr txBox="1"/>
          <p:nvPr/>
        </p:nvSpPr>
        <p:spPr>
          <a:xfrm>
            <a:off x="5808691" y="1492922"/>
            <a:ext cx="66140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tr-TR" sz="1400" i="1" dirty="0" err="1"/>
              <a:t>Custom</a:t>
            </a:r>
            <a:endParaRPr lang="tr-TR" sz="1400" i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13400A3-399E-0810-50B6-F44C167F7DAA}"/>
              </a:ext>
            </a:extLst>
          </p:cNvPr>
          <p:cNvSpPr txBox="1"/>
          <p:nvPr/>
        </p:nvSpPr>
        <p:spPr>
          <a:xfrm>
            <a:off x="5808691" y="2189721"/>
            <a:ext cx="66140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tr-TR" sz="1400" i="1" dirty="0" err="1"/>
              <a:t>Custom</a:t>
            </a:r>
            <a:endParaRPr lang="tr-TR" sz="1400" i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18D43AC-971A-4961-E464-AB7F1DF8F17A}"/>
              </a:ext>
            </a:extLst>
          </p:cNvPr>
          <p:cNvSpPr txBox="1"/>
          <p:nvPr/>
        </p:nvSpPr>
        <p:spPr>
          <a:xfrm>
            <a:off x="5808691" y="2806170"/>
            <a:ext cx="66140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tr-TR" sz="1400" i="1" dirty="0" err="1"/>
              <a:t>Custom</a:t>
            </a:r>
            <a:endParaRPr lang="tr-TR" sz="1400" i="1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2A396DA-A0C8-B2A7-F26D-AD661D848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544" y="2074570"/>
            <a:ext cx="874480" cy="229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Alex Solutions - Crunchbase Company Profile &amp; Funding">
            <a:extLst>
              <a:ext uri="{FF2B5EF4-FFF2-40B4-BE49-F238E27FC236}">
                <a16:creationId xmlns:a16="http://schemas.microsoft.com/office/drawing/2014/main" id="{3A320D22-C947-2807-CD6B-C72A8F2CA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117" y="2346615"/>
            <a:ext cx="683334" cy="26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473B5289-3431-6E0F-0517-6BFFAE53D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386" y="2239027"/>
            <a:ext cx="782956" cy="279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601C25E-8F1F-67E4-D078-65B053E07EF3}"/>
              </a:ext>
            </a:extLst>
          </p:cNvPr>
          <p:cNvSpPr txBox="1"/>
          <p:nvPr/>
        </p:nvSpPr>
        <p:spPr>
          <a:xfrm>
            <a:off x="554733" y="4492799"/>
            <a:ext cx="195333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/>
              <a:t>20. CEP</a:t>
            </a:r>
            <a:endParaRPr lang="tr-TR" sz="1400" dirty="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B2AA757-070B-2CB4-806A-8297C428955C}"/>
              </a:ext>
            </a:extLst>
          </p:cNvPr>
          <p:cNvCxnSpPr>
            <a:cxnSpLocks/>
          </p:cNvCxnSpPr>
          <p:nvPr/>
        </p:nvCxnSpPr>
        <p:spPr>
          <a:xfrm>
            <a:off x="554733" y="4430916"/>
            <a:ext cx="11082527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32">
            <a:extLst>
              <a:ext uri="{FF2B5EF4-FFF2-40B4-BE49-F238E27FC236}">
                <a16:creationId xmlns:a16="http://schemas.microsoft.com/office/drawing/2014/main" id="{307ACDC5-54F6-A5B9-B8F6-1796794BC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108" y="4487481"/>
            <a:ext cx="698529" cy="309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93" descr="Hazelcast | The Leading In-Memory Computing Platform">
            <a:extLst>
              <a:ext uri="{FF2B5EF4-FFF2-40B4-BE49-F238E27FC236}">
                <a16:creationId xmlns:a16="http://schemas.microsoft.com/office/drawing/2014/main" id="{441627E9-DCCF-9088-7170-3554F5849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649" y="4470358"/>
            <a:ext cx="462375" cy="4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4">
            <a:extLst>
              <a:ext uri="{FF2B5EF4-FFF2-40B4-BE49-F238E27FC236}">
                <a16:creationId xmlns:a16="http://schemas.microsoft.com/office/drawing/2014/main" id="{8324487D-6753-FAC7-DCEE-EF9A655D9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907" y="4617168"/>
            <a:ext cx="724050" cy="87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0A8241EE-BBFA-9481-2750-062F9C01E25A}"/>
              </a:ext>
            </a:extLst>
          </p:cNvPr>
          <p:cNvSpPr txBox="1">
            <a:spLocks/>
          </p:cNvSpPr>
          <p:nvPr/>
        </p:nvSpPr>
        <p:spPr>
          <a:xfrm>
            <a:off x="6825151" y="4465750"/>
            <a:ext cx="1796578" cy="4623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lIns="38100" tIns="38100" rIns="38100" bIns="3810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000" dirty="0"/>
              <a:t>Postpone</a:t>
            </a:r>
          </a:p>
        </p:txBody>
      </p:sp>
      <p:pic>
        <p:nvPicPr>
          <p:cNvPr id="72" name="Picture 4">
            <a:extLst>
              <a:ext uri="{FF2B5EF4-FFF2-40B4-BE49-F238E27FC236}">
                <a16:creationId xmlns:a16="http://schemas.microsoft.com/office/drawing/2014/main" id="{A2376269-D280-FBBE-CDC1-5F2EFC722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660" y="4536116"/>
            <a:ext cx="832207" cy="34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2391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3A663FDF-1076-432C-B8B2-1AEDA18D5484}"/>
              </a:ext>
            </a:extLst>
          </p:cNvPr>
          <p:cNvSpPr/>
          <p:nvPr/>
        </p:nvSpPr>
        <p:spPr>
          <a:xfrm>
            <a:off x="3019503" y="945084"/>
            <a:ext cx="4639235" cy="5420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 err="1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CBDA0D7-766F-41AE-BBEC-5F228236B29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9" name="think-cell Slide" r:id="rId26" imgW="473" imgH="476" progId="TCLayout.ActiveDocument.1">
                  <p:embed/>
                </p:oleObj>
              </mc:Choice>
              <mc:Fallback>
                <p:oleObj name="think-cell Slide" r:id="rId26" imgW="473" imgH="47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CBDA0D7-766F-41AE-BBEC-5F228236B2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 hidden="1">
            <a:extLst>
              <a:ext uri="{FF2B5EF4-FFF2-40B4-BE49-F238E27FC236}">
                <a16:creationId xmlns:a16="http://schemas.microsoft.com/office/drawing/2014/main" id="{39B9E085-73F8-4416-9179-D39CE032F88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>
              <a:defRPr/>
            </a:pPr>
            <a:endParaRPr kumimoji="0" lang="ru-RU" sz="200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 Pro" panose="020B0604030504040204" pitchFamily="34" charset="0"/>
              <a:ea typeface="Verdana" panose="020B0604030504040204" pitchFamily="34" charset="0"/>
              <a:cs typeface="Tahoma" panose="020B0604030504040204" pitchFamily="34" charset="0"/>
              <a:sym typeface="Verdana Pro" panose="020B060403050404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2213097D-6B0B-4A5F-8E52-E3F281A95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10" y="260648"/>
            <a:ext cx="11635580" cy="31402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ru-RU" dirty="0">
                <a:latin typeface="+mj-lt"/>
              </a:rPr>
              <a:t>Comparison of data virtualization tools</a:t>
            </a:r>
          </a:p>
        </p:txBody>
      </p:sp>
      <p:cxnSp>
        <p:nvCxnSpPr>
          <p:cNvPr id="111" name="HorizontalLine2 56">
            <a:extLst>
              <a:ext uri="{FF2B5EF4-FFF2-40B4-BE49-F238E27FC236}">
                <a16:creationId xmlns:a16="http://schemas.microsoft.com/office/drawing/2014/main" id="{634AADA3-0380-4081-8F55-BF88A5E15418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277814" y="2403424"/>
            <a:ext cx="11636375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HorizontalLine2 56">
            <a:extLst>
              <a:ext uri="{FF2B5EF4-FFF2-40B4-BE49-F238E27FC236}">
                <a16:creationId xmlns:a16="http://schemas.microsoft.com/office/drawing/2014/main" id="{B98C247B-76CC-40B4-A026-10D70F0F62AA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277418" y="2998841"/>
            <a:ext cx="11636375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HorizontalLine2 56">
            <a:extLst>
              <a:ext uri="{FF2B5EF4-FFF2-40B4-BE49-F238E27FC236}">
                <a16:creationId xmlns:a16="http://schemas.microsoft.com/office/drawing/2014/main" id="{9AC95EF7-8FB3-4D97-8289-469EF6DCBB9D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277814" y="2021517"/>
            <a:ext cx="11636375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3EEA59A-EA16-48B1-AF22-9585005BCF66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278210" y="2574162"/>
            <a:ext cx="2445261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lang="ru-RU" sz="1600" baseline="0" dirty="0"/>
            </a:lvl1pPr>
            <a:lvl2pPr marL="180000" lvl="1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lang="ru-RU" sz="1600" baseline="0" dirty="0"/>
            </a:lvl2pPr>
            <a:lvl3pPr marL="360000" lvl="2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◦"/>
              <a:defRPr lang="ru-RU" sz="1600" baseline="0" dirty="0"/>
            </a:lvl3pPr>
            <a:lvl4pPr marL="540000" lvl="3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lang="ru-RU" sz="1600" baseline="0" dirty="0"/>
            </a:lvl4pPr>
            <a:lvl5pPr marL="720000" lvl="4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◦"/>
              <a:defRPr lang="ru-RU" sz="1600" baseline="0" dirty="0"/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9pPr>
          </a:lstStyle>
          <a:p>
            <a:pPr marL="0" marR="0" lvl="0" indent="0" algn="l" defTabSz="895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05F"/>
              </a:buClr>
              <a:buSzPct val="100000"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SQL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81005F5-DCB4-4CA0-B75F-F8E2446FEDAA}"/>
              </a:ext>
            </a:extLst>
          </p:cNvPr>
          <p:cNvGrpSpPr/>
          <p:nvPr/>
        </p:nvGrpSpPr>
        <p:grpSpPr>
          <a:xfrm>
            <a:off x="278210" y="1009917"/>
            <a:ext cx="2445261" cy="203133"/>
            <a:chOff x="278210" y="1537267"/>
            <a:chExt cx="2445261" cy="203133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C308216-1F96-4798-B0AF-AE93A72334CB}"/>
                </a:ext>
              </a:extLst>
            </p:cNvPr>
            <p:cNvSpPr txBox="1"/>
            <p:nvPr/>
          </p:nvSpPr>
          <p:spPr bwMode="gray">
            <a:xfrm>
              <a:off x="278210" y="1537267"/>
              <a:ext cx="2445261" cy="203133"/>
            </a:xfrm>
            <a:prstGeom prst="rect">
              <a:avLst/>
            </a:prstGeom>
          </p:spPr>
          <p:txBody>
            <a:bodyPr vert="horz" lIns="0" tIns="0" rIns="0" bIns="18288" rtlCol="0" anchor="b">
              <a:spAutoFit/>
            </a:bodyPr>
            <a:lstStyle>
              <a:lvl1pPr marL="0" lvl="0" indent="0" defTabSz="895350" eaLnBrk="1" latinLnBrk="0" hangingPunct="1">
                <a:buClr>
                  <a:schemeClr val="tx2"/>
                </a:buClr>
                <a:buSzPct val="100000"/>
                <a:defRPr lang="ru-RU" sz="1600" baseline="0" dirty="0">
                  <a:latin typeface="+mn-lt"/>
                </a:defRPr>
              </a:lvl1pPr>
              <a:lvl2pPr marL="180000" lvl="1" indent="-180000" defTabSz="895350" eaLnBrk="1" latinLnBrk="0" hangingPunct="1">
                <a:buClr>
                  <a:schemeClr val="tx2"/>
                </a:buClr>
                <a:buSzPct val="125000"/>
                <a:buFont typeface="Arial" panose="020B0604020202020204" pitchFamily="34" charset="0"/>
                <a:buChar char="•"/>
                <a:defRPr lang="ru-RU" sz="1600" baseline="0" dirty="0">
                  <a:latin typeface="+mn-lt"/>
                </a:defRPr>
              </a:lvl2pPr>
              <a:lvl3pPr marL="360000" lvl="2" indent="-180000" defTabSz="895350" eaLnBrk="1" latinLnBrk="0" hangingPunct="1">
                <a:buClr>
                  <a:schemeClr val="tx2"/>
                </a:buClr>
                <a:buSzPct val="120000"/>
                <a:buFont typeface="Arial" panose="020B0604020202020204" pitchFamily="34" charset="0"/>
                <a:buChar char="◦"/>
                <a:defRPr lang="ru-RU" sz="1600" baseline="0" dirty="0">
                  <a:latin typeface="+mn-lt"/>
                </a:defRPr>
              </a:lvl3pPr>
              <a:lvl4pPr marL="540000" lvl="3" indent="-180000" defTabSz="895350" eaLnBrk="1" latinLnBrk="0" hangingPunct="1">
                <a:buClr>
                  <a:schemeClr val="tx2"/>
                </a:buClr>
                <a:buSzPct val="110000"/>
                <a:buFont typeface="Arial" panose="020B0604020202020204" pitchFamily="34" charset="0"/>
                <a:buChar char="•"/>
                <a:defRPr lang="ru-RU" sz="1600" baseline="0" dirty="0">
                  <a:latin typeface="+mn-lt"/>
                </a:defRPr>
              </a:lvl4pPr>
              <a:lvl5pPr marL="720000" lvl="4" indent="-180000" defTabSz="895350" eaLnBrk="1" latinLnBrk="0" hangingPunct="1">
                <a:buClr>
                  <a:schemeClr val="tx2"/>
                </a:buClr>
                <a:buSzPct val="100000"/>
                <a:buFont typeface="Arial" panose="020B0604020202020204" pitchFamily="34" charset="0"/>
                <a:buChar char="◦"/>
                <a:defRPr lang="ru-RU" sz="1600" baseline="0" dirty="0">
                  <a:latin typeface="+mn-lt"/>
                </a:defRPr>
              </a:lvl5pPr>
              <a:lvl6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6pPr>
              <a:lvl7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7pPr>
              <a:lvl8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8pPr>
              <a:lvl9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9pPr>
            </a:lstStyle>
            <a:p>
              <a:pPr lvl="0" fontAlgn="base">
                <a:spcBef>
                  <a:spcPct val="0"/>
                </a:spcBef>
                <a:spcAft>
                  <a:spcPct val="0"/>
                </a:spcAft>
                <a:buClr>
                  <a:srgbClr val="00805F"/>
                </a:buClr>
                <a:defRPr/>
              </a:pPr>
              <a:r>
                <a:rPr lang="ru-RU" sz="1200" b="1" dirty="0">
                  <a:latin typeface="Verdana" panose="020B0604030504040204" pitchFamily="34" charset="0"/>
                  <a:ea typeface="Verdana" panose="020B0604030504040204" pitchFamily="34" charset="0"/>
                </a:rPr>
                <a:t>Functionality</a:t>
              </a:r>
            </a:p>
          </p:txBody>
        </p:sp>
        <p:cxnSp>
          <p:nvCxnSpPr>
            <p:cNvPr id="122" name="Connector: Elbow 121">
              <a:extLst>
                <a:ext uri="{FF2B5EF4-FFF2-40B4-BE49-F238E27FC236}">
                  <a16:creationId xmlns:a16="http://schemas.microsoft.com/office/drawing/2014/main" id="{428A1B60-747A-4FBF-924A-3A50EC7C8D11}"/>
                </a:ext>
              </a:extLst>
            </p:cNvPr>
            <p:cNvCxnSpPr/>
            <p:nvPr/>
          </p:nvCxnSpPr>
          <p:spPr bwMode="gray">
            <a:xfrm>
              <a:off x="278210" y="1740400"/>
              <a:ext cx="2445261" cy="0"/>
            </a:xfrm>
            <a:prstGeom prst="bentConnector3">
              <a:avLst/>
            </a:prstGeom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CC8DF594-9E84-499E-ACCB-D42E92134BAD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278210" y="1971386"/>
            <a:ext cx="2445261" cy="49244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lvl="0" indent="0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lang="ru-RU" sz="1600" baseline="0" dirty="0"/>
            </a:lvl1pPr>
            <a:lvl2pPr marL="180000" lvl="1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lang="ru-RU" sz="1600" baseline="0" dirty="0"/>
            </a:lvl2pPr>
            <a:lvl3pPr marL="360000" lvl="2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◦"/>
              <a:defRPr lang="ru-RU" sz="1600" baseline="0" dirty="0"/>
            </a:lvl3pPr>
            <a:lvl4pPr marL="540000" lvl="3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lang="ru-RU" sz="1600" baseline="0" dirty="0"/>
            </a:lvl4pPr>
            <a:lvl5pPr marL="720000" lvl="4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◦"/>
              <a:defRPr lang="ru-RU" sz="1600" baseline="0" dirty="0"/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9pPr>
          </a:lstStyle>
          <a:p>
            <a:pPr marL="0" marR="0" lvl="0" indent="0" algn="l" defTabSz="895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05F"/>
              </a:buClr>
              <a:buSzPct val="100000"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Open source code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6BF81BA-9D39-43BF-B766-07FB5D143BC8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277814" y="3177433"/>
            <a:ext cx="2445261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lang="ru-RU" sz="1600" baseline="0" dirty="0"/>
            </a:lvl1pPr>
            <a:lvl2pPr marL="180000" lvl="1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lang="ru-RU" sz="1600" baseline="0" dirty="0"/>
            </a:lvl2pPr>
            <a:lvl3pPr marL="360000" lvl="2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◦"/>
              <a:defRPr lang="ru-RU" sz="1600" baseline="0" dirty="0"/>
            </a:lvl3pPr>
            <a:lvl4pPr marL="540000" lvl="3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lang="ru-RU" sz="1600" baseline="0" dirty="0"/>
            </a:lvl4pPr>
            <a:lvl5pPr marL="720000" lvl="4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◦"/>
              <a:defRPr lang="ru-RU" sz="1600" baseline="0" dirty="0"/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9pPr>
          </a:lstStyle>
          <a:p>
            <a:pPr marL="0" marR="0" lvl="0" indent="0" algn="l" defTabSz="895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05F"/>
              </a:buClr>
              <a:buSzPct val="100000"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Officially supported connectors</a:t>
            </a:r>
          </a:p>
        </p:txBody>
      </p:sp>
      <p:cxnSp>
        <p:nvCxnSpPr>
          <p:cNvPr id="167" name="HorizontalLine2 56">
            <a:extLst>
              <a:ext uri="{FF2B5EF4-FFF2-40B4-BE49-F238E27FC236}">
                <a16:creationId xmlns:a16="http://schemas.microsoft.com/office/drawing/2014/main" id="{A47FB1A1-065C-CE45-A707-63E52924468F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277812" y="4640262"/>
            <a:ext cx="11636375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C2074CF1-EB6E-2F41-AAFA-E63A06AB0272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278208" y="4726521"/>
            <a:ext cx="2445261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lang="ru-RU" sz="1600" baseline="0" dirty="0"/>
            </a:lvl1pPr>
            <a:lvl2pPr marL="180000" lvl="1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lang="ru-RU" sz="1600" baseline="0" dirty="0"/>
            </a:lvl2pPr>
            <a:lvl3pPr marL="360000" lvl="2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◦"/>
              <a:defRPr lang="ru-RU" sz="1600" baseline="0" dirty="0"/>
            </a:lvl3pPr>
            <a:lvl4pPr marL="540000" lvl="3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lang="ru-RU" sz="1600" baseline="0" dirty="0"/>
            </a:lvl4pPr>
            <a:lvl5pPr marL="720000" lvl="4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◦"/>
              <a:defRPr lang="ru-RU" sz="1600" baseline="0" dirty="0"/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9pPr>
          </a:lstStyle>
          <a:p>
            <a:pPr marL="0" marR="0" lvl="0" indent="0" algn="l" defTabSz="895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05F"/>
              </a:buClr>
              <a:buSzPct val="100000"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Possibility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of working without data map</a:t>
            </a:r>
          </a:p>
        </p:txBody>
      </p:sp>
      <p:cxnSp>
        <p:nvCxnSpPr>
          <p:cNvPr id="205" name="HorizontalLine2 56">
            <a:extLst>
              <a:ext uri="{FF2B5EF4-FFF2-40B4-BE49-F238E27FC236}">
                <a16:creationId xmlns:a16="http://schemas.microsoft.com/office/drawing/2014/main" id="{E489AB7D-A3A4-D148-B116-CDB07D4E1910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>
          <a:xfrm>
            <a:off x="276230" y="5672812"/>
            <a:ext cx="11636375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2C89890E-35DD-CA40-89B3-9C18C7F6B41A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276626" y="5759071"/>
            <a:ext cx="2445261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lang="ru-RU" sz="1600" baseline="0" dirty="0"/>
            </a:lvl1pPr>
            <a:lvl2pPr marL="180000" lvl="1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lang="ru-RU" sz="1600" baseline="0" dirty="0"/>
            </a:lvl2pPr>
            <a:lvl3pPr marL="360000" lvl="2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◦"/>
              <a:defRPr lang="ru-RU" sz="1600" baseline="0" dirty="0"/>
            </a:lvl3pPr>
            <a:lvl4pPr marL="540000" lvl="3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lang="ru-RU" sz="1600" baseline="0" dirty="0"/>
            </a:lvl4pPr>
            <a:lvl5pPr marL="720000" lvl="4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◦"/>
              <a:defRPr lang="ru-RU" sz="1600" baseline="0" dirty="0"/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9pPr>
          </a:lstStyle>
          <a:p>
            <a:pPr lvl="0">
              <a:buClr>
                <a:srgbClr val="00805F"/>
              </a:buClr>
              <a:defRPr/>
            </a:pPr>
            <a:r>
              <a:rPr lang="ru-RU" sz="1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Star at </a:t>
            </a:r>
            <a:r>
              <a:rPr lang="en-GB" sz="1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GitHub</a:t>
            </a:r>
          </a:p>
          <a:p>
            <a:pPr lvl="0">
              <a:buClr>
                <a:srgbClr val="00805F"/>
              </a:buClr>
              <a:defRPr/>
            </a:pPr>
            <a:r>
              <a:rPr lang="ru-RU" sz="12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Forks </a:t>
            </a:r>
            <a:r>
              <a:rPr lang="ru-RU" sz="1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 </a:t>
            </a:r>
            <a:r>
              <a:rPr lang="en-GB" sz="1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GitHub</a:t>
            </a:r>
            <a:endParaRPr lang="ru-RU" sz="12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8" name="Freeform 99">
            <a:extLst>
              <a:ext uri="{FF2B5EF4-FFF2-40B4-BE49-F238E27FC236}">
                <a16:creationId xmlns:a16="http://schemas.microsoft.com/office/drawing/2014/main" id="{9BF51889-1CBC-4D2B-843E-8D7C4557C0FD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9775416" y="2086638"/>
            <a:ext cx="316146" cy="261938"/>
          </a:xfrm>
          <a:custGeom>
            <a:avLst/>
            <a:gdLst>
              <a:gd name="T0" fmla="*/ 3040 w 3040"/>
              <a:gd name="T1" fmla="*/ 109 h 2884"/>
              <a:gd name="T2" fmla="*/ 2860 w 3040"/>
              <a:gd name="T3" fmla="*/ 256 h 2884"/>
              <a:gd name="T4" fmla="*/ 2673 w 3040"/>
              <a:gd name="T5" fmla="*/ 428 h 2884"/>
              <a:gd name="T6" fmla="*/ 2479 w 3040"/>
              <a:gd name="T7" fmla="*/ 627 h 2884"/>
              <a:gd name="T8" fmla="*/ 2277 w 3040"/>
              <a:gd name="T9" fmla="*/ 853 h 2884"/>
              <a:gd name="T10" fmla="*/ 2067 w 3040"/>
              <a:gd name="T11" fmla="*/ 1106 h 2884"/>
              <a:gd name="T12" fmla="*/ 1926 w 3040"/>
              <a:gd name="T13" fmla="*/ 1287 h 2884"/>
              <a:gd name="T14" fmla="*/ 1727 w 3040"/>
              <a:gd name="T15" fmla="*/ 1556 h 2884"/>
              <a:gd name="T16" fmla="*/ 1546 w 3040"/>
              <a:gd name="T17" fmla="*/ 1819 h 2884"/>
              <a:gd name="T18" fmla="*/ 1385 w 3040"/>
              <a:gd name="T19" fmla="*/ 2076 h 2884"/>
              <a:gd name="T20" fmla="*/ 1243 w 3040"/>
              <a:gd name="T21" fmla="*/ 2324 h 2884"/>
              <a:gd name="T22" fmla="*/ 1120 w 3040"/>
              <a:gd name="T23" fmla="*/ 2567 h 2884"/>
              <a:gd name="T24" fmla="*/ 865 w 3040"/>
              <a:gd name="T25" fmla="*/ 2741 h 2884"/>
              <a:gd name="T26" fmla="*/ 704 w 3040"/>
              <a:gd name="T27" fmla="*/ 2867 h 2884"/>
              <a:gd name="T28" fmla="*/ 675 w 3040"/>
              <a:gd name="T29" fmla="*/ 2856 h 2884"/>
              <a:gd name="T30" fmla="*/ 603 w 3040"/>
              <a:gd name="T31" fmla="*/ 2655 h 2884"/>
              <a:gd name="T32" fmla="*/ 498 w 3040"/>
              <a:gd name="T33" fmla="*/ 2404 h 2884"/>
              <a:gd name="T34" fmla="*/ 401 w 3040"/>
              <a:gd name="T35" fmla="*/ 2197 h 2884"/>
              <a:gd name="T36" fmla="*/ 311 w 3040"/>
              <a:gd name="T37" fmla="*/ 2034 h 2884"/>
              <a:gd name="T38" fmla="*/ 253 w 3040"/>
              <a:gd name="T39" fmla="*/ 1950 h 2884"/>
              <a:gd name="T40" fmla="*/ 164 w 3040"/>
              <a:gd name="T41" fmla="*/ 1855 h 2884"/>
              <a:gd name="T42" fmla="*/ 69 w 3040"/>
              <a:gd name="T43" fmla="*/ 1786 h 2884"/>
              <a:gd name="T44" fmla="*/ 0 w 3040"/>
              <a:gd name="T45" fmla="*/ 1757 h 2884"/>
              <a:gd name="T46" fmla="*/ 87 w 3040"/>
              <a:gd name="T47" fmla="*/ 1672 h 2884"/>
              <a:gd name="T48" fmla="*/ 172 w 3040"/>
              <a:gd name="T49" fmla="*/ 1605 h 2884"/>
              <a:gd name="T50" fmla="*/ 254 w 3040"/>
              <a:gd name="T51" fmla="*/ 1555 h 2884"/>
              <a:gd name="T52" fmla="*/ 332 w 3040"/>
              <a:gd name="T53" fmla="*/ 1523 h 2884"/>
              <a:gd name="T54" fmla="*/ 409 w 3040"/>
              <a:gd name="T55" fmla="*/ 1508 h 2884"/>
              <a:gd name="T56" fmla="*/ 444 w 3040"/>
              <a:gd name="T57" fmla="*/ 1507 h 2884"/>
              <a:gd name="T58" fmla="*/ 476 w 3040"/>
              <a:gd name="T59" fmla="*/ 1513 h 2884"/>
              <a:gd name="T60" fmla="*/ 543 w 3040"/>
              <a:gd name="T61" fmla="*/ 1551 h 2884"/>
              <a:gd name="T62" fmla="*/ 612 w 3040"/>
              <a:gd name="T63" fmla="*/ 1621 h 2884"/>
              <a:gd name="T64" fmla="*/ 683 w 3040"/>
              <a:gd name="T65" fmla="*/ 1723 h 2884"/>
              <a:gd name="T66" fmla="*/ 757 w 3040"/>
              <a:gd name="T67" fmla="*/ 1858 h 2884"/>
              <a:gd name="T68" fmla="*/ 877 w 3040"/>
              <a:gd name="T69" fmla="*/ 2117 h 2884"/>
              <a:gd name="T70" fmla="*/ 973 w 3040"/>
              <a:gd name="T71" fmla="*/ 1963 h 2884"/>
              <a:gd name="T72" fmla="*/ 1129 w 3040"/>
              <a:gd name="T73" fmla="*/ 1731 h 2884"/>
              <a:gd name="T74" fmla="*/ 1299 w 3040"/>
              <a:gd name="T75" fmla="*/ 1503 h 2884"/>
              <a:gd name="T76" fmla="*/ 1485 w 3040"/>
              <a:gd name="T77" fmla="*/ 1277 h 2884"/>
              <a:gd name="T78" fmla="*/ 1685 w 3040"/>
              <a:gd name="T79" fmla="*/ 1052 h 2884"/>
              <a:gd name="T80" fmla="*/ 1828 w 3040"/>
              <a:gd name="T81" fmla="*/ 904 h 2884"/>
              <a:gd name="T82" fmla="*/ 2045 w 3040"/>
              <a:gd name="T83" fmla="*/ 693 h 2884"/>
              <a:gd name="T84" fmla="*/ 2260 w 3040"/>
              <a:gd name="T85" fmla="*/ 502 h 2884"/>
              <a:gd name="T86" fmla="*/ 2474 w 3040"/>
              <a:gd name="T87" fmla="*/ 328 h 2884"/>
              <a:gd name="T88" fmla="*/ 2685 w 3040"/>
              <a:gd name="T89" fmla="*/ 175 h 2884"/>
              <a:gd name="T90" fmla="*/ 2893 w 3040"/>
              <a:gd name="T91" fmla="*/ 40 h 2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040" h="2884">
                <a:moveTo>
                  <a:pt x="2963" y="0"/>
                </a:moveTo>
                <a:lnTo>
                  <a:pt x="3040" y="109"/>
                </a:lnTo>
                <a:lnTo>
                  <a:pt x="3040" y="109"/>
                </a:lnTo>
                <a:lnTo>
                  <a:pt x="2981" y="155"/>
                </a:lnTo>
                <a:lnTo>
                  <a:pt x="2922" y="203"/>
                </a:lnTo>
                <a:lnTo>
                  <a:pt x="2860" y="256"/>
                </a:lnTo>
                <a:lnTo>
                  <a:pt x="2799" y="309"/>
                </a:lnTo>
                <a:lnTo>
                  <a:pt x="2736" y="367"/>
                </a:lnTo>
                <a:lnTo>
                  <a:pt x="2673" y="428"/>
                </a:lnTo>
                <a:lnTo>
                  <a:pt x="2610" y="491"/>
                </a:lnTo>
                <a:lnTo>
                  <a:pt x="2545" y="557"/>
                </a:lnTo>
                <a:lnTo>
                  <a:pt x="2479" y="627"/>
                </a:lnTo>
                <a:lnTo>
                  <a:pt x="2413" y="699"/>
                </a:lnTo>
                <a:lnTo>
                  <a:pt x="2346" y="775"/>
                </a:lnTo>
                <a:lnTo>
                  <a:pt x="2277" y="853"/>
                </a:lnTo>
                <a:lnTo>
                  <a:pt x="2209" y="934"/>
                </a:lnTo>
                <a:lnTo>
                  <a:pt x="2139" y="1018"/>
                </a:lnTo>
                <a:lnTo>
                  <a:pt x="2067" y="1106"/>
                </a:lnTo>
                <a:lnTo>
                  <a:pt x="1996" y="1196"/>
                </a:lnTo>
                <a:lnTo>
                  <a:pt x="1996" y="1196"/>
                </a:lnTo>
                <a:lnTo>
                  <a:pt x="1926" y="1287"/>
                </a:lnTo>
                <a:lnTo>
                  <a:pt x="1858" y="1377"/>
                </a:lnTo>
                <a:lnTo>
                  <a:pt x="1790" y="1468"/>
                </a:lnTo>
                <a:lnTo>
                  <a:pt x="1727" y="1556"/>
                </a:lnTo>
                <a:lnTo>
                  <a:pt x="1664" y="1645"/>
                </a:lnTo>
                <a:lnTo>
                  <a:pt x="1605" y="1733"/>
                </a:lnTo>
                <a:lnTo>
                  <a:pt x="1546" y="1819"/>
                </a:lnTo>
                <a:lnTo>
                  <a:pt x="1490" y="1905"/>
                </a:lnTo>
                <a:lnTo>
                  <a:pt x="1437" y="1991"/>
                </a:lnTo>
                <a:lnTo>
                  <a:pt x="1385" y="2076"/>
                </a:lnTo>
                <a:lnTo>
                  <a:pt x="1336" y="2159"/>
                </a:lnTo>
                <a:lnTo>
                  <a:pt x="1289" y="2242"/>
                </a:lnTo>
                <a:lnTo>
                  <a:pt x="1243" y="2324"/>
                </a:lnTo>
                <a:lnTo>
                  <a:pt x="1200" y="2405"/>
                </a:lnTo>
                <a:lnTo>
                  <a:pt x="1160" y="2486"/>
                </a:lnTo>
                <a:lnTo>
                  <a:pt x="1120" y="2567"/>
                </a:lnTo>
                <a:lnTo>
                  <a:pt x="958" y="2676"/>
                </a:lnTo>
                <a:lnTo>
                  <a:pt x="958" y="2676"/>
                </a:lnTo>
                <a:lnTo>
                  <a:pt x="865" y="2741"/>
                </a:lnTo>
                <a:lnTo>
                  <a:pt x="788" y="2798"/>
                </a:lnTo>
                <a:lnTo>
                  <a:pt x="728" y="2845"/>
                </a:lnTo>
                <a:lnTo>
                  <a:pt x="704" y="2867"/>
                </a:lnTo>
                <a:lnTo>
                  <a:pt x="683" y="2884"/>
                </a:lnTo>
                <a:lnTo>
                  <a:pt x="683" y="2884"/>
                </a:lnTo>
                <a:lnTo>
                  <a:pt x="675" y="2856"/>
                </a:lnTo>
                <a:lnTo>
                  <a:pt x="666" y="2825"/>
                </a:lnTo>
                <a:lnTo>
                  <a:pt x="639" y="2748"/>
                </a:lnTo>
                <a:lnTo>
                  <a:pt x="603" y="2655"/>
                </a:lnTo>
                <a:lnTo>
                  <a:pt x="560" y="2546"/>
                </a:lnTo>
                <a:lnTo>
                  <a:pt x="498" y="2404"/>
                </a:lnTo>
                <a:lnTo>
                  <a:pt x="498" y="2404"/>
                </a:lnTo>
                <a:lnTo>
                  <a:pt x="465" y="2330"/>
                </a:lnTo>
                <a:lnTo>
                  <a:pt x="433" y="2261"/>
                </a:lnTo>
                <a:lnTo>
                  <a:pt x="401" y="2197"/>
                </a:lnTo>
                <a:lnTo>
                  <a:pt x="371" y="2137"/>
                </a:lnTo>
                <a:lnTo>
                  <a:pt x="340" y="2084"/>
                </a:lnTo>
                <a:lnTo>
                  <a:pt x="311" y="2034"/>
                </a:lnTo>
                <a:lnTo>
                  <a:pt x="281" y="1991"/>
                </a:lnTo>
                <a:lnTo>
                  <a:pt x="253" y="1950"/>
                </a:lnTo>
                <a:lnTo>
                  <a:pt x="253" y="1950"/>
                </a:lnTo>
                <a:lnTo>
                  <a:pt x="225" y="1915"/>
                </a:lnTo>
                <a:lnTo>
                  <a:pt x="195" y="1885"/>
                </a:lnTo>
                <a:lnTo>
                  <a:pt x="164" y="1855"/>
                </a:lnTo>
                <a:lnTo>
                  <a:pt x="133" y="1829"/>
                </a:lnTo>
                <a:lnTo>
                  <a:pt x="101" y="1807"/>
                </a:lnTo>
                <a:lnTo>
                  <a:pt x="69" y="1786"/>
                </a:lnTo>
                <a:lnTo>
                  <a:pt x="35" y="1770"/>
                </a:lnTo>
                <a:lnTo>
                  <a:pt x="0" y="1757"/>
                </a:lnTo>
                <a:lnTo>
                  <a:pt x="0" y="1757"/>
                </a:lnTo>
                <a:lnTo>
                  <a:pt x="30" y="1726"/>
                </a:lnTo>
                <a:lnTo>
                  <a:pt x="59" y="1698"/>
                </a:lnTo>
                <a:lnTo>
                  <a:pt x="87" y="1672"/>
                </a:lnTo>
                <a:lnTo>
                  <a:pt x="116" y="1646"/>
                </a:lnTo>
                <a:lnTo>
                  <a:pt x="144" y="1625"/>
                </a:lnTo>
                <a:lnTo>
                  <a:pt x="172" y="1605"/>
                </a:lnTo>
                <a:lnTo>
                  <a:pt x="199" y="1586"/>
                </a:lnTo>
                <a:lnTo>
                  <a:pt x="227" y="1568"/>
                </a:lnTo>
                <a:lnTo>
                  <a:pt x="254" y="1555"/>
                </a:lnTo>
                <a:lnTo>
                  <a:pt x="281" y="1542"/>
                </a:lnTo>
                <a:lnTo>
                  <a:pt x="307" y="1531"/>
                </a:lnTo>
                <a:lnTo>
                  <a:pt x="332" y="1523"/>
                </a:lnTo>
                <a:lnTo>
                  <a:pt x="359" y="1516"/>
                </a:lnTo>
                <a:lnTo>
                  <a:pt x="385" y="1511"/>
                </a:lnTo>
                <a:lnTo>
                  <a:pt x="409" y="1508"/>
                </a:lnTo>
                <a:lnTo>
                  <a:pt x="434" y="1507"/>
                </a:lnTo>
                <a:lnTo>
                  <a:pt x="434" y="1507"/>
                </a:lnTo>
                <a:lnTo>
                  <a:pt x="444" y="1507"/>
                </a:lnTo>
                <a:lnTo>
                  <a:pt x="455" y="1508"/>
                </a:lnTo>
                <a:lnTo>
                  <a:pt x="465" y="1511"/>
                </a:lnTo>
                <a:lnTo>
                  <a:pt x="476" y="1513"/>
                </a:lnTo>
                <a:lnTo>
                  <a:pt x="499" y="1523"/>
                </a:lnTo>
                <a:lnTo>
                  <a:pt x="521" y="1535"/>
                </a:lnTo>
                <a:lnTo>
                  <a:pt x="543" y="1551"/>
                </a:lnTo>
                <a:lnTo>
                  <a:pt x="566" y="1571"/>
                </a:lnTo>
                <a:lnTo>
                  <a:pt x="589" y="1594"/>
                </a:lnTo>
                <a:lnTo>
                  <a:pt x="612" y="1621"/>
                </a:lnTo>
                <a:lnTo>
                  <a:pt x="636" y="1652"/>
                </a:lnTo>
                <a:lnTo>
                  <a:pt x="659" y="1685"/>
                </a:lnTo>
                <a:lnTo>
                  <a:pt x="683" y="1723"/>
                </a:lnTo>
                <a:lnTo>
                  <a:pt x="708" y="1763"/>
                </a:lnTo>
                <a:lnTo>
                  <a:pt x="733" y="1809"/>
                </a:lnTo>
                <a:lnTo>
                  <a:pt x="757" y="1858"/>
                </a:lnTo>
                <a:lnTo>
                  <a:pt x="783" y="1909"/>
                </a:lnTo>
                <a:lnTo>
                  <a:pt x="808" y="1964"/>
                </a:lnTo>
                <a:lnTo>
                  <a:pt x="877" y="2117"/>
                </a:lnTo>
                <a:lnTo>
                  <a:pt x="877" y="2117"/>
                </a:lnTo>
                <a:lnTo>
                  <a:pt x="924" y="2039"/>
                </a:lnTo>
                <a:lnTo>
                  <a:pt x="973" y="1963"/>
                </a:lnTo>
                <a:lnTo>
                  <a:pt x="1024" y="1885"/>
                </a:lnTo>
                <a:lnTo>
                  <a:pt x="1075" y="1808"/>
                </a:lnTo>
                <a:lnTo>
                  <a:pt x="1129" y="1731"/>
                </a:lnTo>
                <a:lnTo>
                  <a:pt x="1184" y="1655"/>
                </a:lnTo>
                <a:lnTo>
                  <a:pt x="1242" y="1578"/>
                </a:lnTo>
                <a:lnTo>
                  <a:pt x="1299" y="1503"/>
                </a:lnTo>
                <a:lnTo>
                  <a:pt x="1360" y="1427"/>
                </a:lnTo>
                <a:lnTo>
                  <a:pt x="1422" y="1351"/>
                </a:lnTo>
                <a:lnTo>
                  <a:pt x="1485" y="1277"/>
                </a:lnTo>
                <a:lnTo>
                  <a:pt x="1551" y="1201"/>
                </a:lnTo>
                <a:lnTo>
                  <a:pt x="1618" y="1127"/>
                </a:lnTo>
                <a:lnTo>
                  <a:pt x="1685" y="1052"/>
                </a:lnTo>
                <a:lnTo>
                  <a:pt x="1757" y="978"/>
                </a:lnTo>
                <a:lnTo>
                  <a:pt x="1828" y="904"/>
                </a:lnTo>
                <a:lnTo>
                  <a:pt x="1828" y="904"/>
                </a:lnTo>
                <a:lnTo>
                  <a:pt x="1901" y="831"/>
                </a:lnTo>
                <a:lnTo>
                  <a:pt x="1973" y="761"/>
                </a:lnTo>
                <a:lnTo>
                  <a:pt x="2045" y="693"/>
                </a:lnTo>
                <a:lnTo>
                  <a:pt x="2117" y="627"/>
                </a:lnTo>
                <a:lnTo>
                  <a:pt x="2189" y="564"/>
                </a:lnTo>
                <a:lnTo>
                  <a:pt x="2260" y="502"/>
                </a:lnTo>
                <a:lnTo>
                  <a:pt x="2331" y="441"/>
                </a:lnTo>
                <a:lnTo>
                  <a:pt x="2402" y="383"/>
                </a:lnTo>
                <a:lnTo>
                  <a:pt x="2474" y="328"/>
                </a:lnTo>
                <a:lnTo>
                  <a:pt x="2544" y="274"/>
                </a:lnTo>
                <a:lnTo>
                  <a:pt x="2614" y="223"/>
                </a:lnTo>
                <a:lnTo>
                  <a:pt x="2685" y="175"/>
                </a:lnTo>
                <a:lnTo>
                  <a:pt x="2755" y="128"/>
                </a:lnTo>
                <a:lnTo>
                  <a:pt x="2825" y="83"/>
                </a:lnTo>
                <a:lnTo>
                  <a:pt x="2893" y="40"/>
                </a:lnTo>
                <a:lnTo>
                  <a:pt x="2963" y="0"/>
                </a:lnTo>
                <a:lnTo>
                  <a:pt x="2963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9BEE623-1CDB-4F4A-A8EA-3E7875A8902A}"/>
              </a:ext>
            </a:extLst>
          </p:cNvPr>
          <p:cNvSpPr txBox="1">
            <a:spLocks/>
          </p:cNvSpPr>
          <p:nvPr/>
        </p:nvSpPr>
        <p:spPr>
          <a:xfrm>
            <a:off x="8645119" y="2608800"/>
            <a:ext cx="2576740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lang="ru-RU" sz="1600" baseline="0" dirty="0"/>
            </a:lvl1pPr>
            <a:lvl2pPr marL="180000" lvl="1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lang="ru-RU" sz="1600" baseline="0" dirty="0"/>
            </a:lvl2pPr>
            <a:lvl3pPr marL="360000" lvl="2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◦"/>
              <a:defRPr lang="ru-RU" sz="1600" baseline="0" dirty="0"/>
            </a:lvl3pPr>
            <a:lvl4pPr marL="540000" lvl="3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lang="ru-RU" sz="1600" baseline="0" dirty="0"/>
            </a:lvl4pPr>
            <a:lvl5pPr marL="720000" lvl="4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◦"/>
              <a:defRPr lang="ru-RU" sz="1600" baseline="0" dirty="0"/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9pPr>
          </a:lstStyle>
          <a:p>
            <a:pPr lvl="0" algn="ctr">
              <a:buClr>
                <a:srgbClr val="00805F"/>
              </a:buClr>
              <a:defRPr/>
            </a:pPr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ANSI</a:t>
            </a:r>
            <a:endParaRPr lang="ru-RU" sz="12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A18F5DF-185F-6E46-841F-EF18C8887383}"/>
              </a:ext>
            </a:extLst>
          </p:cNvPr>
          <p:cNvSpPr txBox="1">
            <a:spLocks/>
          </p:cNvSpPr>
          <p:nvPr/>
        </p:nvSpPr>
        <p:spPr>
          <a:xfrm>
            <a:off x="7954771" y="3177433"/>
            <a:ext cx="3957436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lang="ru-RU" sz="1600" baseline="0" dirty="0"/>
            </a:lvl1pPr>
            <a:lvl2pPr marL="180000" lvl="1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lang="ru-RU" sz="1600" baseline="0" dirty="0"/>
            </a:lvl2pPr>
            <a:lvl3pPr marL="360000" lvl="2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◦"/>
              <a:defRPr lang="ru-RU" sz="1600" baseline="0" dirty="0"/>
            </a:lvl3pPr>
            <a:lvl4pPr marL="540000" lvl="3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lang="ru-RU" sz="1600" baseline="0" dirty="0"/>
            </a:lvl4pPr>
            <a:lvl5pPr marL="720000" lvl="4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◦"/>
              <a:defRPr lang="ru-RU" sz="1600" baseline="0" dirty="0"/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9pPr>
          </a:lstStyle>
          <a:p>
            <a:pPr lvl="0">
              <a:buClr>
                <a:srgbClr val="00805F"/>
              </a:buClr>
              <a:defRPr/>
            </a:pPr>
            <a:r>
              <a:rPr lang="en-GB" sz="1200" b="1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HBase</a:t>
            </a:r>
            <a:r>
              <a:rPr lang="en-GB" sz="1200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HDFS, Hive, </a:t>
            </a:r>
            <a:r>
              <a:rPr lang="en-GB" sz="1200" b="1" dirty="0" err="1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MapR</a:t>
            </a:r>
            <a:r>
              <a:rPr lang="en-GB" sz="1200" b="1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-DB, D3,</a:t>
            </a:r>
            <a:endParaRPr lang="ru-RU" sz="1200" b="1" dirty="0">
              <a:solidFill>
                <a:schemeClr val="accent6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>
              <a:buClr>
                <a:srgbClr val="00805F"/>
              </a:buClr>
              <a:defRPr/>
            </a:pPr>
            <a:r>
              <a:rPr lang="en-GB" sz="1200" b="1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HTTPD, </a:t>
            </a:r>
            <a:r>
              <a:rPr lang="en-GB" sz="1200" b="1" dirty="0" err="1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OpenTSDB</a:t>
            </a:r>
            <a:r>
              <a:rPr lang="en-GB" sz="1200" b="1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GB" sz="1200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Kafka, MongoDB, PostgreSQL,</a:t>
            </a:r>
            <a:endParaRPr lang="ru-RU" sz="1200" dirty="0">
              <a:solidFill>
                <a:schemeClr val="accent6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>
              <a:buClr>
                <a:srgbClr val="00805F"/>
              </a:buClr>
              <a:defRPr/>
            </a:pPr>
            <a:r>
              <a:rPr lang="en-GB" sz="1200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MySQL, MSSQL, Oracle, </a:t>
            </a:r>
            <a:r>
              <a:rPr lang="en-GB" sz="1200" b="1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Apache Derby, H2</a:t>
            </a:r>
            <a:endParaRPr lang="ru-RU" sz="1200" b="1" dirty="0">
              <a:solidFill>
                <a:schemeClr val="accent6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0" name="Freeform 99">
            <a:extLst>
              <a:ext uri="{FF2B5EF4-FFF2-40B4-BE49-F238E27FC236}">
                <a16:creationId xmlns:a16="http://schemas.microsoft.com/office/drawing/2014/main" id="{4F6CCE39-EBF7-D946-A27F-5A1C95104BEF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775416" y="4754643"/>
            <a:ext cx="316146" cy="261938"/>
          </a:xfrm>
          <a:custGeom>
            <a:avLst/>
            <a:gdLst>
              <a:gd name="T0" fmla="*/ 3040 w 3040"/>
              <a:gd name="T1" fmla="*/ 109 h 2884"/>
              <a:gd name="T2" fmla="*/ 2860 w 3040"/>
              <a:gd name="T3" fmla="*/ 256 h 2884"/>
              <a:gd name="T4" fmla="*/ 2673 w 3040"/>
              <a:gd name="T5" fmla="*/ 428 h 2884"/>
              <a:gd name="T6" fmla="*/ 2479 w 3040"/>
              <a:gd name="T7" fmla="*/ 627 h 2884"/>
              <a:gd name="T8" fmla="*/ 2277 w 3040"/>
              <a:gd name="T9" fmla="*/ 853 h 2884"/>
              <a:gd name="T10" fmla="*/ 2067 w 3040"/>
              <a:gd name="T11" fmla="*/ 1106 h 2884"/>
              <a:gd name="T12" fmla="*/ 1926 w 3040"/>
              <a:gd name="T13" fmla="*/ 1287 h 2884"/>
              <a:gd name="T14" fmla="*/ 1727 w 3040"/>
              <a:gd name="T15" fmla="*/ 1556 h 2884"/>
              <a:gd name="T16" fmla="*/ 1546 w 3040"/>
              <a:gd name="T17" fmla="*/ 1819 h 2884"/>
              <a:gd name="T18" fmla="*/ 1385 w 3040"/>
              <a:gd name="T19" fmla="*/ 2076 h 2884"/>
              <a:gd name="T20" fmla="*/ 1243 w 3040"/>
              <a:gd name="T21" fmla="*/ 2324 h 2884"/>
              <a:gd name="T22" fmla="*/ 1120 w 3040"/>
              <a:gd name="T23" fmla="*/ 2567 h 2884"/>
              <a:gd name="T24" fmla="*/ 865 w 3040"/>
              <a:gd name="T25" fmla="*/ 2741 h 2884"/>
              <a:gd name="T26" fmla="*/ 704 w 3040"/>
              <a:gd name="T27" fmla="*/ 2867 h 2884"/>
              <a:gd name="T28" fmla="*/ 675 w 3040"/>
              <a:gd name="T29" fmla="*/ 2856 h 2884"/>
              <a:gd name="T30" fmla="*/ 603 w 3040"/>
              <a:gd name="T31" fmla="*/ 2655 h 2884"/>
              <a:gd name="T32" fmla="*/ 498 w 3040"/>
              <a:gd name="T33" fmla="*/ 2404 h 2884"/>
              <a:gd name="T34" fmla="*/ 401 w 3040"/>
              <a:gd name="T35" fmla="*/ 2197 h 2884"/>
              <a:gd name="T36" fmla="*/ 311 w 3040"/>
              <a:gd name="T37" fmla="*/ 2034 h 2884"/>
              <a:gd name="T38" fmla="*/ 253 w 3040"/>
              <a:gd name="T39" fmla="*/ 1950 h 2884"/>
              <a:gd name="T40" fmla="*/ 164 w 3040"/>
              <a:gd name="T41" fmla="*/ 1855 h 2884"/>
              <a:gd name="T42" fmla="*/ 69 w 3040"/>
              <a:gd name="T43" fmla="*/ 1786 h 2884"/>
              <a:gd name="T44" fmla="*/ 0 w 3040"/>
              <a:gd name="T45" fmla="*/ 1757 h 2884"/>
              <a:gd name="T46" fmla="*/ 87 w 3040"/>
              <a:gd name="T47" fmla="*/ 1672 h 2884"/>
              <a:gd name="T48" fmla="*/ 172 w 3040"/>
              <a:gd name="T49" fmla="*/ 1605 h 2884"/>
              <a:gd name="T50" fmla="*/ 254 w 3040"/>
              <a:gd name="T51" fmla="*/ 1555 h 2884"/>
              <a:gd name="T52" fmla="*/ 332 w 3040"/>
              <a:gd name="T53" fmla="*/ 1523 h 2884"/>
              <a:gd name="T54" fmla="*/ 409 w 3040"/>
              <a:gd name="T55" fmla="*/ 1508 h 2884"/>
              <a:gd name="T56" fmla="*/ 444 w 3040"/>
              <a:gd name="T57" fmla="*/ 1507 h 2884"/>
              <a:gd name="T58" fmla="*/ 476 w 3040"/>
              <a:gd name="T59" fmla="*/ 1513 h 2884"/>
              <a:gd name="T60" fmla="*/ 543 w 3040"/>
              <a:gd name="T61" fmla="*/ 1551 h 2884"/>
              <a:gd name="T62" fmla="*/ 612 w 3040"/>
              <a:gd name="T63" fmla="*/ 1621 h 2884"/>
              <a:gd name="T64" fmla="*/ 683 w 3040"/>
              <a:gd name="T65" fmla="*/ 1723 h 2884"/>
              <a:gd name="T66" fmla="*/ 757 w 3040"/>
              <a:gd name="T67" fmla="*/ 1858 h 2884"/>
              <a:gd name="T68" fmla="*/ 877 w 3040"/>
              <a:gd name="T69" fmla="*/ 2117 h 2884"/>
              <a:gd name="T70" fmla="*/ 973 w 3040"/>
              <a:gd name="T71" fmla="*/ 1963 h 2884"/>
              <a:gd name="T72" fmla="*/ 1129 w 3040"/>
              <a:gd name="T73" fmla="*/ 1731 h 2884"/>
              <a:gd name="T74" fmla="*/ 1299 w 3040"/>
              <a:gd name="T75" fmla="*/ 1503 h 2884"/>
              <a:gd name="T76" fmla="*/ 1485 w 3040"/>
              <a:gd name="T77" fmla="*/ 1277 h 2884"/>
              <a:gd name="T78" fmla="*/ 1685 w 3040"/>
              <a:gd name="T79" fmla="*/ 1052 h 2884"/>
              <a:gd name="T80" fmla="*/ 1828 w 3040"/>
              <a:gd name="T81" fmla="*/ 904 h 2884"/>
              <a:gd name="T82" fmla="*/ 2045 w 3040"/>
              <a:gd name="T83" fmla="*/ 693 h 2884"/>
              <a:gd name="T84" fmla="*/ 2260 w 3040"/>
              <a:gd name="T85" fmla="*/ 502 h 2884"/>
              <a:gd name="T86" fmla="*/ 2474 w 3040"/>
              <a:gd name="T87" fmla="*/ 328 h 2884"/>
              <a:gd name="T88" fmla="*/ 2685 w 3040"/>
              <a:gd name="T89" fmla="*/ 175 h 2884"/>
              <a:gd name="T90" fmla="*/ 2893 w 3040"/>
              <a:gd name="T91" fmla="*/ 40 h 2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040" h="2884">
                <a:moveTo>
                  <a:pt x="2963" y="0"/>
                </a:moveTo>
                <a:lnTo>
                  <a:pt x="3040" y="109"/>
                </a:lnTo>
                <a:lnTo>
                  <a:pt x="3040" y="109"/>
                </a:lnTo>
                <a:lnTo>
                  <a:pt x="2981" y="155"/>
                </a:lnTo>
                <a:lnTo>
                  <a:pt x="2922" y="203"/>
                </a:lnTo>
                <a:lnTo>
                  <a:pt x="2860" y="256"/>
                </a:lnTo>
                <a:lnTo>
                  <a:pt x="2799" y="309"/>
                </a:lnTo>
                <a:lnTo>
                  <a:pt x="2736" y="367"/>
                </a:lnTo>
                <a:lnTo>
                  <a:pt x="2673" y="428"/>
                </a:lnTo>
                <a:lnTo>
                  <a:pt x="2610" y="491"/>
                </a:lnTo>
                <a:lnTo>
                  <a:pt x="2545" y="557"/>
                </a:lnTo>
                <a:lnTo>
                  <a:pt x="2479" y="627"/>
                </a:lnTo>
                <a:lnTo>
                  <a:pt x="2413" y="699"/>
                </a:lnTo>
                <a:lnTo>
                  <a:pt x="2346" y="775"/>
                </a:lnTo>
                <a:lnTo>
                  <a:pt x="2277" y="853"/>
                </a:lnTo>
                <a:lnTo>
                  <a:pt x="2209" y="934"/>
                </a:lnTo>
                <a:lnTo>
                  <a:pt x="2139" y="1018"/>
                </a:lnTo>
                <a:lnTo>
                  <a:pt x="2067" y="1106"/>
                </a:lnTo>
                <a:lnTo>
                  <a:pt x="1996" y="1196"/>
                </a:lnTo>
                <a:lnTo>
                  <a:pt x="1996" y="1196"/>
                </a:lnTo>
                <a:lnTo>
                  <a:pt x="1926" y="1287"/>
                </a:lnTo>
                <a:lnTo>
                  <a:pt x="1858" y="1377"/>
                </a:lnTo>
                <a:lnTo>
                  <a:pt x="1790" y="1468"/>
                </a:lnTo>
                <a:lnTo>
                  <a:pt x="1727" y="1556"/>
                </a:lnTo>
                <a:lnTo>
                  <a:pt x="1664" y="1645"/>
                </a:lnTo>
                <a:lnTo>
                  <a:pt x="1605" y="1733"/>
                </a:lnTo>
                <a:lnTo>
                  <a:pt x="1546" y="1819"/>
                </a:lnTo>
                <a:lnTo>
                  <a:pt x="1490" y="1905"/>
                </a:lnTo>
                <a:lnTo>
                  <a:pt x="1437" y="1991"/>
                </a:lnTo>
                <a:lnTo>
                  <a:pt x="1385" y="2076"/>
                </a:lnTo>
                <a:lnTo>
                  <a:pt x="1336" y="2159"/>
                </a:lnTo>
                <a:lnTo>
                  <a:pt x="1289" y="2242"/>
                </a:lnTo>
                <a:lnTo>
                  <a:pt x="1243" y="2324"/>
                </a:lnTo>
                <a:lnTo>
                  <a:pt x="1200" y="2405"/>
                </a:lnTo>
                <a:lnTo>
                  <a:pt x="1160" y="2486"/>
                </a:lnTo>
                <a:lnTo>
                  <a:pt x="1120" y="2567"/>
                </a:lnTo>
                <a:lnTo>
                  <a:pt x="958" y="2676"/>
                </a:lnTo>
                <a:lnTo>
                  <a:pt x="958" y="2676"/>
                </a:lnTo>
                <a:lnTo>
                  <a:pt x="865" y="2741"/>
                </a:lnTo>
                <a:lnTo>
                  <a:pt x="788" y="2798"/>
                </a:lnTo>
                <a:lnTo>
                  <a:pt x="728" y="2845"/>
                </a:lnTo>
                <a:lnTo>
                  <a:pt x="704" y="2867"/>
                </a:lnTo>
                <a:lnTo>
                  <a:pt x="683" y="2884"/>
                </a:lnTo>
                <a:lnTo>
                  <a:pt x="683" y="2884"/>
                </a:lnTo>
                <a:lnTo>
                  <a:pt x="675" y="2856"/>
                </a:lnTo>
                <a:lnTo>
                  <a:pt x="666" y="2825"/>
                </a:lnTo>
                <a:lnTo>
                  <a:pt x="639" y="2748"/>
                </a:lnTo>
                <a:lnTo>
                  <a:pt x="603" y="2655"/>
                </a:lnTo>
                <a:lnTo>
                  <a:pt x="560" y="2546"/>
                </a:lnTo>
                <a:lnTo>
                  <a:pt x="498" y="2404"/>
                </a:lnTo>
                <a:lnTo>
                  <a:pt x="498" y="2404"/>
                </a:lnTo>
                <a:lnTo>
                  <a:pt x="465" y="2330"/>
                </a:lnTo>
                <a:lnTo>
                  <a:pt x="433" y="2261"/>
                </a:lnTo>
                <a:lnTo>
                  <a:pt x="401" y="2197"/>
                </a:lnTo>
                <a:lnTo>
                  <a:pt x="371" y="2137"/>
                </a:lnTo>
                <a:lnTo>
                  <a:pt x="340" y="2084"/>
                </a:lnTo>
                <a:lnTo>
                  <a:pt x="311" y="2034"/>
                </a:lnTo>
                <a:lnTo>
                  <a:pt x="281" y="1991"/>
                </a:lnTo>
                <a:lnTo>
                  <a:pt x="253" y="1950"/>
                </a:lnTo>
                <a:lnTo>
                  <a:pt x="253" y="1950"/>
                </a:lnTo>
                <a:lnTo>
                  <a:pt x="225" y="1915"/>
                </a:lnTo>
                <a:lnTo>
                  <a:pt x="195" y="1885"/>
                </a:lnTo>
                <a:lnTo>
                  <a:pt x="164" y="1855"/>
                </a:lnTo>
                <a:lnTo>
                  <a:pt x="133" y="1829"/>
                </a:lnTo>
                <a:lnTo>
                  <a:pt x="101" y="1807"/>
                </a:lnTo>
                <a:lnTo>
                  <a:pt x="69" y="1786"/>
                </a:lnTo>
                <a:lnTo>
                  <a:pt x="35" y="1770"/>
                </a:lnTo>
                <a:lnTo>
                  <a:pt x="0" y="1757"/>
                </a:lnTo>
                <a:lnTo>
                  <a:pt x="0" y="1757"/>
                </a:lnTo>
                <a:lnTo>
                  <a:pt x="30" y="1726"/>
                </a:lnTo>
                <a:lnTo>
                  <a:pt x="59" y="1698"/>
                </a:lnTo>
                <a:lnTo>
                  <a:pt x="87" y="1672"/>
                </a:lnTo>
                <a:lnTo>
                  <a:pt x="116" y="1646"/>
                </a:lnTo>
                <a:lnTo>
                  <a:pt x="144" y="1625"/>
                </a:lnTo>
                <a:lnTo>
                  <a:pt x="172" y="1605"/>
                </a:lnTo>
                <a:lnTo>
                  <a:pt x="199" y="1586"/>
                </a:lnTo>
                <a:lnTo>
                  <a:pt x="227" y="1568"/>
                </a:lnTo>
                <a:lnTo>
                  <a:pt x="254" y="1555"/>
                </a:lnTo>
                <a:lnTo>
                  <a:pt x="281" y="1542"/>
                </a:lnTo>
                <a:lnTo>
                  <a:pt x="307" y="1531"/>
                </a:lnTo>
                <a:lnTo>
                  <a:pt x="332" y="1523"/>
                </a:lnTo>
                <a:lnTo>
                  <a:pt x="359" y="1516"/>
                </a:lnTo>
                <a:lnTo>
                  <a:pt x="385" y="1511"/>
                </a:lnTo>
                <a:lnTo>
                  <a:pt x="409" y="1508"/>
                </a:lnTo>
                <a:lnTo>
                  <a:pt x="434" y="1507"/>
                </a:lnTo>
                <a:lnTo>
                  <a:pt x="434" y="1507"/>
                </a:lnTo>
                <a:lnTo>
                  <a:pt x="444" y="1507"/>
                </a:lnTo>
                <a:lnTo>
                  <a:pt x="455" y="1508"/>
                </a:lnTo>
                <a:lnTo>
                  <a:pt x="465" y="1511"/>
                </a:lnTo>
                <a:lnTo>
                  <a:pt x="476" y="1513"/>
                </a:lnTo>
                <a:lnTo>
                  <a:pt x="499" y="1523"/>
                </a:lnTo>
                <a:lnTo>
                  <a:pt x="521" y="1535"/>
                </a:lnTo>
                <a:lnTo>
                  <a:pt x="543" y="1551"/>
                </a:lnTo>
                <a:lnTo>
                  <a:pt x="566" y="1571"/>
                </a:lnTo>
                <a:lnTo>
                  <a:pt x="589" y="1594"/>
                </a:lnTo>
                <a:lnTo>
                  <a:pt x="612" y="1621"/>
                </a:lnTo>
                <a:lnTo>
                  <a:pt x="636" y="1652"/>
                </a:lnTo>
                <a:lnTo>
                  <a:pt x="659" y="1685"/>
                </a:lnTo>
                <a:lnTo>
                  <a:pt x="683" y="1723"/>
                </a:lnTo>
                <a:lnTo>
                  <a:pt x="708" y="1763"/>
                </a:lnTo>
                <a:lnTo>
                  <a:pt x="733" y="1809"/>
                </a:lnTo>
                <a:lnTo>
                  <a:pt x="757" y="1858"/>
                </a:lnTo>
                <a:lnTo>
                  <a:pt x="783" y="1909"/>
                </a:lnTo>
                <a:lnTo>
                  <a:pt x="808" y="1964"/>
                </a:lnTo>
                <a:lnTo>
                  <a:pt x="877" y="2117"/>
                </a:lnTo>
                <a:lnTo>
                  <a:pt x="877" y="2117"/>
                </a:lnTo>
                <a:lnTo>
                  <a:pt x="924" y="2039"/>
                </a:lnTo>
                <a:lnTo>
                  <a:pt x="973" y="1963"/>
                </a:lnTo>
                <a:lnTo>
                  <a:pt x="1024" y="1885"/>
                </a:lnTo>
                <a:lnTo>
                  <a:pt x="1075" y="1808"/>
                </a:lnTo>
                <a:lnTo>
                  <a:pt x="1129" y="1731"/>
                </a:lnTo>
                <a:lnTo>
                  <a:pt x="1184" y="1655"/>
                </a:lnTo>
                <a:lnTo>
                  <a:pt x="1242" y="1578"/>
                </a:lnTo>
                <a:lnTo>
                  <a:pt x="1299" y="1503"/>
                </a:lnTo>
                <a:lnTo>
                  <a:pt x="1360" y="1427"/>
                </a:lnTo>
                <a:lnTo>
                  <a:pt x="1422" y="1351"/>
                </a:lnTo>
                <a:lnTo>
                  <a:pt x="1485" y="1277"/>
                </a:lnTo>
                <a:lnTo>
                  <a:pt x="1551" y="1201"/>
                </a:lnTo>
                <a:lnTo>
                  <a:pt x="1618" y="1127"/>
                </a:lnTo>
                <a:lnTo>
                  <a:pt x="1685" y="1052"/>
                </a:lnTo>
                <a:lnTo>
                  <a:pt x="1757" y="978"/>
                </a:lnTo>
                <a:lnTo>
                  <a:pt x="1828" y="904"/>
                </a:lnTo>
                <a:lnTo>
                  <a:pt x="1828" y="904"/>
                </a:lnTo>
                <a:lnTo>
                  <a:pt x="1901" y="831"/>
                </a:lnTo>
                <a:lnTo>
                  <a:pt x="1973" y="761"/>
                </a:lnTo>
                <a:lnTo>
                  <a:pt x="2045" y="693"/>
                </a:lnTo>
                <a:lnTo>
                  <a:pt x="2117" y="627"/>
                </a:lnTo>
                <a:lnTo>
                  <a:pt x="2189" y="564"/>
                </a:lnTo>
                <a:lnTo>
                  <a:pt x="2260" y="502"/>
                </a:lnTo>
                <a:lnTo>
                  <a:pt x="2331" y="441"/>
                </a:lnTo>
                <a:lnTo>
                  <a:pt x="2402" y="383"/>
                </a:lnTo>
                <a:lnTo>
                  <a:pt x="2474" y="328"/>
                </a:lnTo>
                <a:lnTo>
                  <a:pt x="2544" y="274"/>
                </a:lnTo>
                <a:lnTo>
                  <a:pt x="2614" y="223"/>
                </a:lnTo>
                <a:lnTo>
                  <a:pt x="2685" y="175"/>
                </a:lnTo>
                <a:lnTo>
                  <a:pt x="2755" y="128"/>
                </a:lnTo>
                <a:lnTo>
                  <a:pt x="2825" y="83"/>
                </a:lnTo>
                <a:lnTo>
                  <a:pt x="2893" y="40"/>
                </a:lnTo>
                <a:lnTo>
                  <a:pt x="2963" y="0"/>
                </a:lnTo>
                <a:lnTo>
                  <a:pt x="2963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42367792-C5CF-2E44-A81A-13569660785F}"/>
              </a:ext>
            </a:extLst>
          </p:cNvPr>
          <p:cNvSpPr txBox="1">
            <a:spLocks/>
          </p:cNvSpPr>
          <p:nvPr/>
        </p:nvSpPr>
        <p:spPr>
          <a:xfrm>
            <a:off x="7954771" y="5759071"/>
            <a:ext cx="3957436" cy="369332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lvl="0" indent="0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lang="ru-RU" sz="1600" baseline="0" dirty="0"/>
            </a:lvl1pPr>
            <a:lvl2pPr marL="180000" lvl="1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lang="ru-RU" sz="1600" baseline="0" dirty="0"/>
            </a:lvl2pPr>
            <a:lvl3pPr marL="360000" lvl="2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◦"/>
              <a:defRPr lang="ru-RU" sz="1600" baseline="0" dirty="0"/>
            </a:lvl3pPr>
            <a:lvl4pPr marL="540000" lvl="3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lang="ru-RU" sz="1600" baseline="0" dirty="0"/>
            </a:lvl4pPr>
            <a:lvl5pPr marL="720000" lvl="4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◦"/>
              <a:defRPr lang="ru-RU" sz="1600" baseline="0" dirty="0"/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9pPr>
          </a:lstStyle>
          <a:p>
            <a:pPr lvl="0">
              <a:buClr>
                <a:srgbClr val="00805F"/>
              </a:buClr>
              <a:defRPr/>
            </a:pP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1.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</a:t>
            </a:r>
            <a:endParaRPr lang="en-GB" sz="1200" dirty="0">
              <a:solidFill>
                <a:schemeClr val="accent6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>
              <a:buClr>
                <a:srgbClr val="00805F"/>
              </a:buClr>
              <a:defRPr/>
            </a:pPr>
            <a:r>
              <a:rPr lang="ru-RU" sz="1200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0.</a:t>
            </a:r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9</a:t>
            </a:r>
            <a:r>
              <a:rPr lang="ru-RU" sz="120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</a:t>
            </a:r>
            <a:endParaRPr lang="ru-RU" sz="1200" dirty="0">
              <a:solidFill>
                <a:schemeClr val="accent6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9" name="Freeform 99">
            <a:extLst>
              <a:ext uri="{FF2B5EF4-FFF2-40B4-BE49-F238E27FC236}">
                <a16:creationId xmlns:a16="http://schemas.microsoft.com/office/drawing/2014/main" id="{574FACD4-9DD1-400C-8642-AE122E2EB057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5181048" y="2086638"/>
            <a:ext cx="316146" cy="261938"/>
          </a:xfrm>
          <a:custGeom>
            <a:avLst/>
            <a:gdLst>
              <a:gd name="T0" fmla="*/ 3040 w 3040"/>
              <a:gd name="T1" fmla="*/ 109 h 2884"/>
              <a:gd name="T2" fmla="*/ 2860 w 3040"/>
              <a:gd name="T3" fmla="*/ 256 h 2884"/>
              <a:gd name="T4" fmla="*/ 2673 w 3040"/>
              <a:gd name="T5" fmla="*/ 428 h 2884"/>
              <a:gd name="T6" fmla="*/ 2479 w 3040"/>
              <a:gd name="T7" fmla="*/ 627 h 2884"/>
              <a:gd name="T8" fmla="*/ 2277 w 3040"/>
              <a:gd name="T9" fmla="*/ 853 h 2884"/>
              <a:gd name="T10" fmla="*/ 2067 w 3040"/>
              <a:gd name="T11" fmla="*/ 1106 h 2884"/>
              <a:gd name="T12" fmla="*/ 1926 w 3040"/>
              <a:gd name="T13" fmla="*/ 1287 h 2884"/>
              <a:gd name="T14" fmla="*/ 1727 w 3040"/>
              <a:gd name="T15" fmla="*/ 1556 h 2884"/>
              <a:gd name="T16" fmla="*/ 1546 w 3040"/>
              <a:gd name="T17" fmla="*/ 1819 h 2884"/>
              <a:gd name="T18" fmla="*/ 1385 w 3040"/>
              <a:gd name="T19" fmla="*/ 2076 h 2884"/>
              <a:gd name="T20" fmla="*/ 1243 w 3040"/>
              <a:gd name="T21" fmla="*/ 2324 h 2884"/>
              <a:gd name="T22" fmla="*/ 1120 w 3040"/>
              <a:gd name="T23" fmla="*/ 2567 h 2884"/>
              <a:gd name="T24" fmla="*/ 865 w 3040"/>
              <a:gd name="T25" fmla="*/ 2741 h 2884"/>
              <a:gd name="T26" fmla="*/ 704 w 3040"/>
              <a:gd name="T27" fmla="*/ 2867 h 2884"/>
              <a:gd name="T28" fmla="*/ 675 w 3040"/>
              <a:gd name="T29" fmla="*/ 2856 h 2884"/>
              <a:gd name="T30" fmla="*/ 603 w 3040"/>
              <a:gd name="T31" fmla="*/ 2655 h 2884"/>
              <a:gd name="T32" fmla="*/ 498 w 3040"/>
              <a:gd name="T33" fmla="*/ 2404 h 2884"/>
              <a:gd name="T34" fmla="*/ 401 w 3040"/>
              <a:gd name="T35" fmla="*/ 2197 h 2884"/>
              <a:gd name="T36" fmla="*/ 311 w 3040"/>
              <a:gd name="T37" fmla="*/ 2034 h 2884"/>
              <a:gd name="T38" fmla="*/ 253 w 3040"/>
              <a:gd name="T39" fmla="*/ 1950 h 2884"/>
              <a:gd name="T40" fmla="*/ 164 w 3040"/>
              <a:gd name="T41" fmla="*/ 1855 h 2884"/>
              <a:gd name="T42" fmla="*/ 69 w 3040"/>
              <a:gd name="T43" fmla="*/ 1786 h 2884"/>
              <a:gd name="T44" fmla="*/ 0 w 3040"/>
              <a:gd name="T45" fmla="*/ 1757 h 2884"/>
              <a:gd name="T46" fmla="*/ 87 w 3040"/>
              <a:gd name="T47" fmla="*/ 1672 h 2884"/>
              <a:gd name="T48" fmla="*/ 172 w 3040"/>
              <a:gd name="T49" fmla="*/ 1605 h 2884"/>
              <a:gd name="T50" fmla="*/ 254 w 3040"/>
              <a:gd name="T51" fmla="*/ 1555 h 2884"/>
              <a:gd name="T52" fmla="*/ 332 w 3040"/>
              <a:gd name="T53" fmla="*/ 1523 h 2884"/>
              <a:gd name="T54" fmla="*/ 409 w 3040"/>
              <a:gd name="T55" fmla="*/ 1508 h 2884"/>
              <a:gd name="T56" fmla="*/ 444 w 3040"/>
              <a:gd name="T57" fmla="*/ 1507 h 2884"/>
              <a:gd name="T58" fmla="*/ 476 w 3040"/>
              <a:gd name="T59" fmla="*/ 1513 h 2884"/>
              <a:gd name="T60" fmla="*/ 543 w 3040"/>
              <a:gd name="T61" fmla="*/ 1551 h 2884"/>
              <a:gd name="T62" fmla="*/ 612 w 3040"/>
              <a:gd name="T63" fmla="*/ 1621 h 2884"/>
              <a:gd name="T64" fmla="*/ 683 w 3040"/>
              <a:gd name="T65" fmla="*/ 1723 h 2884"/>
              <a:gd name="T66" fmla="*/ 757 w 3040"/>
              <a:gd name="T67" fmla="*/ 1858 h 2884"/>
              <a:gd name="T68" fmla="*/ 877 w 3040"/>
              <a:gd name="T69" fmla="*/ 2117 h 2884"/>
              <a:gd name="T70" fmla="*/ 973 w 3040"/>
              <a:gd name="T71" fmla="*/ 1963 h 2884"/>
              <a:gd name="T72" fmla="*/ 1129 w 3040"/>
              <a:gd name="T73" fmla="*/ 1731 h 2884"/>
              <a:gd name="T74" fmla="*/ 1299 w 3040"/>
              <a:gd name="T75" fmla="*/ 1503 h 2884"/>
              <a:gd name="T76" fmla="*/ 1485 w 3040"/>
              <a:gd name="T77" fmla="*/ 1277 h 2884"/>
              <a:gd name="T78" fmla="*/ 1685 w 3040"/>
              <a:gd name="T79" fmla="*/ 1052 h 2884"/>
              <a:gd name="T80" fmla="*/ 1828 w 3040"/>
              <a:gd name="T81" fmla="*/ 904 h 2884"/>
              <a:gd name="T82" fmla="*/ 2045 w 3040"/>
              <a:gd name="T83" fmla="*/ 693 h 2884"/>
              <a:gd name="T84" fmla="*/ 2260 w 3040"/>
              <a:gd name="T85" fmla="*/ 502 h 2884"/>
              <a:gd name="T86" fmla="*/ 2474 w 3040"/>
              <a:gd name="T87" fmla="*/ 328 h 2884"/>
              <a:gd name="T88" fmla="*/ 2685 w 3040"/>
              <a:gd name="T89" fmla="*/ 175 h 2884"/>
              <a:gd name="T90" fmla="*/ 2893 w 3040"/>
              <a:gd name="T91" fmla="*/ 40 h 2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040" h="2884">
                <a:moveTo>
                  <a:pt x="2963" y="0"/>
                </a:moveTo>
                <a:lnTo>
                  <a:pt x="3040" y="109"/>
                </a:lnTo>
                <a:lnTo>
                  <a:pt x="3040" y="109"/>
                </a:lnTo>
                <a:lnTo>
                  <a:pt x="2981" y="155"/>
                </a:lnTo>
                <a:lnTo>
                  <a:pt x="2922" y="203"/>
                </a:lnTo>
                <a:lnTo>
                  <a:pt x="2860" y="256"/>
                </a:lnTo>
                <a:lnTo>
                  <a:pt x="2799" y="309"/>
                </a:lnTo>
                <a:lnTo>
                  <a:pt x="2736" y="367"/>
                </a:lnTo>
                <a:lnTo>
                  <a:pt x="2673" y="428"/>
                </a:lnTo>
                <a:lnTo>
                  <a:pt x="2610" y="491"/>
                </a:lnTo>
                <a:lnTo>
                  <a:pt x="2545" y="557"/>
                </a:lnTo>
                <a:lnTo>
                  <a:pt x="2479" y="627"/>
                </a:lnTo>
                <a:lnTo>
                  <a:pt x="2413" y="699"/>
                </a:lnTo>
                <a:lnTo>
                  <a:pt x="2346" y="775"/>
                </a:lnTo>
                <a:lnTo>
                  <a:pt x="2277" y="853"/>
                </a:lnTo>
                <a:lnTo>
                  <a:pt x="2209" y="934"/>
                </a:lnTo>
                <a:lnTo>
                  <a:pt x="2139" y="1018"/>
                </a:lnTo>
                <a:lnTo>
                  <a:pt x="2067" y="1106"/>
                </a:lnTo>
                <a:lnTo>
                  <a:pt x="1996" y="1196"/>
                </a:lnTo>
                <a:lnTo>
                  <a:pt x="1996" y="1196"/>
                </a:lnTo>
                <a:lnTo>
                  <a:pt x="1926" y="1287"/>
                </a:lnTo>
                <a:lnTo>
                  <a:pt x="1858" y="1377"/>
                </a:lnTo>
                <a:lnTo>
                  <a:pt x="1790" y="1468"/>
                </a:lnTo>
                <a:lnTo>
                  <a:pt x="1727" y="1556"/>
                </a:lnTo>
                <a:lnTo>
                  <a:pt x="1664" y="1645"/>
                </a:lnTo>
                <a:lnTo>
                  <a:pt x="1605" y="1733"/>
                </a:lnTo>
                <a:lnTo>
                  <a:pt x="1546" y="1819"/>
                </a:lnTo>
                <a:lnTo>
                  <a:pt x="1490" y="1905"/>
                </a:lnTo>
                <a:lnTo>
                  <a:pt x="1437" y="1991"/>
                </a:lnTo>
                <a:lnTo>
                  <a:pt x="1385" y="2076"/>
                </a:lnTo>
                <a:lnTo>
                  <a:pt x="1336" y="2159"/>
                </a:lnTo>
                <a:lnTo>
                  <a:pt x="1289" y="2242"/>
                </a:lnTo>
                <a:lnTo>
                  <a:pt x="1243" y="2324"/>
                </a:lnTo>
                <a:lnTo>
                  <a:pt x="1200" y="2405"/>
                </a:lnTo>
                <a:lnTo>
                  <a:pt x="1160" y="2486"/>
                </a:lnTo>
                <a:lnTo>
                  <a:pt x="1120" y="2567"/>
                </a:lnTo>
                <a:lnTo>
                  <a:pt x="958" y="2676"/>
                </a:lnTo>
                <a:lnTo>
                  <a:pt x="958" y="2676"/>
                </a:lnTo>
                <a:lnTo>
                  <a:pt x="865" y="2741"/>
                </a:lnTo>
                <a:lnTo>
                  <a:pt x="788" y="2798"/>
                </a:lnTo>
                <a:lnTo>
                  <a:pt x="728" y="2845"/>
                </a:lnTo>
                <a:lnTo>
                  <a:pt x="704" y="2867"/>
                </a:lnTo>
                <a:lnTo>
                  <a:pt x="683" y="2884"/>
                </a:lnTo>
                <a:lnTo>
                  <a:pt x="683" y="2884"/>
                </a:lnTo>
                <a:lnTo>
                  <a:pt x="675" y="2856"/>
                </a:lnTo>
                <a:lnTo>
                  <a:pt x="666" y="2825"/>
                </a:lnTo>
                <a:lnTo>
                  <a:pt x="639" y="2748"/>
                </a:lnTo>
                <a:lnTo>
                  <a:pt x="603" y="2655"/>
                </a:lnTo>
                <a:lnTo>
                  <a:pt x="560" y="2546"/>
                </a:lnTo>
                <a:lnTo>
                  <a:pt x="498" y="2404"/>
                </a:lnTo>
                <a:lnTo>
                  <a:pt x="498" y="2404"/>
                </a:lnTo>
                <a:lnTo>
                  <a:pt x="465" y="2330"/>
                </a:lnTo>
                <a:lnTo>
                  <a:pt x="433" y="2261"/>
                </a:lnTo>
                <a:lnTo>
                  <a:pt x="401" y="2197"/>
                </a:lnTo>
                <a:lnTo>
                  <a:pt x="371" y="2137"/>
                </a:lnTo>
                <a:lnTo>
                  <a:pt x="340" y="2084"/>
                </a:lnTo>
                <a:lnTo>
                  <a:pt x="311" y="2034"/>
                </a:lnTo>
                <a:lnTo>
                  <a:pt x="281" y="1991"/>
                </a:lnTo>
                <a:lnTo>
                  <a:pt x="253" y="1950"/>
                </a:lnTo>
                <a:lnTo>
                  <a:pt x="253" y="1950"/>
                </a:lnTo>
                <a:lnTo>
                  <a:pt x="225" y="1915"/>
                </a:lnTo>
                <a:lnTo>
                  <a:pt x="195" y="1885"/>
                </a:lnTo>
                <a:lnTo>
                  <a:pt x="164" y="1855"/>
                </a:lnTo>
                <a:lnTo>
                  <a:pt x="133" y="1829"/>
                </a:lnTo>
                <a:lnTo>
                  <a:pt x="101" y="1807"/>
                </a:lnTo>
                <a:lnTo>
                  <a:pt x="69" y="1786"/>
                </a:lnTo>
                <a:lnTo>
                  <a:pt x="35" y="1770"/>
                </a:lnTo>
                <a:lnTo>
                  <a:pt x="0" y="1757"/>
                </a:lnTo>
                <a:lnTo>
                  <a:pt x="0" y="1757"/>
                </a:lnTo>
                <a:lnTo>
                  <a:pt x="30" y="1726"/>
                </a:lnTo>
                <a:lnTo>
                  <a:pt x="59" y="1698"/>
                </a:lnTo>
                <a:lnTo>
                  <a:pt x="87" y="1672"/>
                </a:lnTo>
                <a:lnTo>
                  <a:pt x="116" y="1646"/>
                </a:lnTo>
                <a:lnTo>
                  <a:pt x="144" y="1625"/>
                </a:lnTo>
                <a:lnTo>
                  <a:pt x="172" y="1605"/>
                </a:lnTo>
                <a:lnTo>
                  <a:pt x="199" y="1586"/>
                </a:lnTo>
                <a:lnTo>
                  <a:pt x="227" y="1568"/>
                </a:lnTo>
                <a:lnTo>
                  <a:pt x="254" y="1555"/>
                </a:lnTo>
                <a:lnTo>
                  <a:pt x="281" y="1542"/>
                </a:lnTo>
                <a:lnTo>
                  <a:pt x="307" y="1531"/>
                </a:lnTo>
                <a:lnTo>
                  <a:pt x="332" y="1523"/>
                </a:lnTo>
                <a:lnTo>
                  <a:pt x="359" y="1516"/>
                </a:lnTo>
                <a:lnTo>
                  <a:pt x="385" y="1511"/>
                </a:lnTo>
                <a:lnTo>
                  <a:pt x="409" y="1508"/>
                </a:lnTo>
                <a:lnTo>
                  <a:pt x="434" y="1507"/>
                </a:lnTo>
                <a:lnTo>
                  <a:pt x="434" y="1507"/>
                </a:lnTo>
                <a:lnTo>
                  <a:pt x="444" y="1507"/>
                </a:lnTo>
                <a:lnTo>
                  <a:pt x="455" y="1508"/>
                </a:lnTo>
                <a:lnTo>
                  <a:pt x="465" y="1511"/>
                </a:lnTo>
                <a:lnTo>
                  <a:pt x="476" y="1513"/>
                </a:lnTo>
                <a:lnTo>
                  <a:pt x="499" y="1523"/>
                </a:lnTo>
                <a:lnTo>
                  <a:pt x="521" y="1535"/>
                </a:lnTo>
                <a:lnTo>
                  <a:pt x="543" y="1551"/>
                </a:lnTo>
                <a:lnTo>
                  <a:pt x="566" y="1571"/>
                </a:lnTo>
                <a:lnTo>
                  <a:pt x="589" y="1594"/>
                </a:lnTo>
                <a:lnTo>
                  <a:pt x="612" y="1621"/>
                </a:lnTo>
                <a:lnTo>
                  <a:pt x="636" y="1652"/>
                </a:lnTo>
                <a:lnTo>
                  <a:pt x="659" y="1685"/>
                </a:lnTo>
                <a:lnTo>
                  <a:pt x="683" y="1723"/>
                </a:lnTo>
                <a:lnTo>
                  <a:pt x="708" y="1763"/>
                </a:lnTo>
                <a:lnTo>
                  <a:pt x="733" y="1809"/>
                </a:lnTo>
                <a:lnTo>
                  <a:pt x="757" y="1858"/>
                </a:lnTo>
                <a:lnTo>
                  <a:pt x="783" y="1909"/>
                </a:lnTo>
                <a:lnTo>
                  <a:pt x="808" y="1964"/>
                </a:lnTo>
                <a:lnTo>
                  <a:pt x="877" y="2117"/>
                </a:lnTo>
                <a:lnTo>
                  <a:pt x="877" y="2117"/>
                </a:lnTo>
                <a:lnTo>
                  <a:pt x="924" y="2039"/>
                </a:lnTo>
                <a:lnTo>
                  <a:pt x="973" y="1963"/>
                </a:lnTo>
                <a:lnTo>
                  <a:pt x="1024" y="1885"/>
                </a:lnTo>
                <a:lnTo>
                  <a:pt x="1075" y="1808"/>
                </a:lnTo>
                <a:lnTo>
                  <a:pt x="1129" y="1731"/>
                </a:lnTo>
                <a:lnTo>
                  <a:pt x="1184" y="1655"/>
                </a:lnTo>
                <a:lnTo>
                  <a:pt x="1242" y="1578"/>
                </a:lnTo>
                <a:lnTo>
                  <a:pt x="1299" y="1503"/>
                </a:lnTo>
                <a:lnTo>
                  <a:pt x="1360" y="1427"/>
                </a:lnTo>
                <a:lnTo>
                  <a:pt x="1422" y="1351"/>
                </a:lnTo>
                <a:lnTo>
                  <a:pt x="1485" y="1277"/>
                </a:lnTo>
                <a:lnTo>
                  <a:pt x="1551" y="1201"/>
                </a:lnTo>
                <a:lnTo>
                  <a:pt x="1618" y="1127"/>
                </a:lnTo>
                <a:lnTo>
                  <a:pt x="1685" y="1052"/>
                </a:lnTo>
                <a:lnTo>
                  <a:pt x="1757" y="978"/>
                </a:lnTo>
                <a:lnTo>
                  <a:pt x="1828" y="904"/>
                </a:lnTo>
                <a:lnTo>
                  <a:pt x="1828" y="904"/>
                </a:lnTo>
                <a:lnTo>
                  <a:pt x="1901" y="831"/>
                </a:lnTo>
                <a:lnTo>
                  <a:pt x="1973" y="761"/>
                </a:lnTo>
                <a:lnTo>
                  <a:pt x="2045" y="693"/>
                </a:lnTo>
                <a:lnTo>
                  <a:pt x="2117" y="627"/>
                </a:lnTo>
                <a:lnTo>
                  <a:pt x="2189" y="564"/>
                </a:lnTo>
                <a:lnTo>
                  <a:pt x="2260" y="502"/>
                </a:lnTo>
                <a:lnTo>
                  <a:pt x="2331" y="441"/>
                </a:lnTo>
                <a:lnTo>
                  <a:pt x="2402" y="383"/>
                </a:lnTo>
                <a:lnTo>
                  <a:pt x="2474" y="328"/>
                </a:lnTo>
                <a:lnTo>
                  <a:pt x="2544" y="274"/>
                </a:lnTo>
                <a:lnTo>
                  <a:pt x="2614" y="223"/>
                </a:lnTo>
                <a:lnTo>
                  <a:pt x="2685" y="175"/>
                </a:lnTo>
                <a:lnTo>
                  <a:pt x="2755" y="128"/>
                </a:lnTo>
                <a:lnTo>
                  <a:pt x="2825" y="83"/>
                </a:lnTo>
                <a:lnTo>
                  <a:pt x="2893" y="40"/>
                </a:lnTo>
                <a:lnTo>
                  <a:pt x="2963" y="0"/>
                </a:lnTo>
                <a:lnTo>
                  <a:pt x="2963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123" name="Header2">
            <a:extLst>
              <a:ext uri="{FF2B5EF4-FFF2-40B4-BE49-F238E27FC236}">
                <a16:creationId xmlns:a16="http://schemas.microsoft.com/office/drawing/2014/main" id="{30A3AB2F-CAA4-4F73-A33C-1595FECDE94D}"/>
              </a:ext>
            </a:extLst>
          </p:cNvPr>
          <p:cNvGrpSpPr>
            <a:grpSpLocks/>
          </p:cNvGrpSpPr>
          <p:nvPr>
            <p:custDataLst>
              <p:tags r:id="rId17"/>
            </p:custDataLst>
          </p:nvPr>
        </p:nvGrpSpPr>
        <p:grpSpPr bwMode="gray">
          <a:xfrm>
            <a:off x="7954771" y="1009915"/>
            <a:ext cx="3957436" cy="203132"/>
            <a:chOff x="278210" y="2103247"/>
            <a:chExt cx="4064000" cy="133990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96C4E22-B71B-44A6-9DCF-6519F7E4D649}"/>
                </a:ext>
              </a:extLst>
            </p:cNvPr>
            <p:cNvSpPr txBox="1"/>
            <p:nvPr/>
          </p:nvSpPr>
          <p:spPr bwMode="gray">
            <a:xfrm>
              <a:off x="278210" y="2103247"/>
              <a:ext cx="4064000" cy="133990"/>
            </a:xfrm>
            <a:prstGeom prst="rect">
              <a:avLst/>
            </a:prstGeom>
          </p:spPr>
          <p:txBody>
            <a:bodyPr vert="horz" lIns="0" tIns="0" rIns="0" bIns="18288" rtlCol="0" anchor="b">
              <a:spAutoFit/>
            </a:bodyPr>
            <a:lstStyle>
              <a:lvl1pPr marL="0" lvl="0" indent="0" defTabSz="895350" eaLnBrk="1" latinLnBrk="0" hangingPunct="1">
                <a:buClr>
                  <a:schemeClr val="tx2"/>
                </a:buClr>
                <a:buSzPct val="100000"/>
                <a:defRPr lang="ru-RU" sz="1600" baseline="0" dirty="0">
                  <a:latin typeface="+mn-lt"/>
                </a:defRPr>
              </a:lvl1pPr>
              <a:lvl2pPr marL="180000" lvl="1" indent="-180000" defTabSz="895350" eaLnBrk="1" latinLnBrk="0" hangingPunct="1">
                <a:buClr>
                  <a:schemeClr val="tx2"/>
                </a:buClr>
                <a:buSzPct val="125000"/>
                <a:buFont typeface="Arial" panose="020B0604020202020204" pitchFamily="34" charset="0"/>
                <a:buChar char="•"/>
                <a:defRPr lang="ru-RU" sz="1600" baseline="0" dirty="0">
                  <a:latin typeface="+mn-lt"/>
                </a:defRPr>
              </a:lvl2pPr>
              <a:lvl3pPr marL="360000" lvl="2" indent="-180000" defTabSz="895350" eaLnBrk="1" latinLnBrk="0" hangingPunct="1">
                <a:buClr>
                  <a:schemeClr val="tx2"/>
                </a:buClr>
                <a:buSzPct val="120000"/>
                <a:buFont typeface="Arial" panose="020B0604020202020204" pitchFamily="34" charset="0"/>
                <a:buChar char="◦"/>
                <a:defRPr lang="ru-RU" sz="1600" baseline="0" dirty="0">
                  <a:latin typeface="+mn-lt"/>
                </a:defRPr>
              </a:lvl3pPr>
              <a:lvl4pPr marL="540000" lvl="3" indent="-180000" defTabSz="895350" eaLnBrk="1" latinLnBrk="0" hangingPunct="1">
                <a:buClr>
                  <a:schemeClr val="tx2"/>
                </a:buClr>
                <a:buSzPct val="110000"/>
                <a:buFont typeface="Arial" panose="020B0604020202020204" pitchFamily="34" charset="0"/>
                <a:buChar char="•"/>
                <a:defRPr lang="ru-RU" sz="1600" baseline="0" dirty="0">
                  <a:latin typeface="+mn-lt"/>
                </a:defRPr>
              </a:lvl4pPr>
              <a:lvl5pPr marL="720000" lvl="4" indent="-180000" defTabSz="895350" eaLnBrk="1" latinLnBrk="0" hangingPunct="1">
                <a:buClr>
                  <a:schemeClr val="tx2"/>
                </a:buClr>
                <a:buSzPct val="100000"/>
                <a:buFont typeface="Arial" panose="020B0604020202020204" pitchFamily="34" charset="0"/>
                <a:buChar char="◦"/>
                <a:defRPr lang="ru-RU" sz="1600" baseline="0" dirty="0">
                  <a:latin typeface="+mn-lt"/>
                </a:defRPr>
              </a:lvl5pPr>
              <a:lvl6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6pPr>
              <a:lvl7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7pPr>
              <a:lvl8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8pPr>
              <a:lvl9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9pPr>
            </a:lstStyle>
            <a:p>
              <a:pPr marL="0" marR="0" lvl="0" indent="0" algn="l" defTabSz="8953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805F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Apache </a:t>
              </a:r>
              <a:r>
                <a:rPr lang="en-US" sz="1200" b="1" dirty="0">
                  <a:latin typeface="Verdana" panose="020B0604030504040204" pitchFamily="34" charset="0"/>
                  <a:ea typeface="Verdana" panose="020B0604030504040204" pitchFamily="34" charset="0"/>
                </a:rPr>
                <a:t>Drill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135" name="Connector: Elbow 134">
              <a:extLst>
                <a:ext uri="{FF2B5EF4-FFF2-40B4-BE49-F238E27FC236}">
                  <a16:creationId xmlns:a16="http://schemas.microsoft.com/office/drawing/2014/main" id="{3DFB1530-160F-458B-94A4-AE74BC59B943}"/>
                </a:ext>
              </a:extLst>
            </p:cNvPr>
            <p:cNvCxnSpPr/>
            <p:nvPr/>
          </p:nvCxnSpPr>
          <p:spPr bwMode="gray">
            <a:xfrm>
              <a:off x="278210" y="2237237"/>
              <a:ext cx="4064000" cy="0"/>
            </a:xfrm>
            <a:prstGeom prst="bentConnector3">
              <a:avLst/>
            </a:prstGeom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Header2">
            <a:extLst>
              <a:ext uri="{FF2B5EF4-FFF2-40B4-BE49-F238E27FC236}">
                <a16:creationId xmlns:a16="http://schemas.microsoft.com/office/drawing/2014/main" id="{73FCD65C-0C28-4492-961D-49B506444CBB}"/>
              </a:ext>
            </a:extLst>
          </p:cNvPr>
          <p:cNvGrpSpPr>
            <a:grpSpLocks/>
          </p:cNvGrpSpPr>
          <p:nvPr>
            <p:custDataLst>
              <p:tags r:id="rId18"/>
            </p:custDataLst>
          </p:nvPr>
        </p:nvGrpSpPr>
        <p:grpSpPr bwMode="gray">
          <a:xfrm>
            <a:off x="3229919" y="1009915"/>
            <a:ext cx="4218404" cy="203132"/>
            <a:chOff x="278210" y="2103247"/>
            <a:chExt cx="4064000" cy="133990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E9C2E05-2A1F-43AE-A4C4-399683E1BCCD}"/>
                </a:ext>
              </a:extLst>
            </p:cNvPr>
            <p:cNvSpPr txBox="1"/>
            <p:nvPr/>
          </p:nvSpPr>
          <p:spPr bwMode="gray">
            <a:xfrm>
              <a:off x="278210" y="2103247"/>
              <a:ext cx="4064000" cy="133990"/>
            </a:xfrm>
            <a:prstGeom prst="rect">
              <a:avLst/>
            </a:prstGeom>
          </p:spPr>
          <p:txBody>
            <a:bodyPr vert="horz" lIns="0" tIns="0" rIns="0" bIns="18288" rtlCol="0" anchor="b">
              <a:spAutoFit/>
            </a:bodyPr>
            <a:lstStyle>
              <a:lvl1pPr marL="0" lvl="0" indent="0" defTabSz="895350" eaLnBrk="1" latinLnBrk="0" hangingPunct="1">
                <a:buClr>
                  <a:schemeClr val="tx2"/>
                </a:buClr>
                <a:buSzPct val="100000"/>
                <a:defRPr lang="ru-RU" sz="1600" baseline="0" dirty="0">
                  <a:latin typeface="+mn-lt"/>
                </a:defRPr>
              </a:lvl1pPr>
              <a:lvl2pPr marL="180000" lvl="1" indent="-180000" defTabSz="895350" eaLnBrk="1" latinLnBrk="0" hangingPunct="1">
                <a:buClr>
                  <a:schemeClr val="tx2"/>
                </a:buClr>
                <a:buSzPct val="125000"/>
                <a:buFont typeface="Arial" panose="020B0604020202020204" pitchFamily="34" charset="0"/>
                <a:buChar char="•"/>
                <a:defRPr lang="ru-RU" sz="1600" baseline="0" dirty="0">
                  <a:latin typeface="+mn-lt"/>
                </a:defRPr>
              </a:lvl2pPr>
              <a:lvl3pPr marL="360000" lvl="2" indent="-180000" defTabSz="895350" eaLnBrk="1" latinLnBrk="0" hangingPunct="1">
                <a:buClr>
                  <a:schemeClr val="tx2"/>
                </a:buClr>
                <a:buSzPct val="120000"/>
                <a:buFont typeface="Arial" panose="020B0604020202020204" pitchFamily="34" charset="0"/>
                <a:buChar char="◦"/>
                <a:defRPr lang="ru-RU" sz="1600" baseline="0" dirty="0">
                  <a:latin typeface="+mn-lt"/>
                </a:defRPr>
              </a:lvl3pPr>
              <a:lvl4pPr marL="540000" lvl="3" indent="-180000" defTabSz="895350" eaLnBrk="1" latinLnBrk="0" hangingPunct="1">
                <a:buClr>
                  <a:schemeClr val="tx2"/>
                </a:buClr>
                <a:buSzPct val="110000"/>
                <a:buFont typeface="Arial" panose="020B0604020202020204" pitchFamily="34" charset="0"/>
                <a:buChar char="•"/>
                <a:defRPr lang="ru-RU" sz="1600" baseline="0" dirty="0">
                  <a:latin typeface="+mn-lt"/>
                </a:defRPr>
              </a:lvl4pPr>
              <a:lvl5pPr marL="720000" lvl="4" indent="-180000" defTabSz="895350" eaLnBrk="1" latinLnBrk="0" hangingPunct="1">
                <a:buClr>
                  <a:schemeClr val="tx2"/>
                </a:buClr>
                <a:buSzPct val="100000"/>
                <a:buFont typeface="Arial" panose="020B0604020202020204" pitchFamily="34" charset="0"/>
                <a:buChar char="◦"/>
                <a:defRPr lang="ru-RU" sz="1600" baseline="0" dirty="0">
                  <a:latin typeface="+mn-lt"/>
                </a:defRPr>
              </a:lvl5pPr>
              <a:lvl6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6pPr>
              <a:lvl7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7pPr>
              <a:lvl8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8pPr>
              <a:lvl9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>
                  <a:latin typeface="+mn-lt"/>
                </a:defRPr>
              </a:lvl9pPr>
            </a:lstStyle>
            <a:p>
              <a:pPr marL="0" marR="0" lvl="0" indent="0" algn="l" defTabSz="8953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805F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Presto</a:t>
              </a:r>
            </a:p>
          </p:txBody>
        </p:sp>
        <p:cxnSp>
          <p:nvCxnSpPr>
            <p:cNvPr id="138" name="Connector: Elbow 137">
              <a:extLst>
                <a:ext uri="{FF2B5EF4-FFF2-40B4-BE49-F238E27FC236}">
                  <a16:creationId xmlns:a16="http://schemas.microsoft.com/office/drawing/2014/main" id="{FDA29B44-AFA3-4808-AF3E-50C86700386D}"/>
                </a:ext>
              </a:extLst>
            </p:cNvPr>
            <p:cNvCxnSpPr/>
            <p:nvPr/>
          </p:nvCxnSpPr>
          <p:spPr bwMode="gray">
            <a:xfrm>
              <a:off x="278210" y="2237237"/>
              <a:ext cx="4064000" cy="0"/>
            </a:xfrm>
            <a:prstGeom prst="bentConnector3">
              <a:avLst/>
            </a:prstGeom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A77FEADB-DFA9-4954-8327-FF10C207CE67}"/>
              </a:ext>
            </a:extLst>
          </p:cNvPr>
          <p:cNvSpPr txBox="1">
            <a:spLocks/>
          </p:cNvSpPr>
          <p:nvPr/>
        </p:nvSpPr>
        <p:spPr>
          <a:xfrm>
            <a:off x="4050751" y="2608800"/>
            <a:ext cx="2576740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lang="ru-RU" sz="1600" baseline="0" dirty="0"/>
            </a:lvl1pPr>
            <a:lvl2pPr marL="180000" lvl="1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lang="ru-RU" sz="1600" baseline="0" dirty="0"/>
            </a:lvl2pPr>
            <a:lvl3pPr marL="360000" lvl="2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◦"/>
              <a:defRPr lang="ru-RU" sz="1600" baseline="0" dirty="0"/>
            </a:lvl3pPr>
            <a:lvl4pPr marL="540000" lvl="3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lang="ru-RU" sz="1600" baseline="0" dirty="0"/>
            </a:lvl4pPr>
            <a:lvl5pPr marL="720000" lvl="4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◦"/>
              <a:defRPr lang="ru-RU" sz="1600" baseline="0" dirty="0"/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9pPr>
          </a:lstStyle>
          <a:p>
            <a:pPr marL="0" marR="0" lvl="0" indent="0" algn="ctr" defTabSz="895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05F"/>
              </a:buClr>
              <a:buSzPct val="10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ANSI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947CFE6-FF2D-C242-AE38-4C3B65C80C09}"/>
              </a:ext>
            </a:extLst>
          </p:cNvPr>
          <p:cNvSpPr txBox="1">
            <a:spLocks/>
          </p:cNvSpPr>
          <p:nvPr/>
        </p:nvSpPr>
        <p:spPr>
          <a:xfrm>
            <a:off x="3229919" y="3177433"/>
            <a:ext cx="4218404" cy="1292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lang="ru-RU" sz="1600" baseline="0" dirty="0"/>
            </a:lvl1pPr>
            <a:lvl2pPr marL="180000" lvl="1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lang="ru-RU" sz="1600" baseline="0" dirty="0"/>
            </a:lvl2pPr>
            <a:lvl3pPr marL="360000" lvl="2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◦"/>
              <a:defRPr lang="ru-RU" sz="1600" baseline="0" dirty="0"/>
            </a:lvl3pPr>
            <a:lvl4pPr marL="540000" lvl="3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lang="ru-RU" sz="1600" baseline="0" dirty="0"/>
            </a:lvl4pPr>
            <a:lvl5pPr marL="720000" lvl="4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◦"/>
              <a:defRPr lang="ru-RU" sz="1600" baseline="0" dirty="0"/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9pPr>
          </a:lstStyle>
          <a:p>
            <a:pPr lvl="0">
              <a:buClr>
                <a:srgbClr val="00805F"/>
              </a:buClr>
              <a:defRPr/>
            </a:pPr>
            <a:r>
              <a:rPr kumimoji="0" lang="en-GB" sz="1200" b="1" i="0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Accumulo</a:t>
            </a:r>
            <a:r>
              <a:rPr kumimoji="0" lang="en-GB" sz="12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kumimoji="0" lang="en-GB" sz="1200" b="1" i="0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BigQuery</a:t>
            </a:r>
            <a:r>
              <a:rPr kumimoji="0" lang="en-GB" sz="12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, Black Hole, Cassandra</a:t>
            </a:r>
            <a:r>
              <a:rPr lang="en-GB" sz="12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/Scylla</a:t>
            </a:r>
            <a:r>
              <a:rPr kumimoji="0" lang="en-GB" sz="12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ru-RU" sz="12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n-GB" sz="12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Druid, Elastic, Google Sheets, JMX, </a:t>
            </a:r>
            <a:r>
              <a:rPr kumimoji="0" lang="en-GB" sz="1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HDFS, </a:t>
            </a:r>
            <a:r>
              <a:rPr kumimoji="0" lang="en-GB" sz="1200" b="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Hive,</a:t>
            </a:r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>
              <a:buClr>
                <a:srgbClr val="00805F"/>
              </a:buClr>
              <a:defRPr/>
            </a:pPr>
            <a:r>
              <a:rPr kumimoji="0" lang="en-GB" sz="1200" b="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Kafka, </a:t>
            </a:r>
            <a:r>
              <a:rPr lang="en-GB" sz="12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Kinesis, Kudu, </a:t>
            </a:r>
            <a:r>
              <a:rPr lang="en-GB" sz="1200" b="1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MemSQL</a:t>
            </a:r>
            <a:r>
              <a:rPr lang="en-GB" sz="12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kumimoji="0" lang="en-GB" sz="1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MongoDB,</a:t>
            </a:r>
            <a:endParaRPr kumimoji="0" lang="ru-RU" sz="120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>
              <a:buClr>
                <a:srgbClr val="00805F"/>
              </a:buClr>
              <a:defRPr/>
            </a:pPr>
            <a:r>
              <a:rPr kumimoji="0" lang="en-GB" sz="12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Pinot</a:t>
            </a:r>
            <a:r>
              <a:rPr lang="en-GB" sz="12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Prometheus, Redis, Redshift</a:t>
            </a:r>
            <a:r>
              <a:rPr lang="en-GB" sz="1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GB" sz="12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Thrift</a:t>
            </a:r>
            <a:r>
              <a:rPr lang="en-GB" sz="1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endParaRPr lang="ru-RU" sz="12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>
              <a:buClr>
                <a:srgbClr val="00805F"/>
              </a:buClr>
              <a:defRPr/>
            </a:pPr>
            <a:r>
              <a:rPr lang="en-GB" sz="1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PostgreSQL</a:t>
            </a:r>
            <a:r>
              <a:rPr kumimoji="0" lang="en-GB" sz="1200" b="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, MySQL, MSSQL, Oracle, </a:t>
            </a:r>
            <a:r>
              <a:rPr kumimoji="0" lang="en-GB" sz="12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Apache Phoenix</a:t>
            </a:r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94C94C59-34D4-DD4E-8A02-E5F832A3565C}"/>
              </a:ext>
            </a:extLst>
          </p:cNvPr>
          <p:cNvSpPr txBox="1">
            <a:spLocks/>
          </p:cNvSpPr>
          <p:nvPr/>
        </p:nvSpPr>
        <p:spPr>
          <a:xfrm>
            <a:off x="3229919" y="5759071"/>
            <a:ext cx="4218404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lang="ru-RU" sz="1600" baseline="0" dirty="0"/>
            </a:lvl1pPr>
            <a:lvl2pPr marL="180000" lvl="1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lang="ru-RU" sz="1600" baseline="0" dirty="0"/>
            </a:lvl2pPr>
            <a:lvl3pPr marL="360000" lvl="2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◦"/>
              <a:defRPr lang="ru-RU" sz="1600" baseline="0" dirty="0"/>
            </a:lvl3pPr>
            <a:lvl4pPr marL="540000" lvl="3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lang="ru-RU" sz="1600" baseline="0" dirty="0"/>
            </a:lvl4pPr>
            <a:lvl5pPr marL="720000" lvl="4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◦"/>
              <a:defRPr lang="ru-RU" sz="1600" baseline="0" dirty="0"/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9pPr>
          </a:lstStyle>
          <a:p>
            <a:pPr marL="0" marR="0" lvl="0" indent="0" defTabSz="895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05F"/>
              </a:buClr>
              <a:buSzPct val="100000"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13.5</a:t>
            </a: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k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defTabSz="895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05F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4.6</a:t>
            </a: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k</a:t>
            </a:r>
          </a:p>
        </p:txBody>
      </p:sp>
      <p:cxnSp>
        <p:nvCxnSpPr>
          <p:cNvPr id="213" name="HorizontalLine2 56">
            <a:extLst>
              <a:ext uri="{FF2B5EF4-FFF2-40B4-BE49-F238E27FC236}">
                <a16:creationId xmlns:a16="http://schemas.microsoft.com/office/drawing/2014/main" id="{53E6644C-0E25-7243-BB76-6EEAAEB87785}"/>
              </a:ext>
            </a:extLst>
          </p:cNvPr>
          <p:cNvCxnSpPr>
            <a:cxnSpLocks/>
          </p:cNvCxnSpPr>
          <p:nvPr>
            <p:custDataLst>
              <p:tags r:id="rId19"/>
            </p:custDataLst>
          </p:nvPr>
        </p:nvCxnSpPr>
        <p:spPr>
          <a:xfrm>
            <a:off x="275834" y="5130963"/>
            <a:ext cx="11636375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8974B9D6-A37F-684A-B948-6E3774F99A18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>
          <a:xfrm>
            <a:off x="276230" y="5309555"/>
            <a:ext cx="2445261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lang="ru-RU" sz="1600" baseline="0" dirty="0"/>
            </a:lvl1pPr>
            <a:lvl2pPr marL="180000" lvl="1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lang="ru-RU" sz="1600" baseline="0" dirty="0"/>
            </a:lvl2pPr>
            <a:lvl3pPr marL="360000" lvl="2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◦"/>
              <a:defRPr lang="ru-RU" sz="1600" baseline="0" dirty="0"/>
            </a:lvl3pPr>
            <a:lvl4pPr marL="540000" lvl="3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lang="ru-RU" sz="1600" baseline="0" dirty="0"/>
            </a:lvl4pPr>
            <a:lvl5pPr marL="720000" lvl="4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◦"/>
              <a:defRPr lang="ru-RU" sz="1600" baseline="0" dirty="0"/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9pPr>
          </a:lstStyle>
          <a:p>
            <a:pPr marL="0" marR="0" lvl="0" indent="0" algn="l" defTabSz="895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05F"/>
              </a:buClr>
              <a:buSzPct val="100000"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Distributed request execution</a:t>
            </a:r>
          </a:p>
        </p:txBody>
      </p:sp>
      <p:sp>
        <p:nvSpPr>
          <p:cNvPr id="216" name="Freeform 99">
            <a:extLst>
              <a:ext uri="{FF2B5EF4-FFF2-40B4-BE49-F238E27FC236}">
                <a16:creationId xmlns:a16="http://schemas.microsoft.com/office/drawing/2014/main" id="{DEC6085C-C7FB-AC44-895B-F204F80F5AB6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775416" y="5252546"/>
            <a:ext cx="316146" cy="261938"/>
          </a:xfrm>
          <a:custGeom>
            <a:avLst/>
            <a:gdLst>
              <a:gd name="T0" fmla="*/ 3040 w 3040"/>
              <a:gd name="T1" fmla="*/ 109 h 2884"/>
              <a:gd name="T2" fmla="*/ 2860 w 3040"/>
              <a:gd name="T3" fmla="*/ 256 h 2884"/>
              <a:gd name="T4" fmla="*/ 2673 w 3040"/>
              <a:gd name="T5" fmla="*/ 428 h 2884"/>
              <a:gd name="T6" fmla="*/ 2479 w 3040"/>
              <a:gd name="T7" fmla="*/ 627 h 2884"/>
              <a:gd name="T8" fmla="*/ 2277 w 3040"/>
              <a:gd name="T9" fmla="*/ 853 h 2884"/>
              <a:gd name="T10" fmla="*/ 2067 w 3040"/>
              <a:gd name="T11" fmla="*/ 1106 h 2884"/>
              <a:gd name="T12" fmla="*/ 1926 w 3040"/>
              <a:gd name="T13" fmla="*/ 1287 h 2884"/>
              <a:gd name="T14" fmla="*/ 1727 w 3040"/>
              <a:gd name="T15" fmla="*/ 1556 h 2884"/>
              <a:gd name="T16" fmla="*/ 1546 w 3040"/>
              <a:gd name="T17" fmla="*/ 1819 h 2884"/>
              <a:gd name="T18" fmla="*/ 1385 w 3040"/>
              <a:gd name="T19" fmla="*/ 2076 h 2884"/>
              <a:gd name="T20" fmla="*/ 1243 w 3040"/>
              <a:gd name="T21" fmla="*/ 2324 h 2884"/>
              <a:gd name="T22" fmla="*/ 1120 w 3040"/>
              <a:gd name="T23" fmla="*/ 2567 h 2884"/>
              <a:gd name="T24" fmla="*/ 865 w 3040"/>
              <a:gd name="T25" fmla="*/ 2741 h 2884"/>
              <a:gd name="T26" fmla="*/ 704 w 3040"/>
              <a:gd name="T27" fmla="*/ 2867 h 2884"/>
              <a:gd name="T28" fmla="*/ 675 w 3040"/>
              <a:gd name="T29" fmla="*/ 2856 h 2884"/>
              <a:gd name="T30" fmla="*/ 603 w 3040"/>
              <a:gd name="T31" fmla="*/ 2655 h 2884"/>
              <a:gd name="T32" fmla="*/ 498 w 3040"/>
              <a:gd name="T33" fmla="*/ 2404 h 2884"/>
              <a:gd name="T34" fmla="*/ 401 w 3040"/>
              <a:gd name="T35" fmla="*/ 2197 h 2884"/>
              <a:gd name="T36" fmla="*/ 311 w 3040"/>
              <a:gd name="T37" fmla="*/ 2034 h 2884"/>
              <a:gd name="T38" fmla="*/ 253 w 3040"/>
              <a:gd name="T39" fmla="*/ 1950 h 2884"/>
              <a:gd name="T40" fmla="*/ 164 w 3040"/>
              <a:gd name="T41" fmla="*/ 1855 h 2884"/>
              <a:gd name="T42" fmla="*/ 69 w 3040"/>
              <a:gd name="T43" fmla="*/ 1786 h 2884"/>
              <a:gd name="T44" fmla="*/ 0 w 3040"/>
              <a:gd name="T45" fmla="*/ 1757 h 2884"/>
              <a:gd name="T46" fmla="*/ 87 w 3040"/>
              <a:gd name="T47" fmla="*/ 1672 h 2884"/>
              <a:gd name="T48" fmla="*/ 172 w 3040"/>
              <a:gd name="T49" fmla="*/ 1605 h 2884"/>
              <a:gd name="T50" fmla="*/ 254 w 3040"/>
              <a:gd name="T51" fmla="*/ 1555 h 2884"/>
              <a:gd name="T52" fmla="*/ 332 w 3040"/>
              <a:gd name="T53" fmla="*/ 1523 h 2884"/>
              <a:gd name="T54" fmla="*/ 409 w 3040"/>
              <a:gd name="T55" fmla="*/ 1508 h 2884"/>
              <a:gd name="T56" fmla="*/ 444 w 3040"/>
              <a:gd name="T57" fmla="*/ 1507 h 2884"/>
              <a:gd name="T58" fmla="*/ 476 w 3040"/>
              <a:gd name="T59" fmla="*/ 1513 h 2884"/>
              <a:gd name="T60" fmla="*/ 543 w 3040"/>
              <a:gd name="T61" fmla="*/ 1551 h 2884"/>
              <a:gd name="T62" fmla="*/ 612 w 3040"/>
              <a:gd name="T63" fmla="*/ 1621 h 2884"/>
              <a:gd name="T64" fmla="*/ 683 w 3040"/>
              <a:gd name="T65" fmla="*/ 1723 h 2884"/>
              <a:gd name="T66" fmla="*/ 757 w 3040"/>
              <a:gd name="T67" fmla="*/ 1858 h 2884"/>
              <a:gd name="T68" fmla="*/ 877 w 3040"/>
              <a:gd name="T69" fmla="*/ 2117 h 2884"/>
              <a:gd name="T70" fmla="*/ 973 w 3040"/>
              <a:gd name="T71" fmla="*/ 1963 h 2884"/>
              <a:gd name="T72" fmla="*/ 1129 w 3040"/>
              <a:gd name="T73" fmla="*/ 1731 h 2884"/>
              <a:gd name="T74" fmla="*/ 1299 w 3040"/>
              <a:gd name="T75" fmla="*/ 1503 h 2884"/>
              <a:gd name="T76" fmla="*/ 1485 w 3040"/>
              <a:gd name="T77" fmla="*/ 1277 h 2884"/>
              <a:gd name="T78" fmla="*/ 1685 w 3040"/>
              <a:gd name="T79" fmla="*/ 1052 h 2884"/>
              <a:gd name="T80" fmla="*/ 1828 w 3040"/>
              <a:gd name="T81" fmla="*/ 904 h 2884"/>
              <a:gd name="T82" fmla="*/ 2045 w 3040"/>
              <a:gd name="T83" fmla="*/ 693 h 2884"/>
              <a:gd name="T84" fmla="*/ 2260 w 3040"/>
              <a:gd name="T85" fmla="*/ 502 h 2884"/>
              <a:gd name="T86" fmla="*/ 2474 w 3040"/>
              <a:gd name="T87" fmla="*/ 328 h 2884"/>
              <a:gd name="T88" fmla="*/ 2685 w 3040"/>
              <a:gd name="T89" fmla="*/ 175 h 2884"/>
              <a:gd name="T90" fmla="*/ 2893 w 3040"/>
              <a:gd name="T91" fmla="*/ 40 h 2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040" h="2884">
                <a:moveTo>
                  <a:pt x="2963" y="0"/>
                </a:moveTo>
                <a:lnTo>
                  <a:pt x="3040" y="109"/>
                </a:lnTo>
                <a:lnTo>
                  <a:pt x="3040" y="109"/>
                </a:lnTo>
                <a:lnTo>
                  <a:pt x="2981" y="155"/>
                </a:lnTo>
                <a:lnTo>
                  <a:pt x="2922" y="203"/>
                </a:lnTo>
                <a:lnTo>
                  <a:pt x="2860" y="256"/>
                </a:lnTo>
                <a:lnTo>
                  <a:pt x="2799" y="309"/>
                </a:lnTo>
                <a:lnTo>
                  <a:pt x="2736" y="367"/>
                </a:lnTo>
                <a:lnTo>
                  <a:pt x="2673" y="428"/>
                </a:lnTo>
                <a:lnTo>
                  <a:pt x="2610" y="491"/>
                </a:lnTo>
                <a:lnTo>
                  <a:pt x="2545" y="557"/>
                </a:lnTo>
                <a:lnTo>
                  <a:pt x="2479" y="627"/>
                </a:lnTo>
                <a:lnTo>
                  <a:pt x="2413" y="699"/>
                </a:lnTo>
                <a:lnTo>
                  <a:pt x="2346" y="775"/>
                </a:lnTo>
                <a:lnTo>
                  <a:pt x="2277" y="853"/>
                </a:lnTo>
                <a:lnTo>
                  <a:pt x="2209" y="934"/>
                </a:lnTo>
                <a:lnTo>
                  <a:pt x="2139" y="1018"/>
                </a:lnTo>
                <a:lnTo>
                  <a:pt x="2067" y="1106"/>
                </a:lnTo>
                <a:lnTo>
                  <a:pt x="1996" y="1196"/>
                </a:lnTo>
                <a:lnTo>
                  <a:pt x="1996" y="1196"/>
                </a:lnTo>
                <a:lnTo>
                  <a:pt x="1926" y="1287"/>
                </a:lnTo>
                <a:lnTo>
                  <a:pt x="1858" y="1377"/>
                </a:lnTo>
                <a:lnTo>
                  <a:pt x="1790" y="1468"/>
                </a:lnTo>
                <a:lnTo>
                  <a:pt x="1727" y="1556"/>
                </a:lnTo>
                <a:lnTo>
                  <a:pt x="1664" y="1645"/>
                </a:lnTo>
                <a:lnTo>
                  <a:pt x="1605" y="1733"/>
                </a:lnTo>
                <a:lnTo>
                  <a:pt x="1546" y="1819"/>
                </a:lnTo>
                <a:lnTo>
                  <a:pt x="1490" y="1905"/>
                </a:lnTo>
                <a:lnTo>
                  <a:pt x="1437" y="1991"/>
                </a:lnTo>
                <a:lnTo>
                  <a:pt x="1385" y="2076"/>
                </a:lnTo>
                <a:lnTo>
                  <a:pt x="1336" y="2159"/>
                </a:lnTo>
                <a:lnTo>
                  <a:pt x="1289" y="2242"/>
                </a:lnTo>
                <a:lnTo>
                  <a:pt x="1243" y="2324"/>
                </a:lnTo>
                <a:lnTo>
                  <a:pt x="1200" y="2405"/>
                </a:lnTo>
                <a:lnTo>
                  <a:pt x="1160" y="2486"/>
                </a:lnTo>
                <a:lnTo>
                  <a:pt x="1120" y="2567"/>
                </a:lnTo>
                <a:lnTo>
                  <a:pt x="958" y="2676"/>
                </a:lnTo>
                <a:lnTo>
                  <a:pt x="958" y="2676"/>
                </a:lnTo>
                <a:lnTo>
                  <a:pt x="865" y="2741"/>
                </a:lnTo>
                <a:lnTo>
                  <a:pt x="788" y="2798"/>
                </a:lnTo>
                <a:lnTo>
                  <a:pt x="728" y="2845"/>
                </a:lnTo>
                <a:lnTo>
                  <a:pt x="704" y="2867"/>
                </a:lnTo>
                <a:lnTo>
                  <a:pt x="683" y="2884"/>
                </a:lnTo>
                <a:lnTo>
                  <a:pt x="683" y="2884"/>
                </a:lnTo>
                <a:lnTo>
                  <a:pt x="675" y="2856"/>
                </a:lnTo>
                <a:lnTo>
                  <a:pt x="666" y="2825"/>
                </a:lnTo>
                <a:lnTo>
                  <a:pt x="639" y="2748"/>
                </a:lnTo>
                <a:lnTo>
                  <a:pt x="603" y="2655"/>
                </a:lnTo>
                <a:lnTo>
                  <a:pt x="560" y="2546"/>
                </a:lnTo>
                <a:lnTo>
                  <a:pt x="498" y="2404"/>
                </a:lnTo>
                <a:lnTo>
                  <a:pt x="498" y="2404"/>
                </a:lnTo>
                <a:lnTo>
                  <a:pt x="465" y="2330"/>
                </a:lnTo>
                <a:lnTo>
                  <a:pt x="433" y="2261"/>
                </a:lnTo>
                <a:lnTo>
                  <a:pt x="401" y="2197"/>
                </a:lnTo>
                <a:lnTo>
                  <a:pt x="371" y="2137"/>
                </a:lnTo>
                <a:lnTo>
                  <a:pt x="340" y="2084"/>
                </a:lnTo>
                <a:lnTo>
                  <a:pt x="311" y="2034"/>
                </a:lnTo>
                <a:lnTo>
                  <a:pt x="281" y="1991"/>
                </a:lnTo>
                <a:lnTo>
                  <a:pt x="253" y="1950"/>
                </a:lnTo>
                <a:lnTo>
                  <a:pt x="253" y="1950"/>
                </a:lnTo>
                <a:lnTo>
                  <a:pt x="225" y="1915"/>
                </a:lnTo>
                <a:lnTo>
                  <a:pt x="195" y="1885"/>
                </a:lnTo>
                <a:lnTo>
                  <a:pt x="164" y="1855"/>
                </a:lnTo>
                <a:lnTo>
                  <a:pt x="133" y="1829"/>
                </a:lnTo>
                <a:lnTo>
                  <a:pt x="101" y="1807"/>
                </a:lnTo>
                <a:lnTo>
                  <a:pt x="69" y="1786"/>
                </a:lnTo>
                <a:lnTo>
                  <a:pt x="35" y="1770"/>
                </a:lnTo>
                <a:lnTo>
                  <a:pt x="0" y="1757"/>
                </a:lnTo>
                <a:lnTo>
                  <a:pt x="0" y="1757"/>
                </a:lnTo>
                <a:lnTo>
                  <a:pt x="30" y="1726"/>
                </a:lnTo>
                <a:lnTo>
                  <a:pt x="59" y="1698"/>
                </a:lnTo>
                <a:lnTo>
                  <a:pt x="87" y="1672"/>
                </a:lnTo>
                <a:lnTo>
                  <a:pt x="116" y="1646"/>
                </a:lnTo>
                <a:lnTo>
                  <a:pt x="144" y="1625"/>
                </a:lnTo>
                <a:lnTo>
                  <a:pt x="172" y="1605"/>
                </a:lnTo>
                <a:lnTo>
                  <a:pt x="199" y="1586"/>
                </a:lnTo>
                <a:lnTo>
                  <a:pt x="227" y="1568"/>
                </a:lnTo>
                <a:lnTo>
                  <a:pt x="254" y="1555"/>
                </a:lnTo>
                <a:lnTo>
                  <a:pt x="281" y="1542"/>
                </a:lnTo>
                <a:lnTo>
                  <a:pt x="307" y="1531"/>
                </a:lnTo>
                <a:lnTo>
                  <a:pt x="332" y="1523"/>
                </a:lnTo>
                <a:lnTo>
                  <a:pt x="359" y="1516"/>
                </a:lnTo>
                <a:lnTo>
                  <a:pt x="385" y="1511"/>
                </a:lnTo>
                <a:lnTo>
                  <a:pt x="409" y="1508"/>
                </a:lnTo>
                <a:lnTo>
                  <a:pt x="434" y="1507"/>
                </a:lnTo>
                <a:lnTo>
                  <a:pt x="434" y="1507"/>
                </a:lnTo>
                <a:lnTo>
                  <a:pt x="444" y="1507"/>
                </a:lnTo>
                <a:lnTo>
                  <a:pt x="455" y="1508"/>
                </a:lnTo>
                <a:lnTo>
                  <a:pt x="465" y="1511"/>
                </a:lnTo>
                <a:lnTo>
                  <a:pt x="476" y="1513"/>
                </a:lnTo>
                <a:lnTo>
                  <a:pt x="499" y="1523"/>
                </a:lnTo>
                <a:lnTo>
                  <a:pt x="521" y="1535"/>
                </a:lnTo>
                <a:lnTo>
                  <a:pt x="543" y="1551"/>
                </a:lnTo>
                <a:lnTo>
                  <a:pt x="566" y="1571"/>
                </a:lnTo>
                <a:lnTo>
                  <a:pt x="589" y="1594"/>
                </a:lnTo>
                <a:lnTo>
                  <a:pt x="612" y="1621"/>
                </a:lnTo>
                <a:lnTo>
                  <a:pt x="636" y="1652"/>
                </a:lnTo>
                <a:lnTo>
                  <a:pt x="659" y="1685"/>
                </a:lnTo>
                <a:lnTo>
                  <a:pt x="683" y="1723"/>
                </a:lnTo>
                <a:lnTo>
                  <a:pt x="708" y="1763"/>
                </a:lnTo>
                <a:lnTo>
                  <a:pt x="733" y="1809"/>
                </a:lnTo>
                <a:lnTo>
                  <a:pt x="757" y="1858"/>
                </a:lnTo>
                <a:lnTo>
                  <a:pt x="783" y="1909"/>
                </a:lnTo>
                <a:lnTo>
                  <a:pt x="808" y="1964"/>
                </a:lnTo>
                <a:lnTo>
                  <a:pt x="877" y="2117"/>
                </a:lnTo>
                <a:lnTo>
                  <a:pt x="877" y="2117"/>
                </a:lnTo>
                <a:lnTo>
                  <a:pt x="924" y="2039"/>
                </a:lnTo>
                <a:lnTo>
                  <a:pt x="973" y="1963"/>
                </a:lnTo>
                <a:lnTo>
                  <a:pt x="1024" y="1885"/>
                </a:lnTo>
                <a:lnTo>
                  <a:pt x="1075" y="1808"/>
                </a:lnTo>
                <a:lnTo>
                  <a:pt x="1129" y="1731"/>
                </a:lnTo>
                <a:lnTo>
                  <a:pt x="1184" y="1655"/>
                </a:lnTo>
                <a:lnTo>
                  <a:pt x="1242" y="1578"/>
                </a:lnTo>
                <a:lnTo>
                  <a:pt x="1299" y="1503"/>
                </a:lnTo>
                <a:lnTo>
                  <a:pt x="1360" y="1427"/>
                </a:lnTo>
                <a:lnTo>
                  <a:pt x="1422" y="1351"/>
                </a:lnTo>
                <a:lnTo>
                  <a:pt x="1485" y="1277"/>
                </a:lnTo>
                <a:lnTo>
                  <a:pt x="1551" y="1201"/>
                </a:lnTo>
                <a:lnTo>
                  <a:pt x="1618" y="1127"/>
                </a:lnTo>
                <a:lnTo>
                  <a:pt x="1685" y="1052"/>
                </a:lnTo>
                <a:lnTo>
                  <a:pt x="1757" y="978"/>
                </a:lnTo>
                <a:lnTo>
                  <a:pt x="1828" y="904"/>
                </a:lnTo>
                <a:lnTo>
                  <a:pt x="1828" y="904"/>
                </a:lnTo>
                <a:lnTo>
                  <a:pt x="1901" y="831"/>
                </a:lnTo>
                <a:lnTo>
                  <a:pt x="1973" y="761"/>
                </a:lnTo>
                <a:lnTo>
                  <a:pt x="2045" y="693"/>
                </a:lnTo>
                <a:lnTo>
                  <a:pt x="2117" y="627"/>
                </a:lnTo>
                <a:lnTo>
                  <a:pt x="2189" y="564"/>
                </a:lnTo>
                <a:lnTo>
                  <a:pt x="2260" y="502"/>
                </a:lnTo>
                <a:lnTo>
                  <a:pt x="2331" y="441"/>
                </a:lnTo>
                <a:lnTo>
                  <a:pt x="2402" y="383"/>
                </a:lnTo>
                <a:lnTo>
                  <a:pt x="2474" y="328"/>
                </a:lnTo>
                <a:lnTo>
                  <a:pt x="2544" y="274"/>
                </a:lnTo>
                <a:lnTo>
                  <a:pt x="2614" y="223"/>
                </a:lnTo>
                <a:lnTo>
                  <a:pt x="2685" y="175"/>
                </a:lnTo>
                <a:lnTo>
                  <a:pt x="2755" y="128"/>
                </a:lnTo>
                <a:lnTo>
                  <a:pt x="2825" y="83"/>
                </a:lnTo>
                <a:lnTo>
                  <a:pt x="2893" y="40"/>
                </a:lnTo>
                <a:lnTo>
                  <a:pt x="2963" y="0"/>
                </a:lnTo>
                <a:lnTo>
                  <a:pt x="2963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7" name="Freeform 99">
            <a:extLst>
              <a:ext uri="{FF2B5EF4-FFF2-40B4-BE49-F238E27FC236}">
                <a16:creationId xmlns:a16="http://schemas.microsoft.com/office/drawing/2014/main" id="{683FE71D-882C-8948-9EC7-0EE2C7529312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5181048" y="5252546"/>
            <a:ext cx="316146" cy="261938"/>
          </a:xfrm>
          <a:custGeom>
            <a:avLst/>
            <a:gdLst>
              <a:gd name="T0" fmla="*/ 3040 w 3040"/>
              <a:gd name="T1" fmla="*/ 109 h 2884"/>
              <a:gd name="T2" fmla="*/ 2860 w 3040"/>
              <a:gd name="T3" fmla="*/ 256 h 2884"/>
              <a:gd name="T4" fmla="*/ 2673 w 3040"/>
              <a:gd name="T5" fmla="*/ 428 h 2884"/>
              <a:gd name="T6" fmla="*/ 2479 w 3040"/>
              <a:gd name="T7" fmla="*/ 627 h 2884"/>
              <a:gd name="T8" fmla="*/ 2277 w 3040"/>
              <a:gd name="T9" fmla="*/ 853 h 2884"/>
              <a:gd name="T10" fmla="*/ 2067 w 3040"/>
              <a:gd name="T11" fmla="*/ 1106 h 2884"/>
              <a:gd name="T12" fmla="*/ 1926 w 3040"/>
              <a:gd name="T13" fmla="*/ 1287 h 2884"/>
              <a:gd name="T14" fmla="*/ 1727 w 3040"/>
              <a:gd name="T15" fmla="*/ 1556 h 2884"/>
              <a:gd name="T16" fmla="*/ 1546 w 3040"/>
              <a:gd name="T17" fmla="*/ 1819 h 2884"/>
              <a:gd name="T18" fmla="*/ 1385 w 3040"/>
              <a:gd name="T19" fmla="*/ 2076 h 2884"/>
              <a:gd name="T20" fmla="*/ 1243 w 3040"/>
              <a:gd name="T21" fmla="*/ 2324 h 2884"/>
              <a:gd name="T22" fmla="*/ 1120 w 3040"/>
              <a:gd name="T23" fmla="*/ 2567 h 2884"/>
              <a:gd name="T24" fmla="*/ 865 w 3040"/>
              <a:gd name="T25" fmla="*/ 2741 h 2884"/>
              <a:gd name="T26" fmla="*/ 704 w 3040"/>
              <a:gd name="T27" fmla="*/ 2867 h 2884"/>
              <a:gd name="T28" fmla="*/ 675 w 3040"/>
              <a:gd name="T29" fmla="*/ 2856 h 2884"/>
              <a:gd name="T30" fmla="*/ 603 w 3040"/>
              <a:gd name="T31" fmla="*/ 2655 h 2884"/>
              <a:gd name="T32" fmla="*/ 498 w 3040"/>
              <a:gd name="T33" fmla="*/ 2404 h 2884"/>
              <a:gd name="T34" fmla="*/ 401 w 3040"/>
              <a:gd name="T35" fmla="*/ 2197 h 2884"/>
              <a:gd name="T36" fmla="*/ 311 w 3040"/>
              <a:gd name="T37" fmla="*/ 2034 h 2884"/>
              <a:gd name="T38" fmla="*/ 253 w 3040"/>
              <a:gd name="T39" fmla="*/ 1950 h 2884"/>
              <a:gd name="T40" fmla="*/ 164 w 3040"/>
              <a:gd name="T41" fmla="*/ 1855 h 2884"/>
              <a:gd name="T42" fmla="*/ 69 w 3040"/>
              <a:gd name="T43" fmla="*/ 1786 h 2884"/>
              <a:gd name="T44" fmla="*/ 0 w 3040"/>
              <a:gd name="T45" fmla="*/ 1757 h 2884"/>
              <a:gd name="T46" fmla="*/ 87 w 3040"/>
              <a:gd name="T47" fmla="*/ 1672 h 2884"/>
              <a:gd name="T48" fmla="*/ 172 w 3040"/>
              <a:gd name="T49" fmla="*/ 1605 h 2884"/>
              <a:gd name="T50" fmla="*/ 254 w 3040"/>
              <a:gd name="T51" fmla="*/ 1555 h 2884"/>
              <a:gd name="T52" fmla="*/ 332 w 3040"/>
              <a:gd name="T53" fmla="*/ 1523 h 2884"/>
              <a:gd name="T54" fmla="*/ 409 w 3040"/>
              <a:gd name="T55" fmla="*/ 1508 h 2884"/>
              <a:gd name="T56" fmla="*/ 444 w 3040"/>
              <a:gd name="T57" fmla="*/ 1507 h 2884"/>
              <a:gd name="T58" fmla="*/ 476 w 3040"/>
              <a:gd name="T59" fmla="*/ 1513 h 2884"/>
              <a:gd name="T60" fmla="*/ 543 w 3040"/>
              <a:gd name="T61" fmla="*/ 1551 h 2884"/>
              <a:gd name="T62" fmla="*/ 612 w 3040"/>
              <a:gd name="T63" fmla="*/ 1621 h 2884"/>
              <a:gd name="T64" fmla="*/ 683 w 3040"/>
              <a:gd name="T65" fmla="*/ 1723 h 2884"/>
              <a:gd name="T66" fmla="*/ 757 w 3040"/>
              <a:gd name="T67" fmla="*/ 1858 h 2884"/>
              <a:gd name="T68" fmla="*/ 877 w 3040"/>
              <a:gd name="T69" fmla="*/ 2117 h 2884"/>
              <a:gd name="T70" fmla="*/ 973 w 3040"/>
              <a:gd name="T71" fmla="*/ 1963 h 2884"/>
              <a:gd name="T72" fmla="*/ 1129 w 3040"/>
              <a:gd name="T73" fmla="*/ 1731 h 2884"/>
              <a:gd name="T74" fmla="*/ 1299 w 3040"/>
              <a:gd name="T75" fmla="*/ 1503 h 2884"/>
              <a:gd name="T76" fmla="*/ 1485 w 3040"/>
              <a:gd name="T77" fmla="*/ 1277 h 2884"/>
              <a:gd name="T78" fmla="*/ 1685 w 3040"/>
              <a:gd name="T79" fmla="*/ 1052 h 2884"/>
              <a:gd name="T80" fmla="*/ 1828 w 3040"/>
              <a:gd name="T81" fmla="*/ 904 h 2884"/>
              <a:gd name="T82" fmla="*/ 2045 w 3040"/>
              <a:gd name="T83" fmla="*/ 693 h 2884"/>
              <a:gd name="T84" fmla="*/ 2260 w 3040"/>
              <a:gd name="T85" fmla="*/ 502 h 2884"/>
              <a:gd name="T86" fmla="*/ 2474 w 3040"/>
              <a:gd name="T87" fmla="*/ 328 h 2884"/>
              <a:gd name="T88" fmla="*/ 2685 w 3040"/>
              <a:gd name="T89" fmla="*/ 175 h 2884"/>
              <a:gd name="T90" fmla="*/ 2893 w 3040"/>
              <a:gd name="T91" fmla="*/ 40 h 28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040" h="2884">
                <a:moveTo>
                  <a:pt x="2963" y="0"/>
                </a:moveTo>
                <a:lnTo>
                  <a:pt x="3040" y="109"/>
                </a:lnTo>
                <a:lnTo>
                  <a:pt x="3040" y="109"/>
                </a:lnTo>
                <a:lnTo>
                  <a:pt x="2981" y="155"/>
                </a:lnTo>
                <a:lnTo>
                  <a:pt x="2922" y="203"/>
                </a:lnTo>
                <a:lnTo>
                  <a:pt x="2860" y="256"/>
                </a:lnTo>
                <a:lnTo>
                  <a:pt x="2799" y="309"/>
                </a:lnTo>
                <a:lnTo>
                  <a:pt x="2736" y="367"/>
                </a:lnTo>
                <a:lnTo>
                  <a:pt x="2673" y="428"/>
                </a:lnTo>
                <a:lnTo>
                  <a:pt x="2610" y="491"/>
                </a:lnTo>
                <a:lnTo>
                  <a:pt x="2545" y="557"/>
                </a:lnTo>
                <a:lnTo>
                  <a:pt x="2479" y="627"/>
                </a:lnTo>
                <a:lnTo>
                  <a:pt x="2413" y="699"/>
                </a:lnTo>
                <a:lnTo>
                  <a:pt x="2346" y="775"/>
                </a:lnTo>
                <a:lnTo>
                  <a:pt x="2277" y="853"/>
                </a:lnTo>
                <a:lnTo>
                  <a:pt x="2209" y="934"/>
                </a:lnTo>
                <a:lnTo>
                  <a:pt x="2139" y="1018"/>
                </a:lnTo>
                <a:lnTo>
                  <a:pt x="2067" y="1106"/>
                </a:lnTo>
                <a:lnTo>
                  <a:pt x="1996" y="1196"/>
                </a:lnTo>
                <a:lnTo>
                  <a:pt x="1996" y="1196"/>
                </a:lnTo>
                <a:lnTo>
                  <a:pt x="1926" y="1287"/>
                </a:lnTo>
                <a:lnTo>
                  <a:pt x="1858" y="1377"/>
                </a:lnTo>
                <a:lnTo>
                  <a:pt x="1790" y="1468"/>
                </a:lnTo>
                <a:lnTo>
                  <a:pt x="1727" y="1556"/>
                </a:lnTo>
                <a:lnTo>
                  <a:pt x="1664" y="1645"/>
                </a:lnTo>
                <a:lnTo>
                  <a:pt x="1605" y="1733"/>
                </a:lnTo>
                <a:lnTo>
                  <a:pt x="1546" y="1819"/>
                </a:lnTo>
                <a:lnTo>
                  <a:pt x="1490" y="1905"/>
                </a:lnTo>
                <a:lnTo>
                  <a:pt x="1437" y="1991"/>
                </a:lnTo>
                <a:lnTo>
                  <a:pt x="1385" y="2076"/>
                </a:lnTo>
                <a:lnTo>
                  <a:pt x="1336" y="2159"/>
                </a:lnTo>
                <a:lnTo>
                  <a:pt x="1289" y="2242"/>
                </a:lnTo>
                <a:lnTo>
                  <a:pt x="1243" y="2324"/>
                </a:lnTo>
                <a:lnTo>
                  <a:pt x="1200" y="2405"/>
                </a:lnTo>
                <a:lnTo>
                  <a:pt x="1160" y="2486"/>
                </a:lnTo>
                <a:lnTo>
                  <a:pt x="1120" y="2567"/>
                </a:lnTo>
                <a:lnTo>
                  <a:pt x="958" y="2676"/>
                </a:lnTo>
                <a:lnTo>
                  <a:pt x="958" y="2676"/>
                </a:lnTo>
                <a:lnTo>
                  <a:pt x="865" y="2741"/>
                </a:lnTo>
                <a:lnTo>
                  <a:pt x="788" y="2798"/>
                </a:lnTo>
                <a:lnTo>
                  <a:pt x="728" y="2845"/>
                </a:lnTo>
                <a:lnTo>
                  <a:pt x="704" y="2867"/>
                </a:lnTo>
                <a:lnTo>
                  <a:pt x="683" y="2884"/>
                </a:lnTo>
                <a:lnTo>
                  <a:pt x="683" y="2884"/>
                </a:lnTo>
                <a:lnTo>
                  <a:pt x="675" y="2856"/>
                </a:lnTo>
                <a:lnTo>
                  <a:pt x="666" y="2825"/>
                </a:lnTo>
                <a:lnTo>
                  <a:pt x="639" y="2748"/>
                </a:lnTo>
                <a:lnTo>
                  <a:pt x="603" y="2655"/>
                </a:lnTo>
                <a:lnTo>
                  <a:pt x="560" y="2546"/>
                </a:lnTo>
                <a:lnTo>
                  <a:pt x="498" y="2404"/>
                </a:lnTo>
                <a:lnTo>
                  <a:pt x="498" y="2404"/>
                </a:lnTo>
                <a:lnTo>
                  <a:pt x="465" y="2330"/>
                </a:lnTo>
                <a:lnTo>
                  <a:pt x="433" y="2261"/>
                </a:lnTo>
                <a:lnTo>
                  <a:pt x="401" y="2197"/>
                </a:lnTo>
                <a:lnTo>
                  <a:pt x="371" y="2137"/>
                </a:lnTo>
                <a:lnTo>
                  <a:pt x="340" y="2084"/>
                </a:lnTo>
                <a:lnTo>
                  <a:pt x="311" y="2034"/>
                </a:lnTo>
                <a:lnTo>
                  <a:pt x="281" y="1991"/>
                </a:lnTo>
                <a:lnTo>
                  <a:pt x="253" y="1950"/>
                </a:lnTo>
                <a:lnTo>
                  <a:pt x="253" y="1950"/>
                </a:lnTo>
                <a:lnTo>
                  <a:pt x="225" y="1915"/>
                </a:lnTo>
                <a:lnTo>
                  <a:pt x="195" y="1885"/>
                </a:lnTo>
                <a:lnTo>
                  <a:pt x="164" y="1855"/>
                </a:lnTo>
                <a:lnTo>
                  <a:pt x="133" y="1829"/>
                </a:lnTo>
                <a:lnTo>
                  <a:pt x="101" y="1807"/>
                </a:lnTo>
                <a:lnTo>
                  <a:pt x="69" y="1786"/>
                </a:lnTo>
                <a:lnTo>
                  <a:pt x="35" y="1770"/>
                </a:lnTo>
                <a:lnTo>
                  <a:pt x="0" y="1757"/>
                </a:lnTo>
                <a:lnTo>
                  <a:pt x="0" y="1757"/>
                </a:lnTo>
                <a:lnTo>
                  <a:pt x="30" y="1726"/>
                </a:lnTo>
                <a:lnTo>
                  <a:pt x="59" y="1698"/>
                </a:lnTo>
                <a:lnTo>
                  <a:pt x="87" y="1672"/>
                </a:lnTo>
                <a:lnTo>
                  <a:pt x="116" y="1646"/>
                </a:lnTo>
                <a:lnTo>
                  <a:pt x="144" y="1625"/>
                </a:lnTo>
                <a:lnTo>
                  <a:pt x="172" y="1605"/>
                </a:lnTo>
                <a:lnTo>
                  <a:pt x="199" y="1586"/>
                </a:lnTo>
                <a:lnTo>
                  <a:pt x="227" y="1568"/>
                </a:lnTo>
                <a:lnTo>
                  <a:pt x="254" y="1555"/>
                </a:lnTo>
                <a:lnTo>
                  <a:pt x="281" y="1542"/>
                </a:lnTo>
                <a:lnTo>
                  <a:pt x="307" y="1531"/>
                </a:lnTo>
                <a:lnTo>
                  <a:pt x="332" y="1523"/>
                </a:lnTo>
                <a:lnTo>
                  <a:pt x="359" y="1516"/>
                </a:lnTo>
                <a:lnTo>
                  <a:pt x="385" y="1511"/>
                </a:lnTo>
                <a:lnTo>
                  <a:pt x="409" y="1508"/>
                </a:lnTo>
                <a:lnTo>
                  <a:pt x="434" y="1507"/>
                </a:lnTo>
                <a:lnTo>
                  <a:pt x="434" y="1507"/>
                </a:lnTo>
                <a:lnTo>
                  <a:pt x="444" y="1507"/>
                </a:lnTo>
                <a:lnTo>
                  <a:pt x="455" y="1508"/>
                </a:lnTo>
                <a:lnTo>
                  <a:pt x="465" y="1511"/>
                </a:lnTo>
                <a:lnTo>
                  <a:pt x="476" y="1513"/>
                </a:lnTo>
                <a:lnTo>
                  <a:pt x="499" y="1523"/>
                </a:lnTo>
                <a:lnTo>
                  <a:pt x="521" y="1535"/>
                </a:lnTo>
                <a:lnTo>
                  <a:pt x="543" y="1551"/>
                </a:lnTo>
                <a:lnTo>
                  <a:pt x="566" y="1571"/>
                </a:lnTo>
                <a:lnTo>
                  <a:pt x="589" y="1594"/>
                </a:lnTo>
                <a:lnTo>
                  <a:pt x="612" y="1621"/>
                </a:lnTo>
                <a:lnTo>
                  <a:pt x="636" y="1652"/>
                </a:lnTo>
                <a:lnTo>
                  <a:pt x="659" y="1685"/>
                </a:lnTo>
                <a:lnTo>
                  <a:pt x="683" y="1723"/>
                </a:lnTo>
                <a:lnTo>
                  <a:pt x="708" y="1763"/>
                </a:lnTo>
                <a:lnTo>
                  <a:pt x="733" y="1809"/>
                </a:lnTo>
                <a:lnTo>
                  <a:pt x="757" y="1858"/>
                </a:lnTo>
                <a:lnTo>
                  <a:pt x="783" y="1909"/>
                </a:lnTo>
                <a:lnTo>
                  <a:pt x="808" y="1964"/>
                </a:lnTo>
                <a:lnTo>
                  <a:pt x="877" y="2117"/>
                </a:lnTo>
                <a:lnTo>
                  <a:pt x="877" y="2117"/>
                </a:lnTo>
                <a:lnTo>
                  <a:pt x="924" y="2039"/>
                </a:lnTo>
                <a:lnTo>
                  <a:pt x="973" y="1963"/>
                </a:lnTo>
                <a:lnTo>
                  <a:pt x="1024" y="1885"/>
                </a:lnTo>
                <a:lnTo>
                  <a:pt x="1075" y="1808"/>
                </a:lnTo>
                <a:lnTo>
                  <a:pt x="1129" y="1731"/>
                </a:lnTo>
                <a:lnTo>
                  <a:pt x="1184" y="1655"/>
                </a:lnTo>
                <a:lnTo>
                  <a:pt x="1242" y="1578"/>
                </a:lnTo>
                <a:lnTo>
                  <a:pt x="1299" y="1503"/>
                </a:lnTo>
                <a:lnTo>
                  <a:pt x="1360" y="1427"/>
                </a:lnTo>
                <a:lnTo>
                  <a:pt x="1422" y="1351"/>
                </a:lnTo>
                <a:lnTo>
                  <a:pt x="1485" y="1277"/>
                </a:lnTo>
                <a:lnTo>
                  <a:pt x="1551" y="1201"/>
                </a:lnTo>
                <a:lnTo>
                  <a:pt x="1618" y="1127"/>
                </a:lnTo>
                <a:lnTo>
                  <a:pt x="1685" y="1052"/>
                </a:lnTo>
                <a:lnTo>
                  <a:pt x="1757" y="978"/>
                </a:lnTo>
                <a:lnTo>
                  <a:pt x="1828" y="904"/>
                </a:lnTo>
                <a:lnTo>
                  <a:pt x="1828" y="904"/>
                </a:lnTo>
                <a:lnTo>
                  <a:pt x="1901" y="831"/>
                </a:lnTo>
                <a:lnTo>
                  <a:pt x="1973" y="761"/>
                </a:lnTo>
                <a:lnTo>
                  <a:pt x="2045" y="693"/>
                </a:lnTo>
                <a:lnTo>
                  <a:pt x="2117" y="627"/>
                </a:lnTo>
                <a:lnTo>
                  <a:pt x="2189" y="564"/>
                </a:lnTo>
                <a:lnTo>
                  <a:pt x="2260" y="502"/>
                </a:lnTo>
                <a:lnTo>
                  <a:pt x="2331" y="441"/>
                </a:lnTo>
                <a:lnTo>
                  <a:pt x="2402" y="383"/>
                </a:lnTo>
                <a:lnTo>
                  <a:pt x="2474" y="328"/>
                </a:lnTo>
                <a:lnTo>
                  <a:pt x="2544" y="274"/>
                </a:lnTo>
                <a:lnTo>
                  <a:pt x="2614" y="223"/>
                </a:lnTo>
                <a:lnTo>
                  <a:pt x="2685" y="175"/>
                </a:lnTo>
                <a:lnTo>
                  <a:pt x="2755" y="128"/>
                </a:lnTo>
                <a:lnTo>
                  <a:pt x="2825" y="83"/>
                </a:lnTo>
                <a:lnTo>
                  <a:pt x="2893" y="40"/>
                </a:lnTo>
                <a:lnTo>
                  <a:pt x="2963" y="0"/>
                </a:lnTo>
                <a:lnTo>
                  <a:pt x="2963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60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53141F2-721A-40D0-B04A-09382BD5D853}"/>
              </a:ext>
            </a:extLst>
          </p:cNvPr>
          <p:cNvGrpSpPr/>
          <p:nvPr/>
        </p:nvGrpSpPr>
        <p:grpSpPr>
          <a:xfrm>
            <a:off x="11189644" y="337256"/>
            <a:ext cx="722563" cy="212400"/>
            <a:chOff x="8380118" y="736715"/>
            <a:chExt cx="722563" cy="2124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E88144D-A6A5-4E02-A5A0-B6C9BE7E1702}"/>
                </a:ext>
              </a:extLst>
            </p:cNvPr>
            <p:cNvSpPr/>
            <p:nvPr/>
          </p:nvSpPr>
          <p:spPr>
            <a:xfrm>
              <a:off x="8380118" y="736715"/>
              <a:ext cx="212015" cy="212400"/>
            </a:xfrm>
            <a:prstGeom prst="rect">
              <a:avLst/>
            </a:prstGeom>
            <a:solidFill>
              <a:srgbClr val="D2DFEF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 err="1">
                <a:solidFill>
                  <a:schemeClr val="tx1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D663C23-EF91-4479-B6F3-DAB222C5186F}"/>
                </a:ext>
              </a:extLst>
            </p:cNvPr>
            <p:cNvSpPr txBox="1"/>
            <p:nvPr/>
          </p:nvSpPr>
          <p:spPr>
            <a:xfrm>
              <a:off x="8681091" y="764356"/>
              <a:ext cx="421590" cy="169277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100000"/>
                <a:defRPr lang="ru-RU" sz="1600" baseline="0" dirty="0"/>
              </a:lvl1pPr>
              <a:lvl2pPr marL="180000" lvl="1" indent="-180000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125000"/>
                <a:buFont typeface="Arial" panose="020B0604020202020204" pitchFamily="34" charset="0"/>
                <a:buChar char="•"/>
                <a:defRPr lang="ru-RU" sz="1600" baseline="0" dirty="0"/>
              </a:lvl2pPr>
              <a:lvl3pPr marL="360000" lvl="2" indent="-180000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120000"/>
                <a:buFont typeface="Arial" panose="020B0604020202020204" pitchFamily="34" charset="0"/>
                <a:buChar char="◦"/>
                <a:defRPr lang="ru-RU" sz="1600" baseline="0" dirty="0"/>
              </a:lvl3pPr>
              <a:lvl4pPr marL="540000" lvl="3" indent="-180000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•"/>
                <a:defRPr lang="ru-RU" sz="1600" baseline="0" dirty="0"/>
              </a:lvl4pPr>
              <a:lvl5pPr marL="720000" lvl="4" indent="-180000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◦"/>
                <a:defRPr lang="ru-RU" sz="1600" baseline="0" dirty="0"/>
              </a:lvl5pPr>
              <a:lvl6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/>
              </a:lvl6pPr>
              <a:lvl7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/>
              </a:lvl7pPr>
              <a:lvl8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/>
              </a:lvl8pPr>
              <a:lvl9pPr marL="999794" indent="-173575" defTabSz="119386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2133" baseline="0"/>
              </a:lvl9pPr>
            </a:lstStyle>
            <a:p>
              <a:r>
                <a:rPr lang="ru-RU" sz="1100" dirty="0" err="1"/>
                <a:t>Leader</a:t>
              </a:r>
              <a:endParaRPr lang="ru-RU" sz="1100" dirty="0"/>
            </a:p>
          </p:txBody>
        </p:sp>
      </p:grpSp>
      <p:pic>
        <p:nvPicPr>
          <p:cNvPr id="81" name="Picture 15" descr="Database of Databases - Presto">
            <a:extLst>
              <a:ext uri="{FF2B5EF4-FFF2-40B4-BE49-F238E27FC236}">
                <a16:creationId xmlns:a16="http://schemas.microsoft.com/office/drawing/2014/main" id="{0992B5FB-7A50-44FB-AB1C-F798BC673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699" y="1376580"/>
            <a:ext cx="1374843" cy="43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7">
            <a:extLst>
              <a:ext uri="{FF2B5EF4-FFF2-40B4-BE49-F238E27FC236}">
                <a16:creationId xmlns:a16="http://schemas.microsoft.com/office/drawing/2014/main" id="{B0CCBE0D-4673-44B4-BD7D-BEED49401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119" y="1194148"/>
            <a:ext cx="1616079" cy="79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Freeform 103">
            <a:extLst>
              <a:ext uri="{FF2B5EF4-FFF2-40B4-BE49-F238E27FC236}">
                <a16:creationId xmlns:a16="http://schemas.microsoft.com/office/drawing/2014/main" id="{2C7F35FF-6179-44E0-B39A-0E281F04DCEF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5181048" y="4754643"/>
            <a:ext cx="316146" cy="261938"/>
          </a:xfrm>
          <a:custGeom>
            <a:avLst/>
            <a:gdLst>
              <a:gd name="T0" fmla="*/ 1326 w 2880"/>
              <a:gd name="T1" fmla="*/ 2079 h 2674"/>
              <a:gd name="T2" fmla="*/ 1118 w 2880"/>
              <a:gd name="T3" fmla="*/ 2354 h 2674"/>
              <a:gd name="T4" fmla="*/ 929 w 2880"/>
              <a:gd name="T5" fmla="*/ 2544 h 2674"/>
              <a:gd name="T6" fmla="*/ 780 w 2880"/>
              <a:gd name="T7" fmla="*/ 2642 h 2674"/>
              <a:gd name="T8" fmla="*/ 702 w 2880"/>
              <a:gd name="T9" fmla="*/ 2669 h 2674"/>
              <a:gd name="T10" fmla="*/ 648 w 2880"/>
              <a:gd name="T11" fmla="*/ 2674 h 2674"/>
              <a:gd name="T12" fmla="*/ 484 w 2880"/>
              <a:gd name="T13" fmla="*/ 2641 h 2674"/>
              <a:gd name="T14" fmla="*/ 320 w 2880"/>
              <a:gd name="T15" fmla="*/ 2540 h 2674"/>
              <a:gd name="T16" fmla="*/ 160 w 2880"/>
              <a:gd name="T17" fmla="*/ 2371 h 2674"/>
              <a:gd name="T18" fmla="*/ 0 w 2880"/>
              <a:gd name="T19" fmla="*/ 2136 h 2674"/>
              <a:gd name="T20" fmla="*/ 86 w 2880"/>
              <a:gd name="T21" fmla="*/ 2139 h 2674"/>
              <a:gd name="T22" fmla="*/ 206 w 2880"/>
              <a:gd name="T23" fmla="*/ 2120 h 2674"/>
              <a:gd name="T24" fmla="*/ 408 w 2880"/>
              <a:gd name="T25" fmla="*/ 2030 h 2674"/>
              <a:gd name="T26" fmla="*/ 620 w 2880"/>
              <a:gd name="T27" fmla="*/ 1868 h 2674"/>
              <a:gd name="T28" fmla="*/ 843 w 2880"/>
              <a:gd name="T29" fmla="*/ 1638 h 2674"/>
              <a:gd name="T30" fmla="*/ 877 w 2880"/>
              <a:gd name="T31" fmla="*/ 1362 h 2674"/>
              <a:gd name="T32" fmla="*/ 694 w 2880"/>
              <a:gd name="T33" fmla="*/ 1147 h 2674"/>
              <a:gd name="T34" fmla="*/ 563 w 2880"/>
              <a:gd name="T35" fmla="*/ 948 h 2674"/>
              <a:gd name="T36" fmla="*/ 484 w 2880"/>
              <a:gd name="T37" fmla="*/ 767 h 2674"/>
              <a:gd name="T38" fmla="*/ 458 w 2880"/>
              <a:gd name="T39" fmla="*/ 602 h 2674"/>
              <a:gd name="T40" fmla="*/ 474 w 2880"/>
              <a:gd name="T41" fmla="*/ 503 h 2674"/>
              <a:gd name="T42" fmla="*/ 546 w 2880"/>
              <a:gd name="T43" fmla="*/ 361 h 2674"/>
              <a:gd name="T44" fmla="*/ 674 w 2880"/>
              <a:gd name="T45" fmla="*/ 208 h 2674"/>
              <a:gd name="T46" fmla="*/ 861 w 2880"/>
              <a:gd name="T47" fmla="*/ 42 h 2674"/>
              <a:gd name="T48" fmla="*/ 938 w 2880"/>
              <a:gd name="T49" fmla="*/ 111 h 2674"/>
              <a:gd name="T50" fmla="*/ 1003 w 2880"/>
              <a:gd name="T51" fmla="*/ 331 h 2674"/>
              <a:gd name="T52" fmla="*/ 1102 w 2880"/>
              <a:gd name="T53" fmla="*/ 547 h 2674"/>
              <a:gd name="T54" fmla="*/ 1232 w 2880"/>
              <a:gd name="T55" fmla="*/ 760 h 2674"/>
              <a:gd name="T56" fmla="*/ 1465 w 2880"/>
              <a:gd name="T57" fmla="*/ 887 h 2674"/>
              <a:gd name="T58" fmla="*/ 1641 w 2880"/>
              <a:gd name="T59" fmla="*/ 679 h 2674"/>
              <a:gd name="T60" fmla="*/ 1866 w 2880"/>
              <a:gd name="T61" fmla="*/ 468 h 2674"/>
              <a:gd name="T62" fmla="*/ 2081 w 2880"/>
              <a:gd name="T63" fmla="*/ 334 h 2674"/>
              <a:gd name="T64" fmla="*/ 2209 w 2880"/>
              <a:gd name="T65" fmla="*/ 289 h 2674"/>
              <a:gd name="T66" fmla="*/ 2308 w 2880"/>
              <a:gd name="T67" fmla="*/ 274 h 2674"/>
              <a:gd name="T68" fmla="*/ 2406 w 2880"/>
              <a:gd name="T69" fmla="*/ 281 h 2674"/>
              <a:gd name="T70" fmla="*/ 2540 w 2880"/>
              <a:gd name="T71" fmla="*/ 340 h 2674"/>
              <a:gd name="T72" fmla="*/ 2655 w 2880"/>
              <a:gd name="T73" fmla="*/ 456 h 2674"/>
              <a:gd name="T74" fmla="*/ 2751 w 2880"/>
              <a:gd name="T75" fmla="*/ 630 h 2674"/>
              <a:gd name="T76" fmla="*/ 2755 w 2880"/>
              <a:gd name="T77" fmla="*/ 734 h 2674"/>
              <a:gd name="T78" fmla="*/ 2692 w 2880"/>
              <a:gd name="T79" fmla="*/ 735 h 2674"/>
              <a:gd name="T80" fmla="*/ 2609 w 2880"/>
              <a:gd name="T81" fmla="*/ 758 h 2674"/>
              <a:gd name="T82" fmla="*/ 2401 w 2880"/>
              <a:gd name="T83" fmla="*/ 873 h 2674"/>
              <a:gd name="T84" fmla="*/ 2222 w 2880"/>
              <a:gd name="T85" fmla="*/ 1012 h 2674"/>
              <a:gd name="T86" fmla="*/ 2010 w 2880"/>
              <a:gd name="T87" fmla="*/ 1221 h 2674"/>
              <a:gd name="T88" fmla="*/ 1917 w 2880"/>
              <a:gd name="T89" fmla="*/ 1531 h 2674"/>
              <a:gd name="T90" fmla="*/ 2091 w 2880"/>
              <a:gd name="T91" fmla="*/ 1682 h 2674"/>
              <a:gd name="T92" fmla="*/ 2329 w 2880"/>
              <a:gd name="T93" fmla="*/ 1837 h 2674"/>
              <a:gd name="T94" fmla="*/ 2570 w 2880"/>
              <a:gd name="T95" fmla="*/ 1933 h 2674"/>
              <a:gd name="T96" fmla="*/ 2817 w 2880"/>
              <a:gd name="T97" fmla="*/ 1976 h 2674"/>
              <a:gd name="T98" fmla="*/ 2813 w 2880"/>
              <a:gd name="T99" fmla="*/ 2104 h 2674"/>
              <a:gd name="T100" fmla="*/ 2674 w 2880"/>
              <a:gd name="T101" fmla="*/ 2308 h 2674"/>
              <a:gd name="T102" fmla="*/ 2535 w 2880"/>
              <a:gd name="T103" fmla="*/ 2444 h 2674"/>
              <a:gd name="T104" fmla="*/ 2391 w 2880"/>
              <a:gd name="T105" fmla="*/ 2510 h 2674"/>
              <a:gd name="T106" fmla="*/ 2318 w 2880"/>
              <a:gd name="T107" fmla="*/ 2519 h 2674"/>
              <a:gd name="T108" fmla="*/ 2172 w 2880"/>
              <a:gd name="T109" fmla="*/ 2491 h 2674"/>
              <a:gd name="T110" fmla="*/ 1996 w 2880"/>
              <a:gd name="T111" fmla="*/ 2403 h 2674"/>
              <a:gd name="T112" fmla="*/ 1790 w 2880"/>
              <a:gd name="T113" fmla="*/ 2259 h 2674"/>
              <a:gd name="T114" fmla="*/ 1556 w 2880"/>
              <a:gd name="T115" fmla="*/ 2057 h 26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880" h="2674">
                <a:moveTo>
                  <a:pt x="1424" y="1937"/>
                </a:moveTo>
                <a:lnTo>
                  <a:pt x="1382" y="1997"/>
                </a:lnTo>
                <a:lnTo>
                  <a:pt x="1382" y="1997"/>
                </a:lnTo>
                <a:lnTo>
                  <a:pt x="1326" y="2079"/>
                </a:lnTo>
                <a:lnTo>
                  <a:pt x="1273" y="2157"/>
                </a:lnTo>
                <a:lnTo>
                  <a:pt x="1220" y="2227"/>
                </a:lnTo>
                <a:lnTo>
                  <a:pt x="1167" y="2294"/>
                </a:lnTo>
                <a:lnTo>
                  <a:pt x="1118" y="2354"/>
                </a:lnTo>
                <a:lnTo>
                  <a:pt x="1069" y="2410"/>
                </a:lnTo>
                <a:lnTo>
                  <a:pt x="1021" y="2459"/>
                </a:lnTo>
                <a:lnTo>
                  <a:pt x="973" y="2505"/>
                </a:lnTo>
                <a:lnTo>
                  <a:pt x="929" y="2544"/>
                </a:lnTo>
                <a:lnTo>
                  <a:pt x="885" y="2579"/>
                </a:lnTo>
                <a:lnTo>
                  <a:pt x="843" y="2607"/>
                </a:lnTo>
                <a:lnTo>
                  <a:pt x="801" y="2632"/>
                </a:lnTo>
                <a:lnTo>
                  <a:pt x="780" y="2642"/>
                </a:lnTo>
                <a:lnTo>
                  <a:pt x="760" y="2649"/>
                </a:lnTo>
                <a:lnTo>
                  <a:pt x="741" y="2658"/>
                </a:lnTo>
                <a:lnTo>
                  <a:pt x="722" y="2663"/>
                </a:lnTo>
                <a:lnTo>
                  <a:pt x="702" y="2669"/>
                </a:lnTo>
                <a:lnTo>
                  <a:pt x="685" y="2670"/>
                </a:lnTo>
                <a:lnTo>
                  <a:pt x="665" y="2674"/>
                </a:lnTo>
                <a:lnTo>
                  <a:pt x="648" y="2674"/>
                </a:lnTo>
                <a:lnTo>
                  <a:pt x="648" y="2674"/>
                </a:lnTo>
                <a:lnTo>
                  <a:pt x="606" y="2672"/>
                </a:lnTo>
                <a:lnTo>
                  <a:pt x="565" y="2665"/>
                </a:lnTo>
                <a:lnTo>
                  <a:pt x="525" y="2655"/>
                </a:lnTo>
                <a:lnTo>
                  <a:pt x="484" y="2641"/>
                </a:lnTo>
                <a:lnTo>
                  <a:pt x="444" y="2621"/>
                </a:lnTo>
                <a:lnTo>
                  <a:pt x="401" y="2598"/>
                </a:lnTo>
                <a:lnTo>
                  <a:pt x="361" y="2572"/>
                </a:lnTo>
                <a:lnTo>
                  <a:pt x="320" y="2540"/>
                </a:lnTo>
                <a:lnTo>
                  <a:pt x="280" y="2503"/>
                </a:lnTo>
                <a:lnTo>
                  <a:pt x="239" y="2465"/>
                </a:lnTo>
                <a:lnTo>
                  <a:pt x="201" y="2421"/>
                </a:lnTo>
                <a:lnTo>
                  <a:pt x="160" y="2371"/>
                </a:lnTo>
                <a:lnTo>
                  <a:pt x="120" y="2319"/>
                </a:lnTo>
                <a:lnTo>
                  <a:pt x="79" y="2262"/>
                </a:lnTo>
                <a:lnTo>
                  <a:pt x="40" y="2201"/>
                </a:lnTo>
                <a:lnTo>
                  <a:pt x="0" y="2136"/>
                </a:lnTo>
                <a:lnTo>
                  <a:pt x="0" y="2136"/>
                </a:lnTo>
                <a:lnTo>
                  <a:pt x="63" y="2139"/>
                </a:lnTo>
                <a:lnTo>
                  <a:pt x="63" y="2139"/>
                </a:lnTo>
                <a:lnTo>
                  <a:pt x="86" y="2139"/>
                </a:lnTo>
                <a:lnTo>
                  <a:pt x="111" y="2137"/>
                </a:lnTo>
                <a:lnTo>
                  <a:pt x="134" y="2134"/>
                </a:lnTo>
                <a:lnTo>
                  <a:pt x="158" y="2130"/>
                </a:lnTo>
                <a:lnTo>
                  <a:pt x="206" y="2120"/>
                </a:lnTo>
                <a:lnTo>
                  <a:pt x="255" y="2104"/>
                </a:lnTo>
                <a:lnTo>
                  <a:pt x="306" y="2083"/>
                </a:lnTo>
                <a:lnTo>
                  <a:pt x="357" y="2058"/>
                </a:lnTo>
                <a:lnTo>
                  <a:pt x="408" y="2030"/>
                </a:lnTo>
                <a:lnTo>
                  <a:pt x="459" y="1997"/>
                </a:lnTo>
                <a:lnTo>
                  <a:pt x="512" y="1958"/>
                </a:lnTo>
                <a:lnTo>
                  <a:pt x="565" y="1916"/>
                </a:lnTo>
                <a:lnTo>
                  <a:pt x="620" y="1868"/>
                </a:lnTo>
                <a:lnTo>
                  <a:pt x="674" y="1817"/>
                </a:lnTo>
                <a:lnTo>
                  <a:pt x="731" y="1763"/>
                </a:lnTo>
                <a:lnTo>
                  <a:pt x="785" y="1701"/>
                </a:lnTo>
                <a:lnTo>
                  <a:pt x="843" y="1638"/>
                </a:lnTo>
                <a:lnTo>
                  <a:pt x="900" y="1567"/>
                </a:lnTo>
                <a:lnTo>
                  <a:pt x="977" y="1471"/>
                </a:lnTo>
                <a:lnTo>
                  <a:pt x="877" y="1362"/>
                </a:lnTo>
                <a:lnTo>
                  <a:pt x="877" y="1362"/>
                </a:lnTo>
                <a:lnTo>
                  <a:pt x="827" y="1307"/>
                </a:lnTo>
                <a:lnTo>
                  <a:pt x="778" y="1253"/>
                </a:lnTo>
                <a:lnTo>
                  <a:pt x="734" y="1198"/>
                </a:lnTo>
                <a:lnTo>
                  <a:pt x="694" y="1147"/>
                </a:lnTo>
                <a:lnTo>
                  <a:pt x="657" y="1096"/>
                </a:lnTo>
                <a:lnTo>
                  <a:pt x="621" y="1045"/>
                </a:lnTo>
                <a:lnTo>
                  <a:pt x="590" y="996"/>
                </a:lnTo>
                <a:lnTo>
                  <a:pt x="563" y="948"/>
                </a:lnTo>
                <a:lnTo>
                  <a:pt x="539" y="901"/>
                </a:lnTo>
                <a:lnTo>
                  <a:pt x="518" y="855"/>
                </a:lnTo>
                <a:lnTo>
                  <a:pt x="498" y="811"/>
                </a:lnTo>
                <a:lnTo>
                  <a:pt x="484" y="767"/>
                </a:lnTo>
                <a:lnTo>
                  <a:pt x="472" y="723"/>
                </a:lnTo>
                <a:lnTo>
                  <a:pt x="465" y="683"/>
                </a:lnTo>
                <a:lnTo>
                  <a:pt x="459" y="642"/>
                </a:lnTo>
                <a:lnTo>
                  <a:pt x="458" y="602"/>
                </a:lnTo>
                <a:lnTo>
                  <a:pt x="458" y="602"/>
                </a:lnTo>
                <a:lnTo>
                  <a:pt x="459" y="570"/>
                </a:lnTo>
                <a:lnTo>
                  <a:pt x="465" y="537"/>
                </a:lnTo>
                <a:lnTo>
                  <a:pt x="474" y="503"/>
                </a:lnTo>
                <a:lnTo>
                  <a:pt x="486" y="468"/>
                </a:lnTo>
                <a:lnTo>
                  <a:pt x="502" y="433"/>
                </a:lnTo>
                <a:lnTo>
                  <a:pt x="523" y="398"/>
                </a:lnTo>
                <a:lnTo>
                  <a:pt x="546" y="361"/>
                </a:lnTo>
                <a:lnTo>
                  <a:pt x="572" y="324"/>
                </a:lnTo>
                <a:lnTo>
                  <a:pt x="604" y="287"/>
                </a:lnTo>
                <a:lnTo>
                  <a:pt x="637" y="248"/>
                </a:lnTo>
                <a:lnTo>
                  <a:pt x="674" y="208"/>
                </a:lnTo>
                <a:lnTo>
                  <a:pt x="716" y="167"/>
                </a:lnTo>
                <a:lnTo>
                  <a:pt x="760" y="127"/>
                </a:lnTo>
                <a:lnTo>
                  <a:pt x="810" y="84"/>
                </a:lnTo>
                <a:lnTo>
                  <a:pt x="861" y="42"/>
                </a:lnTo>
                <a:lnTo>
                  <a:pt x="917" y="0"/>
                </a:lnTo>
                <a:lnTo>
                  <a:pt x="917" y="0"/>
                </a:lnTo>
                <a:lnTo>
                  <a:pt x="926" y="56"/>
                </a:lnTo>
                <a:lnTo>
                  <a:pt x="938" y="111"/>
                </a:lnTo>
                <a:lnTo>
                  <a:pt x="951" y="165"/>
                </a:lnTo>
                <a:lnTo>
                  <a:pt x="966" y="222"/>
                </a:lnTo>
                <a:lnTo>
                  <a:pt x="984" y="276"/>
                </a:lnTo>
                <a:lnTo>
                  <a:pt x="1003" y="331"/>
                </a:lnTo>
                <a:lnTo>
                  <a:pt x="1025" y="385"/>
                </a:lnTo>
                <a:lnTo>
                  <a:pt x="1047" y="438"/>
                </a:lnTo>
                <a:lnTo>
                  <a:pt x="1074" y="493"/>
                </a:lnTo>
                <a:lnTo>
                  <a:pt x="1102" y="547"/>
                </a:lnTo>
                <a:lnTo>
                  <a:pt x="1130" y="600"/>
                </a:lnTo>
                <a:lnTo>
                  <a:pt x="1162" y="654"/>
                </a:lnTo>
                <a:lnTo>
                  <a:pt x="1197" y="707"/>
                </a:lnTo>
                <a:lnTo>
                  <a:pt x="1232" y="760"/>
                </a:lnTo>
                <a:lnTo>
                  <a:pt x="1269" y="813"/>
                </a:lnTo>
                <a:lnTo>
                  <a:pt x="1310" y="866"/>
                </a:lnTo>
                <a:lnTo>
                  <a:pt x="1396" y="975"/>
                </a:lnTo>
                <a:lnTo>
                  <a:pt x="1465" y="887"/>
                </a:lnTo>
                <a:lnTo>
                  <a:pt x="1465" y="887"/>
                </a:lnTo>
                <a:lnTo>
                  <a:pt x="1524" y="813"/>
                </a:lnTo>
                <a:lnTo>
                  <a:pt x="1583" y="742"/>
                </a:lnTo>
                <a:lnTo>
                  <a:pt x="1641" y="679"/>
                </a:lnTo>
                <a:lnTo>
                  <a:pt x="1699" y="619"/>
                </a:lnTo>
                <a:lnTo>
                  <a:pt x="1755" y="563"/>
                </a:lnTo>
                <a:lnTo>
                  <a:pt x="1811" y="514"/>
                </a:lnTo>
                <a:lnTo>
                  <a:pt x="1866" y="468"/>
                </a:lnTo>
                <a:lnTo>
                  <a:pt x="1921" y="427"/>
                </a:lnTo>
                <a:lnTo>
                  <a:pt x="1975" y="392"/>
                </a:lnTo>
                <a:lnTo>
                  <a:pt x="2028" y="361"/>
                </a:lnTo>
                <a:lnTo>
                  <a:pt x="2081" y="334"/>
                </a:lnTo>
                <a:lnTo>
                  <a:pt x="2132" y="313"/>
                </a:lnTo>
                <a:lnTo>
                  <a:pt x="2158" y="304"/>
                </a:lnTo>
                <a:lnTo>
                  <a:pt x="2183" y="296"/>
                </a:lnTo>
                <a:lnTo>
                  <a:pt x="2209" y="289"/>
                </a:lnTo>
                <a:lnTo>
                  <a:pt x="2234" y="283"/>
                </a:lnTo>
                <a:lnTo>
                  <a:pt x="2259" y="280"/>
                </a:lnTo>
                <a:lnTo>
                  <a:pt x="2283" y="276"/>
                </a:lnTo>
                <a:lnTo>
                  <a:pt x="2308" y="274"/>
                </a:lnTo>
                <a:lnTo>
                  <a:pt x="2333" y="274"/>
                </a:lnTo>
                <a:lnTo>
                  <a:pt x="2333" y="274"/>
                </a:lnTo>
                <a:lnTo>
                  <a:pt x="2369" y="276"/>
                </a:lnTo>
                <a:lnTo>
                  <a:pt x="2406" y="281"/>
                </a:lnTo>
                <a:lnTo>
                  <a:pt x="2442" y="290"/>
                </a:lnTo>
                <a:lnTo>
                  <a:pt x="2475" y="303"/>
                </a:lnTo>
                <a:lnTo>
                  <a:pt x="2509" y="320"/>
                </a:lnTo>
                <a:lnTo>
                  <a:pt x="2540" y="340"/>
                </a:lnTo>
                <a:lnTo>
                  <a:pt x="2570" y="362"/>
                </a:lnTo>
                <a:lnTo>
                  <a:pt x="2600" y="391"/>
                </a:lnTo>
                <a:lnTo>
                  <a:pt x="2628" y="420"/>
                </a:lnTo>
                <a:lnTo>
                  <a:pt x="2655" y="456"/>
                </a:lnTo>
                <a:lnTo>
                  <a:pt x="2681" y="493"/>
                </a:lnTo>
                <a:lnTo>
                  <a:pt x="2706" y="535"/>
                </a:lnTo>
                <a:lnTo>
                  <a:pt x="2730" y="581"/>
                </a:lnTo>
                <a:lnTo>
                  <a:pt x="2751" y="630"/>
                </a:lnTo>
                <a:lnTo>
                  <a:pt x="2774" y="681"/>
                </a:lnTo>
                <a:lnTo>
                  <a:pt x="2794" y="737"/>
                </a:lnTo>
                <a:lnTo>
                  <a:pt x="2794" y="737"/>
                </a:lnTo>
                <a:lnTo>
                  <a:pt x="2755" y="734"/>
                </a:lnTo>
                <a:lnTo>
                  <a:pt x="2729" y="732"/>
                </a:lnTo>
                <a:lnTo>
                  <a:pt x="2729" y="732"/>
                </a:lnTo>
                <a:lnTo>
                  <a:pt x="2711" y="732"/>
                </a:lnTo>
                <a:lnTo>
                  <a:pt x="2692" y="735"/>
                </a:lnTo>
                <a:lnTo>
                  <a:pt x="2672" y="739"/>
                </a:lnTo>
                <a:lnTo>
                  <a:pt x="2653" y="744"/>
                </a:lnTo>
                <a:lnTo>
                  <a:pt x="2632" y="749"/>
                </a:lnTo>
                <a:lnTo>
                  <a:pt x="2609" y="758"/>
                </a:lnTo>
                <a:lnTo>
                  <a:pt x="2563" y="778"/>
                </a:lnTo>
                <a:lnTo>
                  <a:pt x="2512" y="804"/>
                </a:lnTo>
                <a:lnTo>
                  <a:pt x="2459" y="836"/>
                </a:lnTo>
                <a:lnTo>
                  <a:pt x="2401" y="873"/>
                </a:lnTo>
                <a:lnTo>
                  <a:pt x="2341" y="917"/>
                </a:lnTo>
                <a:lnTo>
                  <a:pt x="2341" y="917"/>
                </a:lnTo>
                <a:lnTo>
                  <a:pt x="2280" y="964"/>
                </a:lnTo>
                <a:lnTo>
                  <a:pt x="2222" y="1012"/>
                </a:lnTo>
                <a:lnTo>
                  <a:pt x="2165" y="1063"/>
                </a:lnTo>
                <a:lnTo>
                  <a:pt x="2111" y="1114"/>
                </a:lnTo>
                <a:lnTo>
                  <a:pt x="2060" y="1166"/>
                </a:lnTo>
                <a:lnTo>
                  <a:pt x="2010" y="1221"/>
                </a:lnTo>
                <a:lnTo>
                  <a:pt x="1965" y="1275"/>
                </a:lnTo>
                <a:lnTo>
                  <a:pt x="1921" y="1333"/>
                </a:lnTo>
                <a:lnTo>
                  <a:pt x="1834" y="1450"/>
                </a:lnTo>
                <a:lnTo>
                  <a:pt x="1917" y="1531"/>
                </a:lnTo>
                <a:lnTo>
                  <a:pt x="1917" y="1531"/>
                </a:lnTo>
                <a:lnTo>
                  <a:pt x="1975" y="1585"/>
                </a:lnTo>
                <a:lnTo>
                  <a:pt x="2033" y="1636"/>
                </a:lnTo>
                <a:lnTo>
                  <a:pt x="2091" y="1682"/>
                </a:lnTo>
                <a:lnTo>
                  <a:pt x="2149" y="1726"/>
                </a:lnTo>
                <a:lnTo>
                  <a:pt x="2209" y="1766"/>
                </a:lnTo>
                <a:lnTo>
                  <a:pt x="2269" y="1803"/>
                </a:lnTo>
                <a:lnTo>
                  <a:pt x="2329" y="1837"/>
                </a:lnTo>
                <a:lnTo>
                  <a:pt x="2389" y="1867"/>
                </a:lnTo>
                <a:lnTo>
                  <a:pt x="2449" y="1891"/>
                </a:lnTo>
                <a:lnTo>
                  <a:pt x="2510" y="1914"/>
                </a:lnTo>
                <a:lnTo>
                  <a:pt x="2570" y="1933"/>
                </a:lnTo>
                <a:lnTo>
                  <a:pt x="2632" y="1949"/>
                </a:lnTo>
                <a:lnTo>
                  <a:pt x="2693" y="1962"/>
                </a:lnTo>
                <a:lnTo>
                  <a:pt x="2755" y="1970"/>
                </a:lnTo>
                <a:lnTo>
                  <a:pt x="2817" y="1976"/>
                </a:lnTo>
                <a:lnTo>
                  <a:pt x="2880" y="1977"/>
                </a:lnTo>
                <a:lnTo>
                  <a:pt x="2880" y="1977"/>
                </a:lnTo>
                <a:lnTo>
                  <a:pt x="2847" y="2042"/>
                </a:lnTo>
                <a:lnTo>
                  <a:pt x="2813" y="2104"/>
                </a:lnTo>
                <a:lnTo>
                  <a:pt x="2778" y="2162"/>
                </a:lnTo>
                <a:lnTo>
                  <a:pt x="2744" y="2215"/>
                </a:lnTo>
                <a:lnTo>
                  <a:pt x="2709" y="2262"/>
                </a:lnTo>
                <a:lnTo>
                  <a:pt x="2674" y="2308"/>
                </a:lnTo>
                <a:lnTo>
                  <a:pt x="2641" y="2349"/>
                </a:lnTo>
                <a:lnTo>
                  <a:pt x="2605" y="2384"/>
                </a:lnTo>
                <a:lnTo>
                  <a:pt x="2570" y="2415"/>
                </a:lnTo>
                <a:lnTo>
                  <a:pt x="2535" y="2444"/>
                </a:lnTo>
                <a:lnTo>
                  <a:pt x="2498" y="2466"/>
                </a:lnTo>
                <a:lnTo>
                  <a:pt x="2463" y="2486"/>
                </a:lnTo>
                <a:lnTo>
                  <a:pt x="2428" y="2500"/>
                </a:lnTo>
                <a:lnTo>
                  <a:pt x="2391" y="2510"/>
                </a:lnTo>
                <a:lnTo>
                  <a:pt x="2355" y="2517"/>
                </a:lnTo>
                <a:lnTo>
                  <a:pt x="2336" y="2519"/>
                </a:lnTo>
                <a:lnTo>
                  <a:pt x="2318" y="2519"/>
                </a:lnTo>
                <a:lnTo>
                  <a:pt x="2318" y="2519"/>
                </a:lnTo>
                <a:lnTo>
                  <a:pt x="2285" y="2517"/>
                </a:lnTo>
                <a:lnTo>
                  <a:pt x="2248" y="2512"/>
                </a:lnTo>
                <a:lnTo>
                  <a:pt x="2211" y="2503"/>
                </a:lnTo>
                <a:lnTo>
                  <a:pt x="2172" y="2491"/>
                </a:lnTo>
                <a:lnTo>
                  <a:pt x="2130" y="2473"/>
                </a:lnTo>
                <a:lnTo>
                  <a:pt x="2088" y="2454"/>
                </a:lnTo>
                <a:lnTo>
                  <a:pt x="2042" y="2431"/>
                </a:lnTo>
                <a:lnTo>
                  <a:pt x="1996" y="2403"/>
                </a:lnTo>
                <a:lnTo>
                  <a:pt x="1947" y="2373"/>
                </a:lnTo>
                <a:lnTo>
                  <a:pt x="1898" y="2338"/>
                </a:lnTo>
                <a:lnTo>
                  <a:pt x="1845" y="2301"/>
                </a:lnTo>
                <a:lnTo>
                  <a:pt x="1790" y="2259"/>
                </a:lnTo>
                <a:lnTo>
                  <a:pt x="1734" y="2215"/>
                </a:lnTo>
                <a:lnTo>
                  <a:pt x="1678" y="2166"/>
                </a:lnTo>
                <a:lnTo>
                  <a:pt x="1618" y="2113"/>
                </a:lnTo>
                <a:lnTo>
                  <a:pt x="1556" y="2057"/>
                </a:lnTo>
                <a:lnTo>
                  <a:pt x="1424" y="1937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3FEA8A3-0BB9-4591-B701-55936E386969}"/>
              </a:ext>
            </a:extLst>
          </p:cNvPr>
          <p:cNvSpPr txBox="1">
            <a:spLocks/>
          </p:cNvSpPr>
          <p:nvPr/>
        </p:nvSpPr>
        <p:spPr>
          <a:xfrm>
            <a:off x="8728643" y="677694"/>
            <a:ext cx="3183564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lvl="0" indent="0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lang="ru-RU" sz="1600" baseline="0" dirty="0"/>
            </a:lvl1pPr>
            <a:lvl2pPr marL="180000" lvl="1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lang="ru-RU" sz="1600" baseline="0" dirty="0"/>
            </a:lvl2pPr>
            <a:lvl3pPr marL="360000" lvl="2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◦"/>
              <a:defRPr lang="ru-RU" sz="1600" baseline="0" dirty="0"/>
            </a:lvl3pPr>
            <a:lvl4pPr marL="540000" lvl="3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lang="ru-RU" sz="1600" baseline="0" dirty="0"/>
            </a:lvl4pPr>
            <a:lvl5pPr marL="720000" lvl="4" indent="-180000" defTabSz="89535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◦"/>
              <a:defRPr lang="ru-RU" sz="1600" baseline="0" dirty="0"/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2133" baseline="0"/>
            </a:lvl9pPr>
          </a:lstStyle>
          <a:p>
            <a:pPr lvl="0">
              <a:buClr>
                <a:srgbClr val="00805F"/>
              </a:buClr>
              <a:defRPr/>
            </a:pPr>
            <a:r>
              <a:rPr lang="ru-RU" sz="1100" b="1" dirty="0">
                <a:solidFill>
                  <a:srgbClr val="000000"/>
                </a:solidFill>
              </a:rPr>
              <a:t>The source is not supported </a:t>
            </a:r>
            <a:r>
              <a:rPr lang="ru-RU" sz="1100" b="1" dirty="0" err="1">
                <a:solidFill>
                  <a:srgbClr val="000000"/>
                </a:solidFill>
              </a:rPr>
              <a:t>by</a:t>
            </a:r>
            <a:r>
              <a:rPr lang="ru-RU" sz="1100" b="1" dirty="0">
                <a:solidFill>
                  <a:srgbClr val="000000"/>
                </a:solidFill>
              </a:rPr>
              <a:t> </a:t>
            </a:r>
            <a:r>
              <a:rPr lang="en-US" sz="1100" b="1" dirty="0">
                <a:solidFill>
                  <a:srgbClr val="000000"/>
                </a:solidFill>
              </a:rPr>
              <a:t>other product</a:t>
            </a:r>
            <a:endParaRPr lang="ru-RU" sz="1100" u="sng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848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C16825F3-8AB5-4BDF-94B0-6E5D2F5865E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3" name="think-cell Slide" r:id="rId9" imgW="395" imgH="394" progId="TCLayout.ActiveDocument.1">
                  <p:embed/>
                </p:oleObj>
              </mc:Choice>
              <mc:Fallback>
                <p:oleObj name="think-cell Slide" r:id="rId9" imgW="395" imgH="394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C16825F3-8AB5-4BDF-94B0-6E5D2F5865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2. Slide Title">
            <a:extLst>
              <a:ext uri="{FF2B5EF4-FFF2-40B4-BE49-F238E27FC236}">
                <a16:creationId xmlns:a16="http://schemas.microsoft.com/office/drawing/2014/main" id="{250676F3-EBD5-44E1-B769-4B7E0FD08FF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 bwMode="gray">
          <a:xfrm>
            <a:off x="554736" y="288179"/>
            <a:ext cx="11082528" cy="61555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n-US" sz="2000" dirty="0"/>
              <a:t>Avro is best used for data ingestion while Parquet works better for complex analytical processing due to higher compression rate and performance</a:t>
            </a:r>
          </a:p>
        </p:txBody>
      </p:sp>
      <p:grpSp>
        <p:nvGrpSpPr>
          <p:cNvPr id="682" name="Group 681">
            <a:extLst>
              <a:ext uri="{FF2B5EF4-FFF2-40B4-BE49-F238E27FC236}">
                <a16:creationId xmlns:a16="http://schemas.microsoft.com/office/drawing/2014/main" id="{6FEB3080-5B7B-4517-BF89-EA4487EF9CED}"/>
              </a:ext>
            </a:extLst>
          </p:cNvPr>
          <p:cNvGrpSpPr/>
          <p:nvPr/>
        </p:nvGrpSpPr>
        <p:grpSpPr bwMode="gray">
          <a:xfrm>
            <a:off x="9078340" y="689049"/>
            <a:ext cx="2780415" cy="137885"/>
            <a:chOff x="8594816" y="1278884"/>
            <a:chExt cx="2780415" cy="137885"/>
          </a:xfrm>
        </p:grpSpPr>
        <p:sp>
          <p:nvSpPr>
            <p:cNvPr id="673" name="Rectangle: Rounded Corners 672">
              <a:extLst>
                <a:ext uri="{FF2B5EF4-FFF2-40B4-BE49-F238E27FC236}">
                  <a16:creationId xmlns:a16="http://schemas.microsoft.com/office/drawing/2014/main" id="{59CABE22-67B5-45DC-A8B3-9659CDEE9BD6}"/>
                </a:ext>
              </a:extLst>
            </p:cNvPr>
            <p:cNvSpPr>
              <a:spLocks/>
            </p:cNvSpPr>
            <p:nvPr/>
          </p:nvSpPr>
          <p:spPr bwMode="gray">
            <a:xfrm>
              <a:off x="8594816" y="1278884"/>
              <a:ext cx="91967" cy="137885"/>
            </a:xfrm>
            <a:prstGeom prst="roundRect">
              <a:avLst>
                <a:gd name="adj" fmla="val 50000"/>
              </a:avLst>
            </a:prstGeom>
            <a:solidFill>
              <a:srgbClr val="7CDEAD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74" name="Rectangle: Rounded Corners 673">
              <a:extLst>
                <a:ext uri="{FF2B5EF4-FFF2-40B4-BE49-F238E27FC236}">
                  <a16:creationId xmlns:a16="http://schemas.microsoft.com/office/drawing/2014/main" id="{434A154C-3AAE-4456-AB87-393CDE9A1D3A}"/>
                </a:ext>
              </a:extLst>
            </p:cNvPr>
            <p:cNvSpPr>
              <a:spLocks/>
            </p:cNvSpPr>
            <p:nvPr/>
          </p:nvSpPr>
          <p:spPr bwMode="gray">
            <a:xfrm>
              <a:off x="9453727" y="1278884"/>
              <a:ext cx="91967" cy="137885"/>
            </a:xfrm>
            <a:prstGeom prst="roundRect">
              <a:avLst>
                <a:gd name="adj" fmla="val 50000"/>
              </a:avLst>
            </a:prstGeom>
            <a:solidFill>
              <a:srgbClr val="FDF7A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75" name="Rectangle: Rounded Corners 674">
              <a:extLst>
                <a:ext uri="{FF2B5EF4-FFF2-40B4-BE49-F238E27FC236}">
                  <a16:creationId xmlns:a16="http://schemas.microsoft.com/office/drawing/2014/main" id="{86275D62-7F33-4723-85EA-33643FF11E2B}"/>
                </a:ext>
              </a:extLst>
            </p:cNvPr>
            <p:cNvSpPr>
              <a:spLocks/>
            </p:cNvSpPr>
            <p:nvPr/>
          </p:nvSpPr>
          <p:spPr bwMode="gray">
            <a:xfrm>
              <a:off x="10450769" y="1278884"/>
              <a:ext cx="91967" cy="137885"/>
            </a:xfrm>
            <a:prstGeom prst="roundRect">
              <a:avLst>
                <a:gd name="adj" fmla="val 50000"/>
              </a:avLst>
            </a:prstGeom>
            <a:solidFill>
              <a:srgbClr val="E5546C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76" name="TextBox 675">
              <a:extLst>
                <a:ext uri="{FF2B5EF4-FFF2-40B4-BE49-F238E27FC236}">
                  <a16:creationId xmlns:a16="http://schemas.microsoft.com/office/drawing/2014/main" id="{C506664A-D16B-4CE1-9C82-959200DFDFF1}"/>
                </a:ext>
              </a:extLst>
            </p:cNvPr>
            <p:cNvSpPr txBox="1"/>
            <p:nvPr/>
          </p:nvSpPr>
          <p:spPr bwMode="gray">
            <a:xfrm>
              <a:off x="10578452" y="1286271"/>
              <a:ext cx="796779" cy="12311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800" dirty="0">
                  <a:latin typeface="Tahoma (Body)"/>
                </a:rPr>
                <a:t>Strong limitations</a:t>
              </a:r>
            </a:p>
          </p:txBody>
        </p:sp>
        <p:sp>
          <p:nvSpPr>
            <p:cNvPr id="678" name="TextBox 677">
              <a:extLst>
                <a:ext uri="{FF2B5EF4-FFF2-40B4-BE49-F238E27FC236}">
                  <a16:creationId xmlns:a16="http://schemas.microsoft.com/office/drawing/2014/main" id="{A5CFA657-CB45-4381-A2D0-33B6F7D833BB}"/>
                </a:ext>
              </a:extLst>
            </p:cNvPr>
            <p:cNvSpPr txBox="1"/>
            <p:nvPr/>
          </p:nvSpPr>
          <p:spPr bwMode="gray">
            <a:xfrm>
              <a:off x="9581411" y="1286271"/>
              <a:ext cx="757441" cy="12311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800" dirty="0">
                  <a:latin typeface="Tahoma (Body)"/>
                </a:rPr>
                <a:t>Some limitations</a:t>
              </a:r>
            </a:p>
          </p:txBody>
        </p:sp>
        <p:sp>
          <p:nvSpPr>
            <p:cNvPr id="680" name="TextBox 679">
              <a:extLst>
                <a:ext uri="{FF2B5EF4-FFF2-40B4-BE49-F238E27FC236}">
                  <a16:creationId xmlns:a16="http://schemas.microsoft.com/office/drawing/2014/main" id="{09DB879F-A46C-4F5A-94B2-31D2E6BBBA98}"/>
                </a:ext>
              </a:extLst>
            </p:cNvPr>
            <p:cNvSpPr txBox="1"/>
            <p:nvPr/>
          </p:nvSpPr>
          <p:spPr bwMode="gray">
            <a:xfrm>
              <a:off x="8722500" y="1286271"/>
              <a:ext cx="619310" cy="12311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182880" lvl="1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365760" lvl="2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48640" lvl="3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731520" lvl="4" indent="-18288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800" dirty="0">
                  <a:latin typeface="Tahoma (Body)"/>
                </a:rPr>
                <a:t>No limitations</a:t>
              </a:r>
            </a:p>
          </p:txBody>
        </p: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2E3D055-4EEC-403B-AA67-5CF95F5D0D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9" name="4. Footnote">
            <a:extLst>
              <a:ext uri="{FF2B5EF4-FFF2-40B4-BE49-F238E27FC236}">
                <a16:creationId xmlns:a16="http://schemas.microsoft.com/office/drawing/2014/main" id="{6909530A-3FF3-4EFB-8C89-9D6C6A8E6DA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569981" y="6345625"/>
            <a:ext cx="9553893" cy="36933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1.	Avro, Parquet, </a:t>
            </a:r>
            <a:r>
              <a:rPr lang="en-US" dirty="0" err="1"/>
              <a:t>HFile</a:t>
            </a:r>
            <a:r>
              <a:rPr lang="en-US" dirty="0"/>
              <a:t>: based on ATLAS </a:t>
            </a:r>
            <a:r>
              <a:rPr lang="en-US" dirty="0" err="1"/>
              <a:t>EventIndex</a:t>
            </a:r>
            <a:r>
              <a:rPr lang="en-US" dirty="0"/>
              <a:t> test with an average record per index 1.5KB long and 56 attributes. Source: </a:t>
            </a:r>
            <a:r>
              <a:rPr lang="en-US" dirty="0">
                <a:hlinkClick r:id="rId11"/>
              </a:rPr>
              <a:t>Database Services</a:t>
            </a:r>
            <a:endParaRPr lang="en-US" dirty="0"/>
          </a:p>
          <a:p>
            <a:pPr marL="219075" indent="-228600">
              <a:buFontTx/>
              <a:buAutoNum type="arabicPeriod" startAt="2"/>
            </a:pPr>
            <a:r>
              <a:rPr lang="en-US" dirty="0"/>
              <a:t>Benchmarks by Owen O’Malley. Source: </a:t>
            </a:r>
            <a:r>
              <a:rPr lang="en-US" dirty="0">
                <a:hlinkClick r:id="rId12"/>
              </a:rPr>
              <a:t>O’Reilly</a:t>
            </a:r>
            <a:endParaRPr lang="en-US" dirty="0"/>
          </a:p>
          <a:p>
            <a:pPr marL="219075" lvl="0" indent="-228600">
              <a:buAutoNum type="arabicPeriod" startAt="2"/>
            </a:pPr>
            <a:r>
              <a:rPr lang="en-US" dirty="0"/>
              <a:t>For Orc data relative to Parquet based on </a:t>
            </a:r>
            <a:r>
              <a:rPr lang="en-US" dirty="0" err="1"/>
              <a:t>Dhareswarganesh</a:t>
            </a:r>
            <a:r>
              <a:rPr lang="en-US" dirty="0"/>
              <a:t> benchmark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B2FB32-1E0E-464D-97C0-3F896342B627}"/>
              </a:ext>
            </a:extLst>
          </p:cNvPr>
          <p:cNvSpPr txBox="1">
            <a:spLocks/>
          </p:cNvSpPr>
          <p:nvPr/>
        </p:nvSpPr>
        <p:spPr bwMode="gray">
          <a:xfrm>
            <a:off x="1493791" y="5290412"/>
            <a:ext cx="1799165" cy="18466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 (Body)"/>
              </a:rPr>
              <a:t>Data storage overhead, </a:t>
            </a:r>
            <a:r>
              <a:rPr lang="en-US" sz="1100" dirty="0">
                <a:latin typeface="Tahoma (Body)"/>
              </a:rPr>
              <a:t>(relative to Avro, less is better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 (Body)"/>
              </a:rPr>
              <a:t>)</a:t>
            </a:r>
            <a:r>
              <a:rPr kumimoji="0" lang="en-US" sz="1100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Tahoma (Body)"/>
              </a:rPr>
              <a:t>1,2,3</a:t>
            </a:r>
            <a:endParaRPr kumimoji="0" lang="en-US" sz="11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ahoma (Body)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B52EC9-811C-4524-A01D-7B3CB15B36AB}"/>
              </a:ext>
            </a:extLst>
          </p:cNvPr>
          <p:cNvSpPr txBox="1">
            <a:spLocks/>
          </p:cNvSpPr>
          <p:nvPr/>
        </p:nvSpPr>
        <p:spPr bwMode="gray">
          <a:xfrm>
            <a:off x="1493791" y="4106914"/>
            <a:ext cx="1799165" cy="369332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 (Body)"/>
              </a:rPr>
              <a:t>Insert/Update Performance,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 (Body)"/>
              </a:rPr>
              <a:t>(10k records / sec, higher is better)</a:t>
            </a:r>
            <a:r>
              <a:rPr kumimoji="0" lang="en-US" sz="1100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Tahoma (Body)"/>
              </a:rPr>
              <a:t>1</a:t>
            </a:r>
            <a:r>
              <a:rPr kumimoji="0" lang="en-US" sz="11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ahoma (Body)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953686-BD9E-421E-9E38-1DC79C0D6E54}"/>
              </a:ext>
            </a:extLst>
          </p:cNvPr>
          <p:cNvSpPr txBox="1">
            <a:spLocks/>
          </p:cNvSpPr>
          <p:nvPr/>
        </p:nvSpPr>
        <p:spPr bwMode="gray">
          <a:xfrm>
            <a:off x="1493791" y="1865326"/>
            <a:ext cx="1799165" cy="18466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 (Body)"/>
              </a:rPr>
              <a:t>Compatibility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2F0308-10E5-44DE-B07A-6513A34F8B92}"/>
              </a:ext>
            </a:extLst>
          </p:cNvPr>
          <p:cNvSpPr txBox="1">
            <a:spLocks/>
          </p:cNvSpPr>
          <p:nvPr/>
        </p:nvSpPr>
        <p:spPr bwMode="gray">
          <a:xfrm>
            <a:off x="1493791" y="1485962"/>
            <a:ext cx="1799165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 (Body)"/>
              </a:rPr>
              <a:t>Store format orientation</a:t>
            </a:r>
          </a:p>
        </p:txBody>
      </p: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7E7CD1ED-414E-466C-A549-19291627AD11}"/>
              </a:ext>
            </a:extLst>
          </p:cNvPr>
          <p:cNvCxnSpPr>
            <a:cxnSpLocks/>
          </p:cNvCxnSpPr>
          <p:nvPr/>
        </p:nvCxnSpPr>
        <p:spPr bwMode="gray">
          <a:xfrm flipH="1">
            <a:off x="1493791" y="5151806"/>
            <a:ext cx="1799165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629">
            <a:extLst>
              <a:ext uri="{FF2B5EF4-FFF2-40B4-BE49-F238E27FC236}">
                <a16:creationId xmlns:a16="http://schemas.microsoft.com/office/drawing/2014/main" id="{20D5A9E9-C7B4-4C11-B87B-0C7F5CC3DA47}"/>
              </a:ext>
            </a:extLst>
          </p:cNvPr>
          <p:cNvCxnSpPr>
            <a:cxnSpLocks/>
          </p:cNvCxnSpPr>
          <p:nvPr/>
        </p:nvCxnSpPr>
        <p:spPr bwMode="gray">
          <a:xfrm flipH="1">
            <a:off x="1493791" y="4058580"/>
            <a:ext cx="1799165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Straight Connector 630">
            <a:extLst>
              <a:ext uri="{FF2B5EF4-FFF2-40B4-BE49-F238E27FC236}">
                <a16:creationId xmlns:a16="http://schemas.microsoft.com/office/drawing/2014/main" id="{A562D958-06CC-4567-B68D-2BDE80ABCD08}"/>
              </a:ext>
            </a:extLst>
          </p:cNvPr>
          <p:cNvCxnSpPr>
            <a:cxnSpLocks/>
          </p:cNvCxnSpPr>
          <p:nvPr/>
        </p:nvCxnSpPr>
        <p:spPr bwMode="gray">
          <a:xfrm flipH="1">
            <a:off x="1493791" y="1710412"/>
            <a:ext cx="1799165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A2FEB9C8-B96F-4DC3-BB4C-D3E4B3C9AB03}"/>
              </a:ext>
            </a:extLst>
          </p:cNvPr>
          <p:cNvSpPr txBox="1">
            <a:spLocks/>
          </p:cNvSpPr>
          <p:nvPr/>
        </p:nvSpPr>
        <p:spPr bwMode="gray">
          <a:xfrm>
            <a:off x="5904607" y="1026076"/>
            <a:ext cx="2339718" cy="4738615"/>
          </a:xfrm>
          <a:prstGeom prst="roundRect">
            <a:avLst>
              <a:gd name="adj" fmla="val 3373"/>
            </a:avLst>
          </a:prstGeom>
          <a:solidFill>
            <a:schemeClr val="bg1"/>
          </a:solidFill>
          <a:ln w="6350">
            <a:noFill/>
          </a:ln>
          <a:effectLst>
            <a:outerShdw blurRad="203200" sx="102000" sy="102000" algn="ctr" rotWithShape="0">
              <a:schemeClr val="tx1">
                <a:alpha val="10000"/>
              </a:schemeClr>
            </a:outerShdw>
          </a:effectLst>
        </p:spPr>
        <p:txBody>
          <a:bodyPr vert="horz" wrap="square" lIns="35283" tIns="0" rIns="0" bIns="0" rtlCol="0" anchor="ctr" anchorCtr="0">
            <a:noAutofit/>
          </a:bodyPr>
          <a:lstStyle>
            <a:defPPr>
              <a:defRPr lang="en-US"/>
            </a:defPPr>
            <a:lvl1pPr lvl="0" indent="0" defTabSz="896203" fontAlgn="auto">
              <a:lnSpc>
                <a:spcPct val="100000"/>
              </a:lnSpc>
              <a:spcBef>
                <a:spcPts val="294"/>
              </a:spcBef>
              <a:spcAft>
                <a:spcPts val="294"/>
              </a:spcAft>
              <a:buFont typeface="Segoe UI" panose="020B0502040204020203" pitchFamily="34" charset="0"/>
              <a:buChar char="​"/>
              <a:defRPr sz="1176">
                <a:solidFill>
                  <a:srgbClr val="000000"/>
                </a:solidFill>
                <a:latin typeface="Arial"/>
                <a:cs typeface="Arial" panose="020B0604020202020204" pitchFamily="34" charset="0"/>
              </a:defRPr>
            </a:lvl1pPr>
            <a:lvl2pPr marL="230396" lvl="1" indent="-226796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5"/>
              </a:buClr>
              <a:buSzPct val="110000"/>
              <a:buFont typeface="Wingdings" panose="05000000000000000000" pitchFamily="2" charset="2"/>
              <a:buChar char=""/>
              <a:defRPr sz="1400">
                <a:solidFill>
                  <a:schemeClr val="tx1"/>
                </a:solidFill>
                <a:latin typeface="Arial" charset="0"/>
              </a:defRPr>
            </a:lvl2pPr>
            <a:lvl3pPr marL="442793" lvl="2" indent="-215997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5"/>
              </a:buClr>
              <a:buSzPct val="110000"/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Arial" charset="0"/>
              </a:defRPr>
            </a:lvl3pPr>
            <a:lvl4pPr marL="597590" lvl="3" indent="-151198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4pPr>
            <a:lvl5pPr marL="817187" lvl="4" indent="-147598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̶"/>
              <a:defRPr sz="1400">
                <a:solidFill>
                  <a:schemeClr val="tx1"/>
                </a:solidFill>
                <a:latin typeface="Arial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charset="0"/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charset="0"/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charset="0"/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charset="0"/>
                <a:cs typeface="Arial" panose="020B0604020202020204" pitchFamily="34" charset="0"/>
              </a:defRPr>
            </a:lvl9pPr>
          </a:lstStyle>
          <a:p>
            <a:endParaRPr lang="ru-RU" sz="14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0B31D58-4553-43CA-B813-1855016571D3}"/>
              </a:ext>
            </a:extLst>
          </p:cNvPr>
          <p:cNvSpPr txBox="1">
            <a:spLocks/>
          </p:cNvSpPr>
          <p:nvPr/>
        </p:nvSpPr>
        <p:spPr bwMode="gray">
          <a:xfrm>
            <a:off x="3450722" y="1026076"/>
            <a:ext cx="2339718" cy="4738615"/>
          </a:xfrm>
          <a:prstGeom prst="roundRect">
            <a:avLst>
              <a:gd name="adj" fmla="val 3373"/>
            </a:avLst>
          </a:prstGeom>
          <a:solidFill>
            <a:schemeClr val="bg1"/>
          </a:solidFill>
          <a:ln w="6350">
            <a:noFill/>
          </a:ln>
          <a:effectLst>
            <a:outerShdw blurRad="203200" sx="102000" sy="102000" algn="ctr" rotWithShape="0">
              <a:schemeClr val="tx1">
                <a:alpha val="10000"/>
              </a:schemeClr>
            </a:outerShdw>
          </a:effectLst>
        </p:spPr>
        <p:txBody>
          <a:bodyPr vert="horz" wrap="square" lIns="35283" tIns="0" rIns="0" bIns="0" rtlCol="0" anchor="ctr" anchorCtr="0">
            <a:noAutofit/>
          </a:bodyPr>
          <a:lstStyle>
            <a:defPPr>
              <a:defRPr lang="en-US"/>
            </a:defPPr>
            <a:lvl1pPr lvl="0" indent="0" defTabSz="896203" fontAlgn="auto">
              <a:lnSpc>
                <a:spcPct val="100000"/>
              </a:lnSpc>
              <a:spcBef>
                <a:spcPts val="294"/>
              </a:spcBef>
              <a:spcAft>
                <a:spcPts val="294"/>
              </a:spcAft>
              <a:buFont typeface="Segoe UI" panose="020B0502040204020203" pitchFamily="34" charset="0"/>
              <a:buChar char="​"/>
              <a:defRPr sz="1176">
                <a:solidFill>
                  <a:srgbClr val="000000"/>
                </a:solidFill>
                <a:latin typeface="Arial"/>
                <a:cs typeface="Arial" panose="020B0604020202020204" pitchFamily="34" charset="0"/>
              </a:defRPr>
            </a:lvl1pPr>
            <a:lvl2pPr marL="230396" lvl="1" indent="-226796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5"/>
              </a:buClr>
              <a:buSzPct val="110000"/>
              <a:buFont typeface="Wingdings" panose="05000000000000000000" pitchFamily="2" charset="2"/>
              <a:buChar char=""/>
              <a:defRPr sz="1400">
                <a:solidFill>
                  <a:schemeClr val="tx1"/>
                </a:solidFill>
                <a:latin typeface="Arial" charset="0"/>
              </a:defRPr>
            </a:lvl2pPr>
            <a:lvl3pPr marL="442793" lvl="2" indent="-215997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5"/>
              </a:buClr>
              <a:buSzPct val="110000"/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Arial" charset="0"/>
              </a:defRPr>
            </a:lvl3pPr>
            <a:lvl4pPr marL="597590" lvl="3" indent="-151198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4pPr>
            <a:lvl5pPr marL="817187" lvl="4" indent="-147598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̶"/>
              <a:defRPr sz="1400">
                <a:solidFill>
                  <a:schemeClr val="tx1"/>
                </a:solidFill>
                <a:latin typeface="Arial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charset="0"/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charset="0"/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charset="0"/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charset="0"/>
                <a:cs typeface="Arial" panose="020B0604020202020204" pitchFamily="34" charset="0"/>
              </a:defRPr>
            </a:lvl9pPr>
          </a:lstStyle>
          <a:p>
            <a:endParaRPr lang="ru-RU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0165D1-BAA4-4CFA-A487-51F3F67301B6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3517117" y="1170570"/>
            <a:ext cx="2206931" cy="172355"/>
          </a:xfrm>
          <a:prstGeom prst="rect">
            <a:avLst/>
          </a:prstGeom>
        </p:spPr>
        <p:txBody>
          <a:bodyPr vert="horz" wrap="square" lIns="0" tIns="0" rIns="0" bIns="18288" rtlCol="0" anchor="b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 (Body)"/>
              </a:rPr>
              <a:t>Avro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EEFF31-F7AD-4C20-AD1C-9099B67B536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5971000" y="1170570"/>
            <a:ext cx="2206929" cy="172355"/>
          </a:xfrm>
          <a:prstGeom prst="rect">
            <a:avLst/>
          </a:prstGeom>
        </p:spPr>
        <p:txBody>
          <a:bodyPr vert="horz" wrap="square" lIns="0" tIns="0" rIns="0" bIns="18288" rtlCol="0" anchor="b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200" b="1" dirty="0">
                <a:latin typeface="Tahoma (Body)"/>
              </a:rPr>
              <a:t>ORC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ahoma (Body)"/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52864DE9-A619-425B-B183-4108AE857EC8}"/>
              </a:ext>
            </a:extLst>
          </p:cNvPr>
          <p:cNvCxnSpPr>
            <a:cxnSpLocks/>
          </p:cNvCxnSpPr>
          <p:nvPr/>
        </p:nvCxnSpPr>
        <p:spPr bwMode="gray">
          <a:xfrm>
            <a:off x="3517117" y="1390550"/>
            <a:ext cx="2206929" cy="0"/>
          </a:xfrm>
          <a:prstGeom prst="line">
            <a:avLst/>
          </a:prstGeom>
          <a:ln w="1270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0B71899B-5E59-4192-BD18-6BE678870522}"/>
              </a:ext>
            </a:extLst>
          </p:cNvPr>
          <p:cNvCxnSpPr>
            <a:cxnSpLocks/>
          </p:cNvCxnSpPr>
          <p:nvPr/>
        </p:nvCxnSpPr>
        <p:spPr bwMode="gray">
          <a:xfrm>
            <a:off x="5971001" y="1390550"/>
            <a:ext cx="2206931" cy="0"/>
          </a:xfrm>
          <a:prstGeom prst="line">
            <a:avLst/>
          </a:prstGeom>
          <a:ln w="1270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Straight Connector 657">
            <a:extLst>
              <a:ext uri="{FF2B5EF4-FFF2-40B4-BE49-F238E27FC236}">
                <a16:creationId xmlns:a16="http://schemas.microsoft.com/office/drawing/2014/main" id="{A8F62AE2-ECB3-4D67-8371-7F93A0C5A792}"/>
              </a:ext>
            </a:extLst>
          </p:cNvPr>
          <p:cNvCxnSpPr>
            <a:cxnSpLocks/>
          </p:cNvCxnSpPr>
          <p:nvPr/>
        </p:nvCxnSpPr>
        <p:spPr bwMode="gray">
          <a:xfrm flipH="1">
            <a:off x="3517117" y="5151806"/>
            <a:ext cx="2206929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Straight Connector 658">
            <a:extLst>
              <a:ext uri="{FF2B5EF4-FFF2-40B4-BE49-F238E27FC236}">
                <a16:creationId xmlns:a16="http://schemas.microsoft.com/office/drawing/2014/main" id="{9612ADD6-1DE5-4202-A98D-D1FB628025BC}"/>
              </a:ext>
            </a:extLst>
          </p:cNvPr>
          <p:cNvCxnSpPr>
            <a:cxnSpLocks/>
          </p:cNvCxnSpPr>
          <p:nvPr/>
        </p:nvCxnSpPr>
        <p:spPr bwMode="gray">
          <a:xfrm flipH="1">
            <a:off x="3517117" y="4058580"/>
            <a:ext cx="2206929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Straight Connector 659">
            <a:extLst>
              <a:ext uri="{FF2B5EF4-FFF2-40B4-BE49-F238E27FC236}">
                <a16:creationId xmlns:a16="http://schemas.microsoft.com/office/drawing/2014/main" id="{F588C5CD-44B9-41BD-B797-FFCE4DD40F4D}"/>
              </a:ext>
            </a:extLst>
          </p:cNvPr>
          <p:cNvCxnSpPr>
            <a:cxnSpLocks/>
          </p:cNvCxnSpPr>
          <p:nvPr/>
        </p:nvCxnSpPr>
        <p:spPr bwMode="gray">
          <a:xfrm flipH="1">
            <a:off x="3517117" y="1710412"/>
            <a:ext cx="2206929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Straight Connector 668">
            <a:extLst>
              <a:ext uri="{FF2B5EF4-FFF2-40B4-BE49-F238E27FC236}">
                <a16:creationId xmlns:a16="http://schemas.microsoft.com/office/drawing/2014/main" id="{89EBEB10-007B-406F-9E05-E61FC1BD8A3D}"/>
              </a:ext>
            </a:extLst>
          </p:cNvPr>
          <p:cNvCxnSpPr>
            <a:cxnSpLocks/>
          </p:cNvCxnSpPr>
          <p:nvPr/>
        </p:nvCxnSpPr>
        <p:spPr bwMode="gray">
          <a:xfrm flipH="1">
            <a:off x="5971000" y="5151806"/>
            <a:ext cx="2206929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Straight Connector 669">
            <a:extLst>
              <a:ext uri="{FF2B5EF4-FFF2-40B4-BE49-F238E27FC236}">
                <a16:creationId xmlns:a16="http://schemas.microsoft.com/office/drawing/2014/main" id="{BEEA3B16-2380-41D5-967A-61025A239DB3}"/>
              </a:ext>
            </a:extLst>
          </p:cNvPr>
          <p:cNvCxnSpPr>
            <a:cxnSpLocks/>
          </p:cNvCxnSpPr>
          <p:nvPr/>
        </p:nvCxnSpPr>
        <p:spPr bwMode="gray">
          <a:xfrm flipH="1">
            <a:off x="5971000" y="4058580"/>
            <a:ext cx="2206929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Connector 670">
            <a:extLst>
              <a:ext uri="{FF2B5EF4-FFF2-40B4-BE49-F238E27FC236}">
                <a16:creationId xmlns:a16="http://schemas.microsoft.com/office/drawing/2014/main" id="{F186C568-546C-4983-92B7-E527F71BF9E8}"/>
              </a:ext>
            </a:extLst>
          </p:cNvPr>
          <p:cNvCxnSpPr>
            <a:cxnSpLocks/>
          </p:cNvCxnSpPr>
          <p:nvPr/>
        </p:nvCxnSpPr>
        <p:spPr bwMode="gray">
          <a:xfrm flipH="1">
            <a:off x="5971000" y="1710412"/>
            <a:ext cx="2206929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056CC92-840E-F842-8078-9D9EAAB0B4C4}"/>
              </a:ext>
            </a:extLst>
          </p:cNvPr>
          <p:cNvSpPr txBox="1">
            <a:spLocks/>
          </p:cNvSpPr>
          <p:nvPr/>
        </p:nvSpPr>
        <p:spPr bwMode="gray">
          <a:xfrm>
            <a:off x="8358492" y="1026076"/>
            <a:ext cx="2339718" cy="4738615"/>
          </a:xfrm>
          <a:prstGeom prst="roundRect">
            <a:avLst>
              <a:gd name="adj" fmla="val 3373"/>
            </a:avLst>
          </a:prstGeom>
          <a:solidFill>
            <a:schemeClr val="bg1"/>
          </a:solidFill>
          <a:ln w="6350">
            <a:noFill/>
          </a:ln>
          <a:effectLst>
            <a:outerShdw blurRad="203200" sx="102000" sy="102000" algn="ctr" rotWithShape="0">
              <a:schemeClr val="tx1">
                <a:alpha val="10000"/>
              </a:schemeClr>
            </a:outerShdw>
          </a:effectLst>
        </p:spPr>
        <p:txBody>
          <a:bodyPr vert="horz" wrap="square" lIns="35283" tIns="0" rIns="0" bIns="0" rtlCol="0" anchor="ctr" anchorCtr="0">
            <a:noAutofit/>
          </a:bodyPr>
          <a:lstStyle>
            <a:defPPr>
              <a:defRPr lang="en-US"/>
            </a:defPPr>
            <a:lvl1pPr lvl="0" indent="0" defTabSz="896203" fontAlgn="auto">
              <a:lnSpc>
                <a:spcPct val="100000"/>
              </a:lnSpc>
              <a:spcBef>
                <a:spcPts val="294"/>
              </a:spcBef>
              <a:spcAft>
                <a:spcPts val="294"/>
              </a:spcAft>
              <a:buFont typeface="Segoe UI" panose="020B0502040204020203" pitchFamily="34" charset="0"/>
              <a:buChar char="​"/>
              <a:defRPr sz="1176">
                <a:solidFill>
                  <a:srgbClr val="000000"/>
                </a:solidFill>
                <a:latin typeface="Arial"/>
                <a:cs typeface="Arial" panose="020B0604020202020204" pitchFamily="34" charset="0"/>
              </a:defRPr>
            </a:lvl1pPr>
            <a:lvl2pPr marL="230396" lvl="1" indent="-226796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5"/>
              </a:buClr>
              <a:buSzPct val="110000"/>
              <a:buFont typeface="Wingdings" panose="05000000000000000000" pitchFamily="2" charset="2"/>
              <a:buChar char=""/>
              <a:defRPr sz="1400">
                <a:solidFill>
                  <a:schemeClr val="tx1"/>
                </a:solidFill>
                <a:latin typeface="Arial" charset="0"/>
              </a:defRPr>
            </a:lvl2pPr>
            <a:lvl3pPr marL="442793" lvl="2" indent="-215997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5"/>
              </a:buClr>
              <a:buSzPct val="110000"/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Arial" charset="0"/>
              </a:defRPr>
            </a:lvl3pPr>
            <a:lvl4pPr marL="597590" lvl="3" indent="-151198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4pPr>
            <a:lvl5pPr marL="817187" lvl="4" indent="-147598" fontAlgn="base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̶"/>
              <a:defRPr sz="1400">
                <a:solidFill>
                  <a:schemeClr val="tx1"/>
                </a:solidFill>
                <a:latin typeface="Arial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charset="0"/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charset="0"/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charset="0"/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charset="0"/>
                <a:cs typeface="Arial" panose="020B0604020202020204" pitchFamily="34" charset="0"/>
              </a:defRPr>
            </a:lvl9pPr>
          </a:lstStyle>
          <a:p>
            <a:endParaRPr lang="ru-RU" sz="1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D350F5-6D43-6E4A-8219-58177E1181A8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8424885" y="1170570"/>
            <a:ext cx="2206929" cy="172355"/>
          </a:xfrm>
          <a:prstGeom prst="rect">
            <a:avLst/>
          </a:prstGeom>
        </p:spPr>
        <p:txBody>
          <a:bodyPr vert="horz" wrap="square" lIns="0" tIns="0" rIns="0" bIns="18288" rtlCol="0" anchor="b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200" b="1" dirty="0">
                <a:latin typeface="Tahoma (Body)"/>
              </a:rPr>
              <a:t>Parquet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ahoma (Body)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43FE789-1328-6648-A1ED-18FC3DABA02A}"/>
              </a:ext>
            </a:extLst>
          </p:cNvPr>
          <p:cNvCxnSpPr>
            <a:cxnSpLocks/>
          </p:cNvCxnSpPr>
          <p:nvPr/>
        </p:nvCxnSpPr>
        <p:spPr bwMode="gray">
          <a:xfrm>
            <a:off x="8424886" y="1390550"/>
            <a:ext cx="2206931" cy="0"/>
          </a:xfrm>
          <a:prstGeom prst="line">
            <a:avLst/>
          </a:prstGeom>
          <a:ln w="1270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C2B1541-6EED-074C-BFB8-7B73D369CEA1}"/>
              </a:ext>
            </a:extLst>
          </p:cNvPr>
          <p:cNvCxnSpPr>
            <a:cxnSpLocks/>
          </p:cNvCxnSpPr>
          <p:nvPr/>
        </p:nvCxnSpPr>
        <p:spPr bwMode="gray">
          <a:xfrm flipH="1">
            <a:off x="8424885" y="5151806"/>
            <a:ext cx="2206929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5FDCD71-94CC-4B40-B354-99509F745EB8}"/>
              </a:ext>
            </a:extLst>
          </p:cNvPr>
          <p:cNvCxnSpPr>
            <a:cxnSpLocks/>
          </p:cNvCxnSpPr>
          <p:nvPr/>
        </p:nvCxnSpPr>
        <p:spPr bwMode="gray">
          <a:xfrm flipH="1">
            <a:off x="8424885" y="4058580"/>
            <a:ext cx="2206929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B683136-7A0D-E04B-ADB0-2F664FE57110}"/>
              </a:ext>
            </a:extLst>
          </p:cNvPr>
          <p:cNvCxnSpPr>
            <a:cxnSpLocks/>
          </p:cNvCxnSpPr>
          <p:nvPr/>
        </p:nvCxnSpPr>
        <p:spPr bwMode="gray">
          <a:xfrm flipH="1">
            <a:off x="8424885" y="1710412"/>
            <a:ext cx="2206929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A6C052D6-B754-6E40-9F2D-D63F2203B240}"/>
              </a:ext>
            </a:extLst>
          </p:cNvPr>
          <p:cNvSpPr txBox="1">
            <a:spLocks/>
          </p:cNvSpPr>
          <p:nvPr/>
        </p:nvSpPr>
        <p:spPr bwMode="gray">
          <a:xfrm>
            <a:off x="3517117" y="1483634"/>
            <a:ext cx="2206929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900" dirty="0">
                <a:latin typeface="Tahoma (Body)"/>
              </a:rPr>
              <a:t>Row-oriented</a:t>
            </a:r>
            <a:endParaRPr lang="en-US" sz="9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0EECF12-3721-554B-8B96-8728CA812290}"/>
              </a:ext>
            </a:extLst>
          </p:cNvPr>
          <p:cNvSpPr txBox="1">
            <a:spLocks/>
          </p:cNvSpPr>
          <p:nvPr/>
        </p:nvSpPr>
        <p:spPr bwMode="gray">
          <a:xfrm>
            <a:off x="5971000" y="1483634"/>
            <a:ext cx="2206929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900" dirty="0">
                <a:latin typeface="Tahoma (Body)"/>
              </a:rPr>
              <a:t>Column-oriented</a:t>
            </a:r>
            <a:endParaRPr lang="en-US" sz="9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8933C55-969C-E94A-B2A8-D5447D6DECB2}"/>
              </a:ext>
            </a:extLst>
          </p:cNvPr>
          <p:cNvSpPr txBox="1">
            <a:spLocks/>
          </p:cNvSpPr>
          <p:nvPr/>
        </p:nvSpPr>
        <p:spPr bwMode="gray">
          <a:xfrm>
            <a:off x="8424884" y="1483633"/>
            <a:ext cx="2206929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900" dirty="0">
                <a:latin typeface="Tahoma (Body)"/>
              </a:rPr>
              <a:t>Column-oriented</a:t>
            </a:r>
            <a:endParaRPr lang="en-US" sz="900" dirty="0"/>
          </a:p>
        </p:txBody>
      </p:sp>
      <p:pic>
        <p:nvPicPr>
          <p:cNvPr id="80" name="Picture 15">
            <a:extLst>
              <a:ext uri="{FF2B5EF4-FFF2-40B4-BE49-F238E27FC236}">
                <a16:creationId xmlns:a16="http://schemas.microsoft.com/office/drawing/2014/main" id="{7E56D563-9FAF-3347-ADA6-108542171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778" y="1792283"/>
            <a:ext cx="450178" cy="234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3">
            <a:extLst>
              <a:ext uri="{FF2B5EF4-FFF2-40B4-BE49-F238E27FC236}">
                <a16:creationId xmlns:a16="http://schemas.microsoft.com/office/drawing/2014/main" id="{5E24B751-F5C7-FB41-B12C-7B89BA093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229" y="2420473"/>
            <a:ext cx="322727" cy="290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Oval 85">
            <a:extLst>
              <a:ext uri="{FF2B5EF4-FFF2-40B4-BE49-F238E27FC236}">
                <a16:creationId xmlns:a16="http://schemas.microsoft.com/office/drawing/2014/main" id="{F6E6C7E0-D7B0-0540-AFE5-714E7B616F27}"/>
              </a:ext>
            </a:extLst>
          </p:cNvPr>
          <p:cNvSpPr/>
          <p:nvPr/>
        </p:nvSpPr>
        <p:spPr>
          <a:xfrm>
            <a:off x="9443225" y="2452214"/>
            <a:ext cx="222508" cy="222508"/>
          </a:xfrm>
          <a:prstGeom prst="ellipse">
            <a:avLst/>
          </a:prstGeom>
          <a:solidFill>
            <a:srgbClr val="FDF7A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1931102-0499-FD48-9FA3-5DA8C8EE9378}"/>
              </a:ext>
            </a:extLst>
          </p:cNvPr>
          <p:cNvSpPr/>
          <p:nvPr/>
        </p:nvSpPr>
        <p:spPr>
          <a:xfrm>
            <a:off x="6963210" y="2452214"/>
            <a:ext cx="222508" cy="222508"/>
          </a:xfrm>
          <a:prstGeom prst="ellipse">
            <a:avLst/>
          </a:prstGeom>
          <a:solidFill>
            <a:srgbClr val="7CDEAD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76C173C-0F05-D043-831A-9EA5409EC11D}"/>
              </a:ext>
            </a:extLst>
          </p:cNvPr>
          <p:cNvSpPr/>
          <p:nvPr/>
        </p:nvSpPr>
        <p:spPr>
          <a:xfrm>
            <a:off x="4509327" y="2448857"/>
            <a:ext cx="222508" cy="222508"/>
          </a:xfrm>
          <a:prstGeom prst="ellipse">
            <a:avLst/>
          </a:prstGeom>
          <a:solidFill>
            <a:srgbClr val="FDF7A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D6D4E99D-6F0A-7841-A00D-0D8151A5CC6D}"/>
              </a:ext>
            </a:extLst>
          </p:cNvPr>
          <p:cNvSpPr/>
          <p:nvPr/>
        </p:nvSpPr>
        <p:spPr>
          <a:xfrm>
            <a:off x="9443225" y="1807195"/>
            <a:ext cx="222508" cy="222508"/>
          </a:xfrm>
          <a:prstGeom prst="ellipse">
            <a:avLst/>
          </a:prstGeom>
          <a:solidFill>
            <a:srgbClr val="7CDEAD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0268313-94CE-1E4A-95C8-EDF2DBAF855E}"/>
              </a:ext>
            </a:extLst>
          </p:cNvPr>
          <p:cNvSpPr/>
          <p:nvPr/>
        </p:nvSpPr>
        <p:spPr>
          <a:xfrm>
            <a:off x="6963210" y="1807195"/>
            <a:ext cx="222508" cy="222508"/>
          </a:xfrm>
          <a:prstGeom prst="ellipse">
            <a:avLst/>
          </a:prstGeom>
          <a:solidFill>
            <a:srgbClr val="FDF7A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4F416012-E8DE-D842-AB3A-5C348F5FE064}"/>
              </a:ext>
            </a:extLst>
          </p:cNvPr>
          <p:cNvSpPr/>
          <p:nvPr/>
        </p:nvSpPr>
        <p:spPr>
          <a:xfrm>
            <a:off x="4509327" y="1803838"/>
            <a:ext cx="222508" cy="222508"/>
          </a:xfrm>
          <a:prstGeom prst="ellipse">
            <a:avLst/>
          </a:prstGeom>
          <a:solidFill>
            <a:srgbClr val="7CDEAD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2175274-4E13-D042-A715-775E9C351992}"/>
              </a:ext>
            </a:extLst>
          </p:cNvPr>
          <p:cNvSpPr/>
          <p:nvPr/>
        </p:nvSpPr>
        <p:spPr>
          <a:xfrm>
            <a:off x="9443225" y="3020218"/>
            <a:ext cx="222508" cy="222508"/>
          </a:xfrm>
          <a:prstGeom prst="ellipse">
            <a:avLst/>
          </a:prstGeom>
          <a:solidFill>
            <a:srgbClr val="7CDEAD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14338A0-580B-F04F-B731-1EAC0DCB6E6D}"/>
              </a:ext>
            </a:extLst>
          </p:cNvPr>
          <p:cNvSpPr/>
          <p:nvPr/>
        </p:nvSpPr>
        <p:spPr>
          <a:xfrm>
            <a:off x="6963210" y="3020218"/>
            <a:ext cx="222508" cy="222508"/>
          </a:xfrm>
          <a:prstGeom prst="ellipse">
            <a:avLst/>
          </a:prstGeom>
          <a:solidFill>
            <a:srgbClr val="FDF7A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DB7657C-1F9D-E94F-9C4E-31C189AC7A9D}"/>
              </a:ext>
            </a:extLst>
          </p:cNvPr>
          <p:cNvSpPr/>
          <p:nvPr/>
        </p:nvSpPr>
        <p:spPr>
          <a:xfrm>
            <a:off x="4509327" y="3013134"/>
            <a:ext cx="222508" cy="222508"/>
          </a:xfrm>
          <a:prstGeom prst="ellipse">
            <a:avLst/>
          </a:prstGeom>
          <a:solidFill>
            <a:srgbClr val="FDF7A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1749633-635E-EF46-B6CE-59CB88C973EC}"/>
              </a:ext>
            </a:extLst>
          </p:cNvPr>
          <p:cNvSpPr txBox="1">
            <a:spLocks/>
          </p:cNvSpPr>
          <p:nvPr/>
        </p:nvSpPr>
        <p:spPr bwMode="gray">
          <a:xfrm>
            <a:off x="1493791" y="4805579"/>
            <a:ext cx="1728929" cy="1791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 (Body)"/>
              </a:rPr>
              <a:t>Random Access Performance,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 (Body)"/>
              </a:rPr>
              <a:t>(seconds, less is better)</a:t>
            </a:r>
            <a:r>
              <a:rPr kumimoji="0" lang="en-US" sz="1100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Tahoma (Body)"/>
              </a:rPr>
              <a:t>1,3</a:t>
            </a:r>
            <a:endParaRPr kumimoji="0" lang="en-US" sz="11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ahoma (Body)"/>
            </a:endParaRP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DAD0F37-BF34-FA4E-ABC4-EE33947C5306}"/>
              </a:ext>
            </a:extLst>
          </p:cNvPr>
          <p:cNvCxnSpPr>
            <a:cxnSpLocks/>
          </p:cNvCxnSpPr>
          <p:nvPr/>
        </p:nvCxnSpPr>
        <p:spPr bwMode="gray">
          <a:xfrm flipH="1">
            <a:off x="1493791" y="4626811"/>
            <a:ext cx="1799165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F093B8E1-34F8-9645-B168-F05B6A49C813}"/>
              </a:ext>
            </a:extLst>
          </p:cNvPr>
          <p:cNvCxnSpPr>
            <a:cxnSpLocks/>
          </p:cNvCxnSpPr>
          <p:nvPr/>
        </p:nvCxnSpPr>
        <p:spPr bwMode="gray">
          <a:xfrm flipH="1">
            <a:off x="3517117" y="4626811"/>
            <a:ext cx="2206929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76B2C8F4-EBAF-0347-A5A8-67363291EB9B}"/>
              </a:ext>
            </a:extLst>
          </p:cNvPr>
          <p:cNvCxnSpPr>
            <a:cxnSpLocks/>
          </p:cNvCxnSpPr>
          <p:nvPr/>
        </p:nvCxnSpPr>
        <p:spPr bwMode="gray">
          <a:xfrm flipH="1">
            <a:off x="5971000" y="4626811"/>
            <a:ext cx="2206929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60B09756-8877-8940-B656-847C52029771}"/>
              </a:ext>
            </a:extLst>
          </p:cNvPr>
          <p:cNvCxnSpPr>
            <a:cxnSpLocks/>
          </p:cNvCxnSpPr>
          <p:nvPr/>
        </p:nvCxnSpPr>
        <p:spPr bwMode="gray">
          <a:xfrm flipH="1">
            <a:off x="8424885" y="4626811"/>
            <a:ext cx="2206929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A4F43388-2617-432E-BBA2-48D476F98FEA}"/>
              </a:ext>
            </a:extLst>
          </p:cNvPr>
          <p:cNvSpPr txBox="1">
            <a:spLocks/>
          </p:cNvSpPr>
          <p:nvPr/>
        </p:nvSpPr>
        <p:spPr bwMode="gray">
          <a:xfrm>
            <a:off x="3662033" y="4912403"/>
            <a:ext cx="1902989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900" dirty="0">
                <a:latin typeface="Tahoma (Body)"/>
              </a:rPr>
              <a:t>1x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F7D9A00-8E11-4B82-8D28-36A62FBCB291}"/>
              </a:ext>
            </a:extLst>
          </p:cNvPr>
          <p:cNvSpPr txBox="1">
            <a:spLocks/>
          </p:cNvSpPr>
          <p:nvPr/>
        </p:nvSpPr>
        <p:spPr bwMode="gray">
          <a:xfrm>
            <a:off x="6115916" y="4365328"/>
            <a:ext cx="1902990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900" dirty="0">
                <a:latin typeface="Tahoma (Body)"/>
              </a:rPr>
              <a:t>TBD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B42FEE0-0180-47A1-9E2E-29221D3049D6}"/>
              </a:ext>
            </a:extLst>
          </p:cNvPr>
          <p:cNvSpPr txBox="1">
            <a:spLocks/>
          </p:cNvSpPr>
          <p:nvPr/>
        </p:nvSpPr>
        <p:spPr bwMode="gray">
          <a:xfrm>
            <a:off x="8569800" y="4912403"/>
            <a:ext cx="1902989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900" dirty="0">
                <a:latin typeface="Tahoma (Body)"/>
              </a:rPr>
              <a:t>0.04x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111D2F3-10C0-4646-B809-E7216728F4B9}"/>
              </a:ext>
            </a:extLst>
          </p:cNvPr>
          <p:cNvSpPr txBox="1">
            <a:spLocks/>
          </p:cNvSpPr>
          <p:nvPr/>
        </p:nvSpPr>
        <p:spPr bwMode="gray">
          <a:xfrm>
            <a:off x="3662033" y="4365328"/>
            <a:ext cx="1902990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900" dirty="0">
                <a:latin typeface="Tahoma (Body)"/>
              </a:rPr>
              <a:t>1x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939A40-8C4F-48C9-9398-FFAADB8913ED}"/>
              </a:ext>
            </a:extLst>
          </p:cNvPr>
          <p:cNvSpPr txBox="1">
            <a:spLocks/>
          </p:cNvSpPr>
          <p:nvPr/>
        </p:nvSpPr>
        <p:spPr bwMode="gray">
          <a:xfrm>
            <a:off x="6115916" y="4912403"/>
            <a:ext cx="1902989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900" dirty="0">
                <a:latin typeface="Tahoma (Body)"/>
              </a:rPr>
              <a:t>0.07x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FEDC4B7-A8DC-4DD2-8577-12640C50AFFA}"/>
              </a:ext>
            </a:extLst>
          </p:cNvPr>
          <p:cNvSpPr txBox="1">
            <a:spLocks/>
          </p:cNvSpPr>
          <p:nvPr/>
        </p:nvSpPr>
        <p:spPr bwMode="gray">
          <a:xfrm>
            <a:off x="8569800" y="4365328"/>
            <a:ext cx="1902990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900" dirty="0">
                <a:latin typeface="Tahoma (Body)"/>
              </a:rPr>
              <a:t>0.56x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B257762-363A-4268-A185-8C37AAA3AADF}"/>
              </a:ext>
            </a:extLst>
          </p:cNvPr>
          <p:cNvSpPr txBox="1">
            <a:spLocks/>
          </p:cNvSpPr>
          <p:nvPr/>
        </p:nvSpPr>
        <p:spPr bwMode="gray">
          <a:xfrm>
            <a:off x="3662033" y="5424939"/>
            <a:ext cx="1902990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900" dirty="0">
                <a:latin typeface="Tahoma (Body)"/>
              </a:rPr>
              <a:t>1x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D2C79F7-FD12-4461-A2AA-FB827135191F}"/>
              </a:ext>
            </a:extLst>
          </p:cNvPr>
          <p:cNvSpPr txBox="1">
            <a:spLocks/>
          </p:cNvSpPr>
          <p:nvPr/>
        </p:nvSpPr>
        <p:spPr bwMode="gray">
          <a:xfrm>
            <a:off x="6115916" y="5424939"/>
            <a:ext cx="1902990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900" dirty="0">
                <a:latin typeface="Tahoma (Body)"/>
              </a:rPr>
              <a:t>0.5x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7E9C363-0361-4C5C-BFB4-1A201A491BF2}"/>
              </a:ext>
            </a:extLst>
          </p:cNvPr>
          <p:cNvSpPr txBox="1">
            <a:spLocks/>
          </p:cNvSpPr>
          <p:nvPr/>
        </p:nvSpPr>
        <p:spPr bwMode="gray">
          <a:xfrm>
            <a:off x="8569800" y="5424939"/>
            <a:ext cx="1902990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900" dirty="0">
                <a:latin typeface="Tahoma (Body)"/>
              </a:rPr>
              <a:t>0.6x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21B8D260-45AE-F949-AEB7-5CB9D6F300D2}"/>
              </a:ext>
            </a:extLst>
          </p:cNvPr>
          <p:cNvSpPr/>
          <p:nvPr/>
        </p:nvSpPr>
        <p:spPr>
          <a:xfrm>
            <a:off x="4509327" y="5179158"/>
            <a:ext cx="222508" cy="222508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E0DF59DE-AC0A-8540-A17A-43303C401496}"/>
              </a:ext>
            </a:extLst>
          </p:cNvPr>
          <p:cNvSpPr/>
          <p:nvPr/>
        </p:nvSpPr>
        <p:spPr>
          <a:xfrm>
            <a:off x="9443225" y="5164477"/>
            <a:ext cx="222508" cy="222508"/>
          </a:xfrm>
          <a:prstGeom prst="ellipse">
            <a:avLst/>
          </a:prstGeom>
          <a:solidFill>
            <a:srgbClr val="FDF7A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7D52BC94-5CFB-A349-A05C-AECA2A36AB0E}"/>
              </a:ext>
            </a:extLst>
          </p:cNvPr>
          <p:cNvSpPr/>
          <p:nvPr/>
        </p:nvSpPr>
        <p:spPr>
          <a:xfrm>
            <a:off x="4509327" y="4109632"/>
            <a:ext cx="222508" cy="222508"/>
          </a:xfrm>
          <a:prstGeom prst="ellipse">
            <a:avLst/>
          </a:prstGeom>
          <a:solidFill>
            <a:srgbClr val="7CDEAD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6F3D3A34-1C13-214C-B6E0-9D0EAB6AEC75}"/>
              </a:ext>
            </a:extLst>
          </p:cNvPr>
          <p:cNvSpPr/>
          <p:nvPr/>
        </p:nvSpPr>
        <p:spPr>
          <a:xfrm>
            <a:off x="9443225" y="4103427"/>
            <a:ext cx="222508" cy="222508"/>
          </a:xfrm>
          <a:prstGeom prst="ellipse">
            <a:avLst/>
          </a:prstGeom>
          <a:solidFill>
            <a:srgbClr val="FDF7A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26FB8258-D672-8540-94C2-C5D12332D7FB}"/>
              </a:ext>
            </a:extLst>
          </p:cNvPr>
          <p:cNvSpPr/>
          <p:nvPr/>
        </p:nvSpPr>
        <p:spPr>
          <a:xfrm>
            <a:off x="4509327" y="4650175"/>
            <a:ext cx="222508" cy="222508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EF83AE5F-700A-4E4A-B8B7-B047A8F12FB9}"/>
              </a:ext>
            </a:extLst>
          </p:cNvPr>
          <p:cNvSpPr/>
          <p:nvPr/>
        </p:nvSpPr>
        <p:spPr>
          <a:xfrm>
            <a:off x="9443225" y="4649621"/>
            <a:ext cx="222508" cy="222508"/>
          </a:xfrm>
          <a:prstGeom prst="ellipse">
            <a:avLst/>
          </a:prstGeom>
          <a:solidFill>
            <a:srgbClr val="7CDEAD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31995472-9293-1B4E-82AD-C68839E0D0C1}"/>
              </a:ext>
            </a:extLst>
          </p:cNvPr>
          <p:cNvSpPr/>
          <p:nvPr/>
        </p:nvSpPr>
        <p:spPr>
          <a:xfrm>
            <a:off x="6963210" y="4649621"/>
            <a:ext cx="222508" cy="222508"/>
          </a:xfrm>
          <a:prstGeom prst="ellipse">
            <a:avLst/>
          </a:prstGeom>
          <a:solidFill>
            <a:srgbClr val="FDF7A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329446AE-A7AF-734D-807B-92CC1E898D1D}"/>
              </a:ext>
            </a:extLst>
          </p:cNvPr>
          <p:cNvSpPr/>
          <p:nvPr/>
        </p:nvSpPr>
        <p:spPr>
          <a:xfrm>
            <a:off x="6963210" y="5164477"/>
            <a:ext cx="222508" cy="222508"/>
          </a:xfrm>
          <a:prstGeom prst="ellipse">
            <a:avLst/>
          </a:prstGeom>
          <a:solidFill>
            <a:srgbClr val="7CDEAD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155654" name="Picture 6" descr="Install Impala Shell to Access Impala from Outside the Cluster | by Arun  Algude | Clairvoyant Blog">
            <a:extLst>
              <a:ext uri="{FF2B5EF4-FFF2-40B4-BE49-F238E27FC236}">
                <a16:creationId xmlns:a16="http://schemas.microsoft.com/office/drawing/2014/main" id="{6BDA895C-673D-184F-8143-FB80E5AAD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441" y="2952905"/>
            <a:ext cx="515280" cy="35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3AB0B798-BAF7-904B-80D9-18F683728FB1}"/>
              </a:ext>
            </a:extLst>
          </p:cNvPr>
          <p:cNvSpPr txBox="1">
            <a:spLocks/>
          </p:cNvSpPr>
          <p:nvPr/>
        </p:nvSpPr>
        <p:spPr bwMode="gray">
          <a:xfrm>
            <a:off x="1493791" y="3722105"/>
            <a:ext cx="1799165" cy="27169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 (Body)"/>
              </a:rPr>
              <a:t>Streaming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 (Body)"/>
              </a:rPr>
              <a:t> (inserts)</a:t>
            </a:r>
            <a:endParaRPr kumimoji="0" lang="en-US" sz="1100" i="0" u="none" strike="noStrike" kern="1200" cap="none" spc="0" normalizeH="0" noProof="0" dirty="0">
              <a:ln>
                <a:noFill/>
              </a:ln>
              <a:effectLst/>
              <a:uLnTx/>
              <a:uFillTx/>
              <a:latin typeface="Tahoma (Body)"/>
            </a:endParaRP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F7EB1426-5A0B-1E4B-B656-2F89670E4FBE}"/>
              </a:ext>
            </a:extLst>
          </p:cNvPr>
          <p:cNvCxnSpPr>
            <a:cxnSpLocks/>
          </p:cNvCxnSpPr>
          <p:nvPr/>
        </p:nvCxnSpPr>
        <p:spPr bwMode="gray">
          <a:xfrm flipH="1">
            <a:off x="1493791" y="3675832"/>
            <a:ext cx="1799165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928295B0-F0CC-C144-9826-EE42C9745A21}"/>
              </a:ext>
            </a:extLst>
          </p:cNvPr>
          <p:cNvCxnSpPr>
            <a:cxnSpLocks/>
          </p:cNvCxnSpPr>
          <p:nvPr/>
        </p:nvCxnSpPr>
        <p:spPr bwMode="gray">
          <a:xfrm flipH="1">
            <a:off x="3517117" y="3675832"/>
            <a:ext cx="2206929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50BF943-00E7-0C4F-AAA0-4528AB92683D}"/>
              </a:ext>
            </a:extLst>
          </p:cNvPr>
          <p:cNvCxnSpPr>
            <a:cxnSpLocks/>
          </p:cNvCxnSpPr>
          <p:nvPr/>
        </p:nvCxnSpPr>
        <p:spPr bwMode="gray">
          <a:xfrm flipH="1">
            <a:off x="5971000" y="3675832"/>
            <a:ext cx="2206929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0829485-470E-4148-8A16-299009E661D1}"/>
              </a:ext>
            </a:extLst>
          </p:cNvPr>
          <p:cNvCxnSpPr>
            <a:cxnSpLocks/>
          </p:cNvCxnSpPr>
          <p:nvPr/>
        </p:nvCxnSpPr>
        <p:spPr bwMode="gray">
          <a:xfrm flipH="1">
            <a:off x="8424885" y="3675832"/>
            <a:ext cx="2206929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Oval 165">
            <a:extLst>
              <a:ext uri="{FF2B5EF4-FFF2-40B4-BE49-F238E27FC236}">
                <a16:creationId xmlns:a16="http://schemas.microsoft.com/office/drawing/2014/main" id="{423252A8-C334-BE4D-9E99-7D54900141E0}"/>
              </a:ext>
            </a:extLst>
          </p:cNvPr>
          <p:cNvSpPr/>
          <p:nvPr/>
        </p:nvSpPr>
        <p:spPr>
          <a:xfrm>
            <a:off x="4509327" y="3742163"/>
            <a:ext cx="222508" cy="222508"/>
          </a:xfrm>
          <a:prstGeom prst="ellipse">
            <a:avLst/>
          </a:prstGeom>
          <a:solidFill>
            <a:srgbClr val="7CDEAD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4C0A62BF-FA97-AC44-9A28-473DF5B25FDF}"/>
              </a:ext>
            </a:extLst>
          </p:cNvPr>
          <p:cNvSpPr/>
          <p:nvPr/>
        </p:nvSpPr>
        <p:spPr>
          <a:xfrm>
            <a:off x="9443225" y="3742163"/>
            <a:ext cx="222508" cy="222508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98BDE35D-FE3D-8F4B-B9C0-7A9466A8C289}"/>
              </a:ext>
            </a:extLst>
          </p:cNvPr>
          <p:cNvSpPr/>
          <p:nvPr/>
        </p:nvSpPr>
        <p:spPr>
          <a:xfrm>
            <a:off x="6963210" y="3742163"/>
            <a:ext cx="222508" cy="222508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63C12CA-D3E1-2540-BEAE-1807B9399212}"/>
              </a:ext>
            </a:extLst>
          </p:cNvPr>
          <p:cNvSpPr txBox="1">
            <a:spLocks/>
          </p:cNvSpPr>
          <p:nvPr/>
        </p:nvSpPr>
        <p:spPr bwMode="gray">
          <a:xfrm>
            <a:off x="8602984" y="2723103"/>
            <a:ext cx="1902989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900" dirty="0">
                <a:latin typeface="Tahoma (Body)"/>
              </a:rPr>
              <a:t>e.g. insert-only ACID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4B64719-56B5-FA4F-A340-F58381FA269D}"/>
              </a:ext>
            </a:extLst>
          </p:cNvPr>
          <p:cNvSpPr txBox="1">
            <a:spLocks/>
          </p:cNvSpPr>
          <p:nvPr/>
        </p:nvSpPr>
        <p:spPr bwMode="gray">
          <a:xfrm>
            <a:off x="6122969" y="2075472"/>
            <a:ext cx="1902989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900" dirty="0">
                <a:latin typeface="Tahoma (Body)"/>
              </a:rPr>
              <a:t>e.g. limited nested structures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6C6D85C-B8D5-3042-AE1B-19219AC7902A}"/>
              </a:ext>
            </a:extLst>
          </p:cNvPr>
          <p:cNvGrpSpPr/>
          <p:nvPr/>
        </p:nvGrpSpPr>
        <p:grpSpPr>
          <a:xfrm>
            <a:off x="3517117" y="2950275"/>
            <a:ext cx="7114697" cy="0"/>
            <a:chOff x="3646326" y="2890641"/>
            <a:chExt cx="7114697" cy="0"/>
          </a:xfrm>
        </p:grpSpPr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F27BEB1E-E88A-6640-B753-7B2E14D3B0C9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46326" y="2890641"/>
              <a:ext cx="2206929" cy="0"/>
            </a:xfrm>
            <a:prstGeom prst="line">
              <a:avLst/>
            </a:prstGeom>
            <a:ln w="6350" cap="flat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A358C84C-71B2-F840-9779-4A141EA08B4E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6100209" y="2890641"/>
              <a:ext cx="2206929" cy="0"/>
            </a:xfrm>
            <a:prstGeom prst="line">
              <a:avLst/>
            </a:prstGeom>
            <a:ln w="6350" cap="flat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4B652053-F69C-8147-BC99-87A34F34238A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8554094" y="2890641"/>
              <a:ext cx="2206929" cy="0"/>
            </a:xfrm>
            <a:prstGeom prst="line">
              <a:avLst/>
            </a:prstGeom>
            <a:ln w="6350" cap="flat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647FDB8E-66C0-C445-BA52-2665E91E5726}"/>
              </a:ext>
            </a:extLst>
          </p:cNvPr>
          <p:cNvGrpSpPr/>
          <p:nvPr/>
        </p:nvGrpSpPr>
        <p:grpSpPr>
          <a:xfrm>
            <a:off x="3517117" y="2363867"/>
            <a:ext cx="7114697" cy="0"/>
            <a:chOff x="3646326" y="2890641"/>
            <a:chExt cx="7114697" cy="0"/>
          </a:xfrm>
        </p:grpSpPr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21B5CB1-00F0-C340-8234-4F7C2A7CDEF1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46326" y="2890641"/>
              <a:ext cx="2206929" cy="0"/>
            </a:xfrm>
            <a:prstGeom prst="line">
              <a:avLst/>
            </a:prstGeom>
            <a:ln w="6350" cap="flat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9C1487A-FE19-C044-A1F9-DB6103DB78AD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6100209" y="2890641"/>
              <a:ext cx="2206929" cy="0"/>
            </a:xfrm>
            <a:prstGeom prst="line">
              <a:avLst/>
            </a:prstGeom>
            <a:ln w="6350" cap="flat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BCA0E6D4-1A4C-8D42-A372-1AF5B4EF93E8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8554094" y="2890641"/>
              <a:ext cx="2206929" cy="0"/>
            </a:xfrm>
            <a:prstGeom prst="line">
              <a:avLst/>
            </a:prstGeom>
            <a:ln w="6350" cap="flat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TextBox 180">
            <a:extLst>
              <a:ext uri="{FF2B5EF4-FFF2-40B4-BE49-F238E27FC236}">
                <a16:creationId xmlns:a16="http://schemas.microsoft.com/office/drawing/2014/main" id="{59DDE4DA-305B-7E4B-9A7D-0ADDF5E430A8}"/>
              </a:ext>
            </a:extLst>
          </p:cNvPr>
          <p:cNvSpPr txBox="1">
            <a:spLocks/>
          </p:cNvSpPr>
          <p:nvPr/>
        </p:nvSpPr>
        <p:spPr bwMode="gray">
          <a:xfrm>
            <a:off x="1493791" y="5932198"/>
            <a:ext cx="1799165" cy="18466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 (Body)"/>
              </a:rPr>
              <a:t>Applicability</a:t>
            </a:r>
            <a:endParaRPr kumimoji="0" lang="en-US" sz="11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ahoma (Body)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74730CFF-8E54-F24E-9633-38236D5F44E3}"/>
              </a:ext>
            </a:extLst>
          </p:cNvPr>
          <p:cNvSpPr txBox="1">
            <a:spLocks/>
          </p:cNvSpPr>
          <p:nvPr/>
        </p:nvSpPr>
        <p:spPr bwMode="gray">
          <a:xfrm>
            <a:off x="3517117" y="5863384"/>
            <a:ext cx="2206929" cy="4154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US" sz="900" dirty="0">
                <a:latin typeface="Tahoma (Body)"/>
              </a:rPr>
              <a:t>Staging layer due high performance data ingestion, streaming support and easy data evolution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637D7E1-6219-7847-A5B8-44E0A46BD922}"/>
              </a:ext>
            </a:extLst>
          </p:cNvPr>
          <p:cNvSpPr txBox="1">
            <a:spLocks/>
          </p:cNvSpPr>
          <p:nvPr/>
        </p:nvSpPr>
        <p:spPr bwMode="gray">
          <a:xfrm>
            <a:off x="5971000" y="5863384"/>
            <a:ext cx="2206929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US" sz="900" dirty="0">
                <a:latin typeface="Tahoma (Body)"/>
              </a:rPr>
              <a:t>BI-focused tables with SQL heavy access via Hive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137CB15A-3E2A-0449-8232-C89437988168}"/>
              </a:ext>
            </a:extLst>
          </p:cNvPr>
          <p:cNvSpPr txBox="1">
            <a:spLocks/>
          </p:cNvSpPr>
          <p:nvPr/>
        </p:nvSpPr>
        <p:spPr bwMode="gray">
          <a:xfrm>
            <a:off x="8424884" y="5863384"/>
            <a:ext cx="2206929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900" dirty="0">
                <a:latin typeface="Tahoma (Body)"/>
              </a:rPr>
              <a:t>Storing data for further Spark processing or Impala based BI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79A0AB0-1E61-104B-9804-FAA839511000}"/>
              </a:ext>
            </a:extLst>
          </p:cNvPr>
          <p:cNvSpPr txBox="1">
            <a:spLocks/>
          </p:cNvSpPr>
          <p:nvPr/>
        </p:nvSpPr>
        <p:spPr bwMode="gray">
          <a:xfrm>
            <a:off x="3662032" y="2723102"/>
            <a:ext cx="1902989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900" dirty="0">
                <a:latin typeface="Tahoma (Body)"/>
              </a:rPr>
              <a:t>e.g. insert-only ACID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0BC534E2-EB7C-1840-8728-CA995E76AB21}"/>
              </a:ext>
            </a:extLst>
          </p:cNvPr>
          <p:cNvSpPr txBox="1">
            <a:spLocks/>
          </p:cNvSpPr>
          <p:nvPr/>
        </p:nvSpPr>
        <p:spPr bwMode="gray">
          <a:xfrm>
            <a:off x="6119946" y="3310749"/>
            <a:ext cx="1902989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900" dirty="0">
                <a:latin typeface="Tahoma (Body)"/>
              </a:rPr>
              <a:t>experimental support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6599B582-4BF6-DA42-8224-908F5A630127}"/>
              </a:ext>
            </a:extLst>
          </p:cNvPr>
          <p:cNvSpPr txBox="1">
            <a:spLocks/>
          </p:cNvSpPr>
          <p:nvPr/>
        </p:nvSpPr>
        <p:spPr bwMode="gray">
          <a:xfrm>
            <a:off x="3669086" y="3310749"/>
            <a:ext cx="1902989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900" dirty="0">
                <a:latin typeface="Tahoma (Body)"/>
              </a:rPr>
              <a:t>read-only</a:t>
            </a:r>
          </a:p>
        </p:txBody>
      </p:sp>
    </p:spTree>
    <p:extLst>
      <p:ext uri="{BB962C8B-B14F-4D97-AF65-F5344CB8AC3E}">
        <p14:creationId xmlns:p14="http://schemas.microsoft.com/office/powerpoint/2010/main" val="1654608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" name="Object 52" hidden="1">
            <a:extLst>
              <a:ext uri="{FF2B5EF4-FFF2-40B4-BE49-F238E27FC236}">
                <a16:creationId xmlns:a16="http://schemas.microsoft.com/office/drawing/2014/main" id="{8BA573CF-FEF8-4850-85EA-942ECB68801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711" y="1621"/>
          <a:ext cx="1620" cy="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2" name="think-cell Slide" r:id="rId11" imgW="306" imgH="306" progId="TCLayout.ActiveDocument.1">
                  <p:embed/>
                </p:oleObj>
              </mc:Choice>
              <mc:Fallback>
                <p:oleObj name="think-cell Slide" r:id="rId11" imgW="306" imgH="306" progId="TCLayout.ActiveDocument.1">
                  <p:embed/>
                  <p:pic>
                    <p:nvPicPr>
                      <p:cNvPr id="53" name="Object 52" hidden="1">
                        <a:extLst>
                          <a:ext uri="{FF2B5EF4-FFF2-40B4-BE49-F238E27FC236}">
                            <a16:creationId xmlns:a16="http://schemas.microsoft.com/office/drawing/2014/main" id="{8BA573CF-FEF8-4850-85EA-942ECB6880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11" y="1621"/>
                        <a:ext cx="1620" cy="1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32" hidden="1">
            <a:extLst>
              <a:ext uri="{FF2B5EF4-FFF2-40B4-BE49-F238E27FC236}">
                <a16:creationId xmlns:a16="http://schemas.microsoft.com/office/drawing/2014/main" id="{310B8839-FF11-45D8-8522-9F812EFD8E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0" y="1"/>
            <a:ext cx="161974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300" b="1" dirty="0">
              <a:solidFill>
                <a:schemeClr val="tx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F8F4041-A72C-48B4-BF01-3994A598D462}"/>
              </a:ext>
            </a:extLst>
          </p:cNvPr>
          <p:cNvSpPr txBox="1">
            <a:spLocks/>
          </p:cNvSpPr>
          <p:nvPr/>
        </p:nvSpPr>
        <p:spPr>
          <a:xfrm>
            <a:off x="554736" y="1511969"/>
            <a:ext cx="4860600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800" b="1" dirty="0">
                <a:cs typeface="+mn-cs"/>
              </a:rPr>
              <a:t>Main objectives of data models...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5EC309F-0EA0-44C2-9A34-FBDE98BF5D8A}"/>
              </a:ext>
            </a:extLst>
          </p:cNvPr>
          <p:cNvSpPr txBox="1">
            <a:spLocks/>
          </p:cNvSpPr>
          <p:nvPr/>
        </p:nvSpPr>
        <p:spPr>
          <a:xfrm>
            <a:off x="6578600" y="1511969"/>
            <a:ext cx="5048250" cy="5539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800" b="1" dirty="0"/>
              <a:t>... For best practices data models are implemented in 3 phases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64F6ED-1879-4793-8E00-14F8BBA5CEA1}"/>
              </a:ext>
            </a:extLst>
          </p:cNvPr>
          <p:cNvGrpSpPr/>
          <p:nvPr/>
        </p:nvGrpSpPr>
        <p:grpSpPr>
          <a:xfrm>
            <a:off x="654950" y="2995551"/>
            <a:ext cx="10982314" cy="753664"/>
            <a:chOff x="654950" y="3109199"/>
            <a:chExt cx="10982314" cy="753664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DFD6E93-5A70-F94A-8A4F-D608412C17C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54950" y="3109199"/>
              <a:ext cx="398267" cy="467759"/>
              <a:chOff x="-1601788" y="3444876"/>
              <a:chExt cx="619125" cy="808038"/>
            </a:xfrm>
            <a:noFill/>
          </p:grpSpPr>
          <p:sp>
            <p:nvSpPr>
              <p:cNvPr id="38" name="Freeform 99">
                <a:extLst>
                  <a:ext uri="{FF2B5EF4-FFF2-40B4-BE49-F238E27FC236}">
                    <a16:creationId xmlns:a16="http://schemas.microsoft.com/office/drawing/2014/main" id="{ADBCE26D-B8C6-2C48-B647-A71E1FF51C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477963" y="3444876"/>
                <a:ext cx="206375" cy="207963"/>
              </a:xfrm>
              <a:custGeom>
                <a:avLst/>
                <a:gdLst>
                  <a:gd name="T0" fmla="*/ 455 w 909"/>
                  <a:gd name="T1" fmla="*/ 0 h 911"/>
                  <a:gd name="T2" fmla="*/ 511 w 909"/>
                  <a:gd name="T3" fmla="*/ 4 h 911"/>
                  <a:gd name="T4" fmla="*/ 567 w 909"/>
                  <a:gd name="T5" fmla="*/ 14 h 911"/>
                  <a:gd name="T6" fmla="*/ 619 w 909"/>
                  <a:gd name="T7" fmla="*/ 31 h 911"/>
                  <a:gd name="T8" fmla="*/ 669 w 909"/>
                  <a:gd name="T9" fmla="*/ 54 h 911"/>
                  <a:gd name="T10" fmla="*/ 715 w 909"/>
                  <a:gd name="T11" fmla="*/ 82 h 911"/>
                  <a:gd name="T12" fmla="*/ 757 w 909"/>
                  <a:gd name="T13" fmla="*/ 115 h 911"/>
                  <a:gd name="T14" fmla="*/ 795 w 909"/>
                  <a:gd name="T15" fmla="*/ 154 h 911"/>
                  <a:gd name="T16" fmla="*/ 828 w 909"/>
                  <a:gd name="T17" fmla="*/ 195 h 911"/>
                  <a:gd name="T18" fmla="*/ 856 w 909"/>
                  <a:gd name="T19" fmla="*/ 242 h 911"/>
                  <a:gd name="T20" fmla="*/ 879 w 909"/>
                  <a:gd name="T21" fmla="*/ 292 h 911"/>
                  <a:gd name="T22" fmla="*/ 895 w 909"/>
                  <a:gd name="T23" fmla="*/ 344 h 911"/>
                  <a:gd name="T24" fmla="*/ 906 w 909"/>
                  <a:gd name="T25" fmla="*/ 399 h 911"/>
                  <a:gd name="T26" fmla="*/ 909 w 909"/>
                  <a:gd name="T27" fmla="*/ 456 h 911"/>
                  <a:gd name="T28" fmla="*/ 906 w 909"/>
                  <a:gd name="T29" fmla="*/ 513 h 911"/>
                  <a:gd name="T30" fmla="*/ 895 w 909"/>
                  <a:gd name="T31" fmla="*/ 568 h 911"/>
                  <a:gd name="T32" fmla="*/ 879 w 909"/>
                  <a:gd name="T33" fmla="*/ 621 h 911"/>
                  <a:gd name="T34" fmla="*/ 856 w 909"/>
                  <a:gd name="T35" fmla="*/ 669 h 911"/>
                  <a:gd name="T36" fmla="*/ 828 w 909"/>
                  <a:gd name="T37" fmla="*/ 716 h 911"/>
                  <a:gd name="T38" fmla="*/ 795 w 909"/>
                  <a:gd name="T39" fmla="*/ 758 h 911"/>
                  <a:gd name="T40" fmla="*/ 757 w 909"/>
                  <a:gd name="T41" fmla="*/ 797 h 911"/>
                  <a:gd name="T42" fmla="*/ 715 w 909"/>
                  <a:gd name="T43" fmla="*/ 829 h 911"/>
                  <a:gd name="T44" fmla="*/ 669 w 909"/>
                  <a:gd name="T45" fmla="*/ 858 h 911"/>
                  <a:gd name="T46" fmla="*/ 619 w 909"/>
                  <a:gd name="T47" fmla="*/ 880 h 911"/>
                  <a:gd name="T48" fmla="*/ 567 w 909"/>
                  <a:gd name="T49" fmla="*/ 898 h 911"/>
                  <a:gd name="T50" fmla="*/ 511 w 909"/>
                  <a:gd name="T51" fmla="*/ 908 h 911"/>
                  <a:gd name="T52" fmla="*/ 455 w 909"/>
                  <a:gd name="T53" fmla="*/ 911 h 911"/>
                  <a:gd name="T54" fmla="*/ 398 w 909"/>
                  <a:gd name="T55" fmla="*/ 908 h 911"/>
                  <a:gd name="T56" fmla="*/ 342 w 909"/>
                  <a:gd name="T57" fmla="*/ 898 h 911"/>
                  <a:gd name="T58" fmla="*/ 290 w 909"/>
                  <a:gd name="T59" fmla="*/ 880 h 911"/>
                  <a:gd name="T60" fmla="*/ 241 w 909"/>
                  <a:gd name="T61" fmla="*/ 858 h 911"/>
                  <a:gd name="T62" fmla="*/ 195 w 909"/>
                  <a:gd name="T63" fmla="*/ 829 h 911"/>
                  <a:gd name="T64" fmla="*/ 153 w 909"/>
                  <a:gd name="T65" fmla="*/ 797 h 911"/>
                  <a:gd name="T66" fmla="*/ 114 w 909"/>
                  <a:gd name="T67" fmla="*/ 758 h 911"/>
                  <a:gd name="T68" fmla="*/ 82 w 909"/>
                  <a:gd name="T69" fmla="*/ 716 h 911"/>
                  <a:gd name="T70" fmla="*/ 53 w 909"/>
                  <a:gd name="T71" fmla="*/ 669 h 911"/>
                  <a:gd name="T72" fmla="*/ 31 w 909"/>
                  <a:gd name="T73" fmla="*/ 621 h 911"/>
                  <a:gd name="T74" fmla="*/ 14 w 909"/>
                  <a:gd name="T75" fmla="*/ 568 h 911"/>
                  <a:gd name="T76" fmla="*/ 3 w 909"/>
                  <a:gd name="T77" fmla="*/ 513 h 911"/>
                  <a:gd name="T78" fmla="*/ 0 w 909"/>
                  <a:gd name="T79" fmla="*/ 456 h 911"/>
                  <a:gd name="T80" fmla="*/ 3 w 909"/>
                  <a:gd name="T81" fmla="*/ 399 h 911"/>
                  <a:gd name="T82" fmla="*/ 14 w 909"/>
                  <a:gd name="T83" fmla="*/ 344 h 911"/>
                  <a:gd name="T84" fmla="*/ 31 w 909"/>
                  <a:gd name="T85" fmla="*/ 292 h 911"/>
                  <a:gd name="T86" fmla="*/ 53 w 909"/>
                  <a:gd name="T87" fmla="*/ 242 h 911"/>
                  <a:gd name="T88" fmla="*/ 82 w 909"/>
                  <a:gd name="T89" fmla="*/ 195 h 911"/>
                  <a:gd name="T90" fmla="*/ 114 w 909"/>
                  <a:gd name="T91" fmla="*/ 154 h 911"/>
                  <a:gd name="T92" fmla="*/ 153 w 909"/>
                  <a:gd name="T93" fmla="*/ 115 h 911"/>
                  <a:gd name="T94" fmla="*/ 195 w 909"/>
                  <a:gd name="T95" fmla="*/ 82 h 911"/>
                  <a:gd name="T96" fmla="*/ 241 w 909"/>
                  <a:gd name="T97" fmla="*/ 54 h 911"/>
                  <a:gd name="T98" fmla="*/ 290 w 909"/>
                  <a:gd name="T99" fmla="*/ 31 h 911"/>
                  <a:gd name="T100" fmla="*/ 342 w 909"/>
                  <a:gd name="T101" fmla="*/ 14 h 911"/>
                  <a:gd name="T102" fmla="*/ 398 w 909"/>
                  <a:gd name="T103" fmla="*/ 4 h 911"/>
                  <a:gd name="T104" fmla="*/ 455 w 909"/>
                  <a:gd name="T105" fmla="*/ 0 h 9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909" h="911">
                    <a:moveTo>
                      <a:pt x="455" y="0"/>
                    </a:moveTo>
                    <a:lnTo>
                      <a:pt x="511" y="4"/>
                    </a:lnTo>
                    <a:lnTo>
                      <a:pt x="567" y="14"/>
                    </a:lnTo>
                    <a:lnTo>
                      <a:pt x="619" y="31"/>
                    </a:lnTo>
                    <a:lnTo>
                      <a:pt x="669" y="54"/>
                    </a:lnTo>
                    <a:lnTo>
                      <a:pt x="715" y="82"/>
                    </a:lnTo>
                    <a:lnTo>
                      <a:pt x="757" y="115"/>
                    </a:lnTo>
                    <a:lnTo>
                      <a:pt x="795" y="154"/>
                    </a:lnTo>
                    <a:lnTo>
                      <a:pt x="828" y="195"/>
                    </a:lnTo>
                    <a:lnTo>
                      <a:pt x="856" y="242"/>
                    </a:lnTo>
                    <a:lnTo>
                      <a:pt x="879" y="292"/>
                    </a:lnTo>
                    <a:lnTo>
                      <a:pt x="895" y="344"/>
                    </a:lnTo>
                    <a:lnTo>
                      <a:pt x="906" y="399"/>
                    </a:lnTo>
                    <a:lnTo>
                      <a:pt x="909" y="456"/>
                    </a:lnTo>
                    <a:lnTo>
                      <a:pt x="906" y="513"/>
                    </a:lnTo>
                    <a:lnTo>
                      <a:pt x="895" y="568"/>
                    </a:lnTo>
                    <a:lnTo>
                      <a:pt x="879" y="621"/>
                    </a:lnTo>
                    <a:lnTo>
                      <a:pt x="856" y="669"/>
                    </a:lnTo>
                    <a:lnTo>
                      <a:pt x="828" y="716"/>
                    </a:lnTo>
                    <a:lnTo>
                      <a:pt x="795" y="758"/>
                    </a:lnTo>
                    <a:lnTo>
                      <a:pt x="757" y="797"/>
                    </a:lnTo>
                    <a:lnTo>
                      <a:pt x="715" y="829"/>
                    </a:lnTo>
                    <a:lnTo>
                      <a:pt x="669" y="858"/>
                    </a:lnTo>
                    <a:lnTo>
                      <a:pt x="619" y="880"/>
                    </a:lnTo>
                    <a:lnTo>
                      <a:pt x="567" y="898"/>
                    </a:lnTo>
                    <a:lnTo>
                      <a:pt x="511" y="908"/>
                    </a:lnTo>
                    <a:lnTo>
                      <a:pt x="455" y="911"/>
                    </a:lnTo>
                    <a:lnTo>
                      <a:pt x="398" y="908"/>
                    </a:lnTo>
                    <a:lnTo>
                      <a:pt x="342" y="898"/>
                    </a:lnTo>
                    <a:lnTo>
                      <a:pt x="290" y="880"/>
                    </a:lnTo>
                    <a:lnTo>
                      <a:pt x="241" y="858"/>
                    </a:lnTo>
                    <a:lnTo>
                      <a:pt x="195" y="829"/>
                    </a:lnTo>
                    <a:lnTo>
                      <a:pt x="153" y="797"/>
                    </a:lnTo>
                    <a:lnTo>
                      <a:pt x="114" y="758"/>
                    </a:lnTo>
                    <a:lnTo>
                      <a:pt x="82" y="716"/>
                    </a:lnTo>
                    <a:lnTo>
                      <a:pt x="53" y="669"/>
                    </a:lnTo>
                    <a:lnTo>
                      <a:pt x="31" y="621"/>
                    </a:lnTo>
                    <a:lnTo>
                      <a:pt x="14" y="568"/>
                    </a:lnTo>
                    <a:lnTo>
                      <a:pt x="3" y="513"/>
                    </a:lnTo>
                    <a:lnTo>
                      <a:pt x="0" y="456"/>
                    </a:lnTo>
                    <a:lnTo>
                      <a:pt x="3" y="399"/>
                    </a:lnTo>
                    <a:lnTo>
                      <a:pt x="14" y="344"/>
                    </a:lnTo>
                    <a:lnTo>
                      <a:pt x="31" y="292"/>
                    </a:lnTo>
                    <a:lnTo>
                      <a:pt x="53" y="242"/>
                    </a:lnTo>
                    <a:lnTo>
                      <a:pt x="82" y="195"/>
                    </a:lnTo>
                    <a:lnTo>
                      <a:pt x="114" y="154"/>
                    </a:lnTo>
                    <a:lnTo>
                      <a:pt x="153" y="115"/>
                    </a:lnTo>
                    <a:lnTo>
                      <a:pt x="195" y="82"/>
                    </a:lnTo>
                    <a:lnTo>
                      <a:pt x="241" y="54"/>
                    </a:lnTo>
                    <a:lnTo>
                      <a:pt x="290" y="31"/>
                    </a:lnTo>
                    <a:lnTo>
                      <a:pt x="342" y="14"/>
                    </a:lnTo>
                    <a:lnTo>
                      <a:pt x="398" y="4"/>
                    </a:lnTo>
                    <a:lnTo>
                      <a:pt x="455" y="0"/>
                    </a:lnTo>
                    <a:close/>
                  </a:path>
                </a:pathLst>
              </a:custGeom>
              <a:grp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5192" tIns="47597" rIns="95192" bIns="47597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_tradnl" sz="1837" dirty="0">
                  <a:latin typeface="+mj-lt"/>
                </a:endParaRPr>
              </a:p>
            </p:txBody>
          </p:sp>
          <p:sp>
            <p:nvSpPr>
              <p:cNvPr id="39" name="Freeform 100">
                <a:extLst>
                  <a:ext uri="{FF2B5EF4-FFF2-40B4-BE49-F238E27FC236}">
                    <a16:creationId xmlns:a16="http://schemas.microsoft.com/office/drawing/2014/main" id="{1AEB8ACD-D3AF-8E4A-BD19-EB6346845E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601788" y="3762376"/>
                <a:ext cx="601663" cy="474663"/>
              </a:xfrm>
              <a:custGeom>
                <a:avLst/>
                <a:gdLst>
                  <a:gd name="T0" fmla="*/ 228 w 2653"/>
                  <a:gd name="T1" fmla="*/ 0 h 2097"/>
                  <a:gd name="T2" fmla="*/ 546 w 2653"/>
                  <a:gd name="T3" fmla="*/ 1276 h 2097"/>
                  <a:gd name="T4" fmla="*/ 1006 w 2653"/>
                  <a:gd name="T5" fmla="*/ 1276 h 2097"/>
                  <a:gd name="T6" fmla="*/ 1040 w 2653"/>
                  <a:gd name="T7" fmla="*/ 1206 h 2097"/>
                  <a:gd name="T8" fmla="*/ 1298 w 2653"/>
                  <a:gd name="T9" fmla="*/ 662 h 2097"/>
                  <a:gd name="T10" fmla="*/ 1349 w 2653"/>
                  <a:gd name="T11" fmla="*/ 556 h 2097"/>
                  <a:gd name="T12" fmla="*/ 2653 w 2653"/>
                  <a:gd name="T13" fmla="*/ 556 h 2097"/>
                  <a:gd name="T14" fmla="*/ 2653 w 2653"/>
                  <a:gd name="T15" fmla="*/ 692 h 2097"/>
                  <a:gd name="T16" fmla="*/ 1435 w 2653"/>
                  <a:gd name="T17" fmla="*/ 692 h 2097"/>
                  <a:gd name="T18" fmla="*/ 1291 w 2653"/>
                  <a:gd name="T19" fmla="*/ 994 h 2097"/>
                  <a:gd name="T20" fmla="*/ 1191 w 2653"/>
                  <a:gd name="T21" fmla="*/ 1206 h 2097"/>
                  <a:gd name="T22" fmla="*/ 1157 w 2653"/>
                  <a:gd name="T23" fmla="*/ 1276 h 2097"/>
                  <a:gd name="T24" fmla="*/ 1444 w 2653"/>
                  <a:gd name="T25" fmla="*/ 1276 h 2097"/>
                  <a:gd name="T26" fmla="*/ 1444 w 2653"/>
                  <a:gd name="T27" fmla="*/ 1512 h 2097"/>
                  <a:gd name="T28" fmla="*/ 1280 w 2653"/>
                  <a:gd name="T29" fmla="*/ 1512 h 2097"/>
                  <a:gd name="T30" fmla="*/ 1507 w 2653"/>
                  <a:gd name="T31" fmla="*/ 2033 h 2097"/>
                  <a:gd name="T32" fmla="*/ 1363 w 2653"/>
                  <a:gd name="T33" fmla="*/ 2095 h 2097"/>
                  <a:gd name="T34" fmla="*/ 1109 w 2653"/>
                  <a:gd name="T35" fmla="*/ 1512 h 2097"/>
                  <a:gd name="T36" fmla="*/ 719 w 2653"/>
                  <a:gd name="T37" fmla="*/ 1512 h 2097"/>
                  <a:gd name="T38" fmla="*/ 454 w 2653"/>
                  <a:gd name="T39" fmla="*/ 2097 h 2097"/>
                  <a:gd name="T40" fmla="*/ 311 w 2653"/>
                  <a:gd name="T41" fmla="*/ 2032 h 2097"/>
                  <a:gd name="T42" fmla="*/ 547 w 2653"/>
                  <a:gd name="T43" fmla="*/ 1512 h 2097"/>
                  <a:gd name="T44" fmla="*/ 363 w 2653"/>
                  <a:gd name="T45" fmla="*/ 1512 h 2097"/>
                  <a:gd name="T46" fmla="*/ 0 w 2653"/>
                  <a:gd name="T47" fmla="*/ 56 h 2097"/>
                  <a:gd name="T48" fmla="*/ 228 w 2653"/>
                  <a:gd name="T49" fmla="*/ 0 h 20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53" h="2097">
                    <a:moveTo>
                      <a:pt x="228" y="0"/>
                    </a:moveTo>
                    <a:lnTo>
                      <a:pt x="546" y="1276"/>
                    </a:lnTo>
                    <a:lnTo>
                      <a:pt x="1006" y="1276"/>
                    </a:lnTo>
                    <a:lnTo>
                      <a:pt x="1040" y="1206"/>
                    </a:lnTo>
                    <a:lnTo>
                      <a:pt x="1298" y="662"/>
                    </a:lnTo>
                    <a:lnTo>
                      <a:pt x="1349" y="556"/>
                    </a:lnTo>
                    <a:lnTo>
                      <a:pt x="2653" y="556"/>
                    </a:lnTo>
                    <a:lnTo>
                      <a:pt x="2653" y="692"/>
                    </a:lnTo>
                    <a:lnTo>
                      <a:pt x="1435" y="692"/>
                    </a:lnTo>
                    <a:lnTo>
                      <a:pt x="1291" y="994"/>
                    </a:lnTo>
                    <a:lnTo>
                      <a:pt x="1191" y="1206"/>
                    </a:lnTo>
                    <a:lnTo>
                      <a:pt x="1157" y="1276"/>
                    </a:lnTo>
                    <a:lnTo>
                      <a:pt x="1444" y="1276"/>
                    </a:lnTo>
                    <a:lnTo>
                      <a:pt x="1444" y="1512"/>
                    </a:lnTo>
                    <a:lnTo>
                      <a:pt x="1280" y="1512"/>
                    </a:lnTo>
                    <a:lnTo>
                      <a:pt x="1507" y="2033"/>
                    </a:lnTo>
                    <a:lnTo>
                      <a:pt x="1363" y="2095"/>
                    </a:lnTo>
                    <a:lnTo>
                      <a:pt x="1109" y="1512"/>
                    </a:lnTo>
                    <a:lnTo>
                      <a:pt x="719" y="1512"/>
                    </a:lnTo>
                    <a:lnTo>
                      <a:pt x="454" y="2097"/>
                    </a:lnTo>
                    <a:lnTo>
                      <a:pt x="311" y="2032"/>
                    </a:lnTo>
                    <a:lnTo>
                      <a:pt x="547" y="1512"/>
                    </a:lnTo>
                    <a:lnTo>
                      <a:pt x="363" y="1512"/>
                    </a:lnTo>
                    <a:lnTo>
                      <a:pt x="0" y="56"/>
                    </a:lnTo>
                    <a:lnTo>
                      <a:pt x="228" y="0"/>
                    </a:lnTo>
                    <a:close/>
                  </a:path>
                </a:pathLst>
              </a:custGeom>
              <a:grp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5192" tIns="47597" rIns="95192" bIns="47597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_tradnl" sz="1837" dirty="0">
                  <a:latin typeface="+mj-lt"/>
                </a:endParaRPr>
              </a:p>
            </p:txBody>
          </p:sp>
          <p:sp>
            <p:nvSpPr>
              <p:cNvPr id="40" name="Freeform 101">
                <a:extLst>
                  <a:ext uri="{FF2B5EF4-FFF2-40B4-BE49-F238E27FC236}">
                    <a16:creationId xmlns:a16="http://schemas.microsoft.com/office/drawing/2014/main" id="{ACA6ECC9-A9E6-0544-9CAE-D83F3B62449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1470026" y="3667126"/>
                <a:ext cx="487363" cy="368300"/>
              </a:xfrm>
              <a:custGeom>
                <a:avLst/>
                <a:gdLst>
                  <a:gd name="T0" fmla="*/ 1705 w 2147"/>
                  <a:gd name="T1" fmla="*/ 806 h 1628"/>
                  <a:gd name="T2" fmla="*/ 1705 w 2147"/>
                  <a:gd name="T3" fmla="*/ 843 h 1628"/>
                  <a:gd name="T4" fmla="*/ 1946 w 2147"/>
                  <a:gd name="T5" fmla="*/ 843 h 1628"/>
                  <a:gd name="T6" fmla="*/ 1946 w 2147"/>
                  <a:gd name="T7" fmla="*/ 806 h 1628"/>
                  <a:gd name="T8" fmla="*/ 1705 w 2147"/>
                  <a:gd name="T9" fmla="*/ 806 h 1628"/>
                  <a:gd name="T10" fmla="*/ 1610 w 2147"/>
                  <a:gd name="T11" fmla="*/ 806 h 1628"/>
                  <a:gd name="T12" fmla="*/ 1610 w 2147"/>
                  <a:gd name="T13" fmla="*/ 843 h 1628"/>
                  <a:gd name="T14" fmla="*/ 1676 w 2147"/>
                  <a:gd name="T15" fmla="*/ 843 h 1628"/>
                  <a:gd name="T16" fmla="*/ 1676 w 2147"/>
                  <a:gd name="T17" fmla="*/ 806 h 1628"/>
                  <a:gd name="T18" fmla="*/ 1610 w 2147"/>
                  <a:gd name="T19" fmla="*/ 806 h 1628"/>
                  <a:gd name="T20" fmla="*/ 1518 w 2147"/>
                  <a:gd name="T21" fmla="*/ 806 h 1628"/>
                  <a:gd name="T22" fmla="*/ 1518 w 2147"/>
                  <a:gd name="T23" fmla="*/ 843 h 1628"/>
                  <a:gd name="T24" fmla="*/ 1584 w 2147"/>
                  <a:gd name="T25" fmla="*/ 843 h 1628"/>
                  <a:gd name="T26" fmla="*/ 1584 w 2147"/>
                  <a:gd name="T27" fmla="*/ 806 h 1628"/>
                  <a:gd name="T28" fmla="*/ 1518 w 2147"/>
                  <a:gd name="T29" fmla="*/ 806 h 1628"/>
                  <a:gd name="T30" fmla="*/ 867 w 2147"/>
                  <a:gd name="T31" fmla="*/ 792 h 1628"/>
                  <a:gd name="T32" fmla="*/ 867 w 2147"/>
                  <a:gd name="T33" fmla="*/ 825 h 1628"/>
                  <a:gd name="T34" fmla="*/ 995 w 2147"/>
                  <a:gd name="T35" fmla="*/ 840 h 1628"/>
                  <a:gd name="T36" fmla="*/ 993 w 2147"/>
                  <a:gd name="T37" fmla="*/ 802 h 1628"/>
                  <a:gd name="T38" fmla="*/ 867 w 2147"/>
                  <a:gd name="T39" fmla="*/ 792 h 1628"/>
                  <a:gd name="T40" fmla="*/ 2054 w 2147"/>
                  <a:gd name="T41" fmla="*/ 103 h 1628"/>
                  <a:gd name="T42" fmla="*/ 1375 w 2147"/>
                  <a:gd name="T43" fmla="*/ 222 h 1628"/>
                  <a:gd name="T44" fmla="*/ 1332 w 2147"/>
                  <a:gd name="T45" fmla="*/ 718 h 1628"/>
                  <a:gd name="T46" fmla="*/ 1364 w 2147"/>
                  <a:gd name="T47" fmla="*/ 746 h 1628"/>
                  <a:gd name="T48" fmla="*/ 2002 w 2147"/>
                  <a:gd name="T49" fmla="*/ 746 h 1628"/>
                  <a:gd name="T50" fmla="*/ 2054 w 2147"/>
                  <a:gd name="T51" fmla="*/ 103 h 1628"/>
                  <a:gd name="T52" fmla="*/ 2147 w 2147"/>
                  <a:gd name="T53" fmla="*/ 0 h 1628"/>
                  <a:gd name="T54" fmla="*/ 2060 w 2147"/>
                  <a:gd name="T55" fmla="*/ 909 h 1628"/>
                  <a:gd name="T56" fmla="*/ 1127 w 2147"/>
                  <a:gd name="T57" fmla="*/ 909 h 1628"/>
                  <a:gd name="T58" fmla="*/ 1127 w 2147"/>
                  <a:gd name="T59" fmla="*/ 775 h 1628"/>
                  <a:gd name="T60" fmla="*/ 1098 w 2147"/>
                  <a:gd name="T61" fmla="*/ 755 h 1628"/>
                  <a:gd name="T62" fmla="*/ 1099 w 2147"/>
                  <a:gd name="T63" fmla="*/ 905 h 1628"/>
                  <a:gd name="T64" fmla="*/ 788 w 2147"/>
                  <a:gd name="T65" fmla="*/ 864 h 1628"/>
                  <a:gd name="T66" fmla="*/ 787 w 2147"/>
                  <a:gd name="T67" fmla="*/ 725 h 1628"/>
                  <a:gd name="T68" fmla="*/ 1079 w 2147"/>
                  <a:gd name="T69" fmla="*/ 743 h 1628"/>
                  <a:gd name="T70" fmla="*/ 744 w 2147"/>
                  <a:gd name="T71" fmla="*/ 522 h 1628"/>
                  <a:gd name="T72" fmla="*/ 715 w 2147"/>
                  <a:gd name="T73" fmla="*/ 902 h 1628"/>
                  <a:gd name="T74" fmla="*/ 696 w 2147"/>
                  <a:gd name="T75" fmla="*/ 944 h 1628"/>
                  <a:gd name="T76" fmla="*/ 369 w 2147"/>
                  <a:gd name="T77" fmla="*/ 1628 h 1628"/>
                  <a:gd name="T78" fmla="*/ 0 w 2147"/>
                  <a:gd name="T79" fmla="*/ 1628 h 1628"/>
                  <a:gd name="T80" fmla="*/ 78 w 2147"/>
                  <a:gd name="T81" fmla="*/ 79 h 1628"/>
                  <a:gd name="T82" fmla="*/ 595 w 2147"/>
                  <a:gd name="T83" fmla="*/ 79 h 1628"/>
                  <a:gd name="T84" fmla="*/ 1286 w 2147"/>
                  <a:gd name="T85" fmla="*/ 679 h 1628"/>
                  <a:gd name="T86" fmla="*/ 1336 w 2147"/>
                  <a:gd name="T87" fmla="*/ 145 h 1628"/>
                  <a:gd name="T88" fmla="*/ 2061 w 2147"/>
                  <a:gd name="T89" fmla="*/ 19 h 1628"/>
                  <a:gd name="T90" fmla="*/ 2147 w 2147"/>
                  <a:gd name="T91" fmla="*/ 0 h 1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147" h="1628">
                    <a:moveTo>
                      <a:pt x="1705" y="806"/>
                    </a:moveTo>
                    <a:lnTo>
                      <a:pt x="1705" y="843"/>
                    </a:lnTo>
                    <a:lnTo>
                      <a:pt x="1946" y="843"/>
                    </a:lnTo>
                    <a:lnTo>
                      <a:pt x="1946" y="806"/>
                    </a:lnTo>
                    <a:lnTo>
                      <a:pt x="1705" y="806"/>
                    </a:lnTo>
                    <a:close/>
                    <a:moveTo>
                      <a:pt x="1610" y="806"/>
                    </a:moveTo>
                    <a:lnTo>
                      <a:pt x="1610" y="843"/>
                    </a:lnTo>
                    <a:lnTo>
                      <a:pt x="1676" y="843"/>
                    </a:lnTo>
                    <a:lnTo>
                      <a:pt x="1676" y="806"/>
                    </a:lnTo>
                    <a:lnTo>
                      <a:pt x="1610" y="806"/>
                    </a:lnTo>
                    <a:close/>
                    <a:moveTo>
                      <a:pt x="1518" y="806"/>
                    </a:moveTo>
                    <a:lnTo>
                      <a:pt x="1518" y="843"/>
                    </a:lnTo>
                    <a:lnTo>
                      <a:pt x="1584" y="843"/>
                    </a:lnTo>
                    <a:lnTo>
                      <a:pt x="1584" y="806"/>
                    </a:lnTo>
                    <a:lnTo>
                      <a:pt x="1518" y="806"/>
                    </a:lnTo>
                    <a:close/>
                    <a:moveTo>
                      <a:pt x="867" y="792"/>
                    </a:moveTo>
                    <a:lnTo>
                      <a:pt x="867" y="825"/>
                    </a:lnTo>
                    <a:lnTo>
                      <a:pt x="995" y="840"/>
                    </a:lnTo>
                    <a:lnTo>
                      <a:pt x="993" y="802"/>
                    </a:lnTo>
                    <a:lnTo>
                      <a:pt x="867" y="792"/>
                    </a:lnTo>
                    <a:close/>
                    <a:moveTo>
                      <a:pt x="2054" y="103"/>
                    </a:moveTo>
                    <a:lnTo>
                      <a:pt x="1375" y="222"/>
                    </a:lnTo>
                    <a:lnTo>
                      <a:pt x="1332" y="718"/>
                    </a:lnTo>
                    <a:lnTo>
                      <a:pt x="1364" y="746"/>
                    </a:lnTo>
                    <a:lnTo>
                      <a:pt x="2002" y="746"/>
                    </a:lnTo>
                    <a:lnTo>
                      <a:pt x="2054" y="103"/>
                    </a:lnTo>
                    <a:close/>
                    <a:moveTo>
                      <a:pt x="2147" y="0"/>
                    </a:moveTo>
                    <a:lnTo>
                      <a:pt x="2060" y="909"/>
                    </a:lnTo>
                    <a:lnTo>
                      <a:pt x="1127" y="909"/>
                    </a:lnTo>
                    <a:lnTo>
                      <a:pt x="1127" y="775"/>
                    </a:lnTo>
                    <a:lnTo>
                      <a:pt x="1098" y="755"/>
                    </a:lnTo>
                    <a:lnTo>
                      <a:pt x="1099" y="905"/>
                    </a:lnTo>
                    <a:lnTo>
                      <a:pt x="788" y="864"/>
                    </a:lnTo>
                    <a:lnTo>
                      <a:pt x="787" y="725"/>
                    </a:lnTo>
                    <a:lnTo>
                      <a:pt x="1079" y="743"/>
                    </a:lnTo>
                    <a:lnTo>
                      <a:pt x="744" y="522"/>
                    </a:lnTo>
                    <a:lnTo>
                      <a:pt x="715" y="902"/>
                    </a:lnTo>
                    <a:lnTo>
                      <a:pt x="696" y="944"/>
                    </a:lnTo>
                    <a:lnTo>
                      <a:pt x="369" y="1628"/>
                    </a:lnTo>
                    <a:lnTo>
                      <a:pt x="0" y="1628"/>
                    </a:lnTo>
                    <a:lnTo>
                      <a:pt x="78" y="79"/>
                    </a:lnTo>
                    <a:lnTo>
                      <a:pt x="595" y="79"/>
                    </a:lnTo>
                    <a:lnTo>
                      <a:pt x="1286" y="679"/>
                    </a:lnTo>
                    <a:lnTo>
                      <a:pt x="1336" y="145"/>
                    </a:lnTo>
                    <a:lnTo>
                      <a:pt x="2061" y="19"/>
                    </a:lnTo>
                    <a:lnTo>
                      <a:pt x="2147" y="0"/>
                    </a:lnTo>
                    <a:close/>
                  </a:path>
                </a:pathLst>
              </a:custGeom>
              <a:grp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5192" tIns="47597" rIns="95192" bIns="47597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_tradnl" sz="1837" dirty="0">
                  <a:latin typeface="+mj-lt"/>
                </a:endParaRPr>
              </a:p>
            </p:txBody>
          </p:sp>
          <p:sp>
            <p:nvSpPr>
              <p:cNvPr id="41" name="Freeform 102">
                <a:extLst>
                  <a:ext uri="{FF2B5EF4-FFF2-40B4-BE49-F238E27FC236}">
                    <a16:creationId xmlns:a16="http://schemas.microsoft.com/office/drawing/2014/main" id="{C35655C6-1211-BF4F-A80F-2FEDF46617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312863" y="3962401"/>
                <a:ext cx="185738" cy="290513"/>
              </a:xfrm>
              <a:custGeom>
                <a:avLst/>
                <a:gdLst>
                  <a:gd name="T0" fmla="*/ 152 w 817"/>
                  <a:gd name="T1" fmla="*/ 0 h 1278"/>
                  <a:gd name="T2" fmla="*/ 817 w 817"/>
                  <a:gd name="T3" fmla="*/ 0 h 1278"/>
                  <a:gd name="T4" fmla="*/ 817 w 817"/>
                  <a:gd name="T5" fmla="*/ 1278 h 1278"/>
                  <a:gd name="T6" fmla="*/ 408 w 817"/>
                  <a:gd name="T7" fmla="*/ 1278 h 1278"/>
                  <a:gd name="T8" fmla="*/ 408 w 817"/>
                  <a:gd name="T9" fmla="*/ 320 h 1278"/>
                  <a:gd name="T10" fmla="*/ 0 w 817"/>
                  <a:gd name="T11" fmla="*/ 320 h 1278"/>
                  <a:gd name="T12" fmla="*/ 152 w 817"/>
                  <a:gd name="T13" fmla="*/ 0 h 1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7" h="1278">
                    <a:moveTo>
                      <a:pt x="152" y="0"/>
                    </a:moveTo>
                    <a:lnTo>
                      <a:pt x="817" y="0"/>
                    </a:lnTo>
                    <a:lnTo>
                      <a:pt x="817" y="1278"/>
                    </a:lnTo>
                    <a:lnTo>
                      <a:pt x="408" y="1278"/>
                    </a:lnTo>
                    <a:lnTo>
                      <a:pt x="408" y="320"/>
                    </a:lnTo>
                    <a:lnTo>
                      <a:pt x="0" y="320"/>
                    </a:lnTo>
                    <a:lnTo>
                      <a:pt x="152" y="0"/>
                    </a:lnTo>
                    <a:close/>
                  </a:path>
                </a:pathLst>
              </a:custGeom>
              <a:grp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5192" tIns="47597" rIns="95192" bIns="47597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_tradnl" sz="1837" dirty="0">
                  <a:latin typeface="+mj-lt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83E71FC-6DDB-7748-BBBC-9ABD51BF254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516130" y="3109199"/>
              <a:ext cx="501977" cy="362327"/>
              <a:chOff x="-890588" y="5224463"/>
              <a:chExt cx="484188" cy="296863"/>
            </a:xfrm>
            <a:noFill/>
          </p:grpSpPr>
          <p:sp>
            <p:nvSpPr>
              <p:cNvPr id="46" name="Freeform 140">
                <a:extLst>
                  <a:ext uri="{FF2B5EF4-FFF2-40B4-BE49-F238E27FC236}">
                    <a16:creationId xmlns:a16="http://schemas.microsoft.com/office/drawing/2014/main" id="{3B410F71-5336-0048-A6B0-4E007B7E81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512763" y="5241925"/>
                <a:ext cx="106363" cy="50800"/>
              </a:xfrm>
              <a:custGeom>
                <a:avLst/>
                <a:gdLst>
                  <a:gd name="T0" fmla="*/ 0 w 728"/>
                  <a:gd name="T1" fmla="*/ 0 h 345"/>
                  <a:gd name="T2" fmla="*/ 416 w 728"/>
                  <a:gd name="T3" fmla="*/ 0 h 345"/>
                  <a:gd name="T4" fmla="*/ 416 w 728"/>
                  <a:gd name="T5" fmla="*/ 86 h 345"/>
                  <a:gd name="T6" fmla="*/ 728 w 728"/>
                  <a:gd name="T7" fmla="*/ 86 h 345"/>
                  <a:gd name="T8" fmla="*/ 728 w 728"/>
                  <a:gd name="T9" fmla="*/ 259 h 345"/>
                  <a:gd name="T10" fmla="*/ 416 w 728"/>
                  <a:gd name="T11" fmla="*/ 259 h 345"/>
                  <a:gd name="T12" fmla="*/ 416 w 728"/>
                  <a:gd name="T13" fmla="*/ 345 h 345"/>
                  <a:gd name="T14" fmla="*/ 0 w 728"/>
                  <a:gd name="T15" fmla="*/ 345 h 345"/>
                  <a:gd name="T16" fmla="*/ 0 w 728"/>
                  <a:gd name="T17" fmla="*/ 0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8" h="345">
                    <a:moveTo>
                      <a:pt x="0" y="0"/>
                    </a:moveTo>
                    <a:lnTo>
                      <a:pt x="416" y="0"/>
                    </a:lnTo>
                    <a:lnTo>
                      <a:pt x="416" y="86"/>
                    </a:lnTo>
                    <a:lnTo>
                      <a:pt x="728" y="86"/>
                    </a:lnTo>
                    <a:lnTo>
                      <a:pt x="728" y="259"/>
                    </a:lnTo>
                    <a:lnTo>
                      <a:pt x="416" y="259"/>
                    </a:lnTo>
                    <a:lnTo>
                      <a:pt x="416" y="345"/>
                    </a:lnTo>
                    <a:lnTo>
                      <a:pt x="0" y="34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5192" tIns="47597" rIns="95192" bIns="47597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_tradnl" sz="1837" dirty="0">
                  <a:latin typeface="+mj-lt"/>
                </a:endParaRPr>
              </a:p>
            </p:txBody>
          </p:sp>
          <p:sp>
            <p:nvSpPr>
              <p:cNvPr id="47" name="Freeform 141">
                <a:extLst>
                  <a:ext uri="{FF2B5EF4-FFF2-40B4-BE49-F238E27FC236}">
                    <a16:creationId xmlns:a16="http://schemas.microsoft.com/office/drawing/2014/main" id="{5CF34DA9-FB9E-9249-A9AD-668D35C50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512763" y="5346700"/>
                <a:ext cx="106363" cy="50800"/>
              </a:xfrm>
              <a:custGeom>
                <a:avLst/>
                <a:gdLst>
                  <a:gd name="T0" fmla="*/ 0 w 728"/>
                  <a:gd name="T1" fmla="*/ 0 h 345"/>
                  <a:gd name="T2" fmla="*/ 416 w 728"/>
                  <a:gd name="T3" fmla="*/ 0 h 345"/>
                  <a:gd name="T4" fmla="*/ 416 w 728"/>
                  <a:gd name="T5" fmla="*/ 87 h 345"/>
                  <a:gd name="T6" fmla="*/ 728 w 728"/>
                  <a:gd name="T7" fmla="*/ 87 h 345"/>
                  <a:gd name="T8" fmla="*/ 728 w 728"/>
                  <a:gd name="T9" fmla="*/ 259 h 345"/>
                  <a:gd name="T10" fmla="*/ 416 w 728"/>
                  <a:gd name="T11" fmla="*/ 259 h 345"/>
                  <a:gd name="T12" fmla="*/ 416 w 728"/>
                  <a:gd name="T13" fmla="*/ 345 h 345"/>
                  <a:gd name="T14" fmla="*/ 0 w 728"/>
                  <a:gd name="T15" fmla="*/ 345 h 345"/>
                  <a:gd name="T16" fmla="*/ 0 w 728"/>
                  <a:gd name="T17" fmla="*/ 0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8" h="345">
                    <a:moveTo>
                      <a:pt x="0" y="0"/>
                    </a:moveTo>
                    <a:lnTo>
                      <a:pt x="416" y="0"/>
                    </a:lnTo>
                    <a:lnTo>
                      <a:pt x="416" y="87"/>
                    </a:lnTo>
                    <a:lnTo>
                      <a:pt x="728" y="87"/>
                    </a:lnTo>
                    <a:lnTo>
                      <a:pt x="728" y="259"/>
                    </a:lnTo>
                    <a:lnTo>
                      <a:pt x="416" y="259"/>
                    </a:lnTo>
                    <a:lnTo>
                      <a:pt x="416" y="345"/>
                    </a:lnTo>
                    <a:lnTo>
                      <a:pt x="0" y="34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5192" tIns="47597" rIns="95192" bIns="47597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_tradnl" sz="1837" dirty="0">
                  <a:latin typeface="+mj-lt"/>
                </a:endParaRPr>
              </a:p>
            </p:txBody>
          </p:sp>
          <p:sp>
            <p:nvSpPr>
              <p:cNvPr id="48" name="Freeform 142">
                <a:extLst>
                  <a:ext uri="{FF2B5EF4-FFF2-40B4-BE49-F238E27FC236}">
                    <a16:creationId xmlns:a16="http://schemas.microsoft.com/office/drawing/2014/main" id="{0E57EC10-9804-F647-94F6-5978D59D9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512763" y="5453063"/>
                <a:ext cx="106363" cy="50800"/>
              </a:xfrm>
              <a:custGeom>
                <a:avLst/>
                <a:gdLst>
                  <a:gd name="T0" fmla="*/ 0 w 728"/>
                  <a:gd name="T1" fmla="*/ 0 h 345"/>
                  <a:gd name="T2" fmla="*/ 416 w 728"/>
                  <a:gd name="T3" fmla="*/ 0 h 345"/>
                  <a:gd name="T4" fmla="*/ 416 w 728"/>
                  <a:gd name="T5" fmla="*/ 87 h 345"/>
                  <a:gd name="T6" fmla="*/ 728 w 728"/>
                  <a:gd name="T7" fmla="*/ 87 h 345"/>
                  <a:gd name="T8" fmla="*/ 728 w 728"/>
                  <a:gd name="T9" fmla="*/ 260 h 345"/>
                  <a:gd name="T10" fmla="*/ 416 w 728"/>
                  <a:gd name="T11" fmla="*/ 260 h 345"/>
                  <a:gd name="T12" fmla="*/ 416 w 728"/>
                  <a:gd name="T13" fmla="*/ 345 h 345"/>
                  <a:gd name="T14" fmla="*/ 0 w 728"/>
                  <a:gd name="T15" fmla="*/ 345 h 345"/>
                  <a:gd name="T16" fmla="*/ 0 w 728"/>
                  <a:gd name="T17" fmla="*/ 0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8" h="345">
                    <a:moveTo>
                      <a:pt x="0" y="0"/>
                    </a:moveTo>
                    <a:lnTo>
                      <a:pt x="416" y="0"/>
                    </a:lnTo>
                    <a:lnTo>
                      <a:pt x="416" y="87"/>
                    </a:lnTo>
                    <a:lnTo>
                      <a:pt x="728" y="87"/>
                    </a:lnTo>
                    <a:lnTo>
                      <a:pt x="728" y="260"/>
                    </a:lnTo>
                    <a:lnTo>
                      <a:pt x="416" y="260"/>
                    </a:lnTo>
                    <a:lnTo>
                      <a:pt x="416" y="345"/>
                    </a:lnTo>
                    <a:lnTo>
                      <a:pt x="0" y="34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5192" tIns="47597" rIns="95192" bIns="47597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_tradnl" sz="1837" dirty="0">
                  <a:latin typeface="+mj-lt"/>
                </a:endParaRPr>
              </a:p>
            </p:txBody>
          </p:sp>
          <p:sp>
            <p:nvSpPr>
              <p:cNvPr id="49" name="Freeform 143">
                <a:extLst>
                  <a:ext uri="{FF2B5EF4-FFF2-40B4-BE49-F238E27FC236}">
                    <a16:creationId xmlns:a16="http://schemas.microsoft.com/office/drawing/2014/main" id="{1DB3259B-4440-134C-9C21-B0DBE45FC5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890588" y="5246688"/>
                <a:ext cx="104775" cy="50800"/>
              </a:xfrm>
              <a:custGeom>
                <a:avLst/>
                <a:gdLst>
                  <a:gd name="T0" fmla="*/ 310 w 725"/>
                  <a:gd name="T1" fmla="*/ 0 h 345"/>
                  <a:gd name="T2" fmla="*/ 725 w 725"/>
                  <a:gd name="T3" fmla="*/ 0 h 345"/>
                  <a:gd name="T4" fmla="*/ 725 w 725"/>
                  <a:gd name="T5" fmla="*/ 345 h 345"/>
                  <a:gd name="T6" fmla="*/ 310 w 725"/>
                  <a:gd name="T7" fmla="*/ 345 h 345"/>
                  <a:gd name="T8" fmla="*/ 310 w 725"/>
                  <a:gd name="T9" fmla="*/ 259 h 345"/>
                  <a:gd name="T10" fmla="*/ 0 w 725"/>
                  <a:gd name="T11" fmla="*/ 259 h 345"/>
                  <a:gd name="T12" fmla="*/ 0 w 725"/>
                  <a:gd name="T13" fmla="*/ 86 h 345"/>
                  <a:gd name="T14" fmla="*/ 310 w 725"/>
                  <a:gd name="T15" fmla="*/ 86 h 345"/>
                  <a:gd name="T16" fmla="*/ 310 w 725"/>
                  <a:gd name="T17" fmla="*/ 0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5" h="345">
                    <a:moveTo>
                      <a:pt x="310" y="0"/>
                    </a:moveTo>
                    <a:lnTo>
                      <a:pt x="725" y="0"/>
                    </a:lnTo>
                    <a:lnTo>
                      <a:pt x="725" y="345"/>
                    </a:lnTo>
                    <a:lnTo>
                      <a:pt x="310" y="345"/>
                    </a:lnTo>
                    <a:lnTo>
                      <a:pt x="310" y="259"/>
                    </a:lnTo>
                    <a:lnTo>
                      <a:pt x="0" y="259"/>
                    </a:lnTo>
                    <a:lnTo>
                      <a:pt x="0" y="86"/>
                    </a:lnTo>
                    <a:lnTo>
                      <a:pt x="310" y="86"/>
                    </a:lnTo>
                    <a:lnTo>
                      <a:pt x="310" y="0"/>
                    </a:lnTo>
                    <a:close/>
                  </a:path>
                </a:pathLst>
              </a:custGeom>
              <a:grp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5192" tIns="47597" rIns="95192" bIns="47597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_tradnl" sz="1837" dirty="0">
                  <a:latin typeface="+mj-lt"/>
                </a:endParaRPr>
              </a:p>
            </p:txBody>
          </p:sp>
          <p:sp>
            <p:nvSpPr>
              <p:cNvPr id="50" name="Freeform 144">
                <a:extLst>
                  <a:ext uri="{FF2B5EF4-FFF2-40B4-BE49-F238E27FC236}">
                    <a16:creationId xmlns:a16="http://schemas.microsoft.com/office/drawing/2014/main" id="{1CB628B8-99B8-A947-B71A-6984D15F66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890588" y="5351463"/>
                <a:ext cx="104775" cy="49213"/>
              </a:xfrm>
              <a:custGeom>
                <a:avLst/>
                <a:gdLst>
                  <a:gd name="T0" fmla="*/ 310 w 725"/>
                  <a:gd name="T1" fmla="*/ 0 h 346"/>
                  <a:gd name="T2" fmla="*/ 725 w 725"/>
                  <a:gd name="T3" fmla="*/ 0 h 346"/>
                  <a:gd name="T4" fmla="*/ 725 w 725"/>
                  <a:gd name="T5" fmla="*/ 346 h 346"/>
                  <a:gd name="T6" fmla="*/ 310 w 725"/>
                  <a:gd name="T7" fmla="*/ 346 h 346"/>
                  <a:gd name="T8" fmla="*/ 310 w 725"/>
                  <a:gd name="T9" fmla="*/ 260 h 346"/>
                  <a:gd name="T10" fmla="*/ 0 w 725"/>
                  <a:gd name="T11" fmla="*/ 260 h 346"/>
                  <a:gd name="T12" fmla="*/ 0 w 725"/>
                  <a:gd name="T13" fmla="*/ 87 h 346"/>
                  <a:gd name="T14" fmla="*/ 310 w 725"/>
                  <a:gd name="T15" fmla="*/ 87 h 346"/>
                  <a:gd name="T16" fmla="*/ 310 w 725"/>
                  <a:gd name="T17" fmla="*/ 0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5" h="346">
                    <a:moveTo>
                      <a:pt x="310" y="0"/>
                    </a:moveTo>
                    <a:lnTo>
                      <a:pt x="725" y="0"/>
                    </a:lnTo>
                    <a:lnTo>
                      <a:pt x="725" y="346"/>
                    </a:lnTo>
                    <a:lnTo>
                      <a:pt x="310" y="346"/>
                    </a:lnTo>
                    <a:lnTo>
                      <a:pt x="310" y="260"/>
                    </a:lnTo>
                    <a:lnTo>
                      <a:pt x="0" y="260"/>
                    </a:lnTo>
                    <a:lnTo>
                      <a:pt x="0" y="87"/>
                    </a:lnTo>
                    <a:lnTo>
                      <a:pt x="310" y="87"/>
                    </a:lnTo>
                    <a:lnTo>
                      <a:pt x="310" y="0"/>
                    </a:lnTo>
                    <a:close/>
                  </a:path>
                </a:pathLst>
              </a:custGeom>
              <a:grp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5192" tIns="47597" rIns="95192" bIns="47597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_tradnl" sz="1837" dirty="0">
                  <a:latin typeface="+mj-lt"/>
                </a:endParaRPr>
              </a:p>
            </p:txBody>
          </p:sp>
          <p:sp>
            <p:nvSpPr>
              <p:cNvPr id="51" name="Freeform 145">
                <a:extLst>
                  <a:ext uri="{FF2B5EF4-FFF2-40B4-BE49-F238E27FC236}">
                    <a16:creationId xmlns:a16="http://schemas.microsoft.com/office/drawing/2014/main" id="{11BF617A-F409-EE40-89DF-22FB9FF9F9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890588" y="5457825"/>
                <a:ext cx="104775" cy="50800"/>
              </a:xfrm>
              <a:custGeom>
                <a:avLst/>
                <a:gdLst>
                  <a:gd name="T0" fmla="*/ 310 w 725"/>
                  <a:gd name="T1" fmla="*/ 0 h 345"/>
                  <a:gd name="T2" fmla="*/ 725 w 725"/>
                  <a:gd name="T3" fmla="*/ 0 h 345"/>
                  <a:gd name="T4" fmla="*/ 725 w 725"/>
                  <a:gd name="T5" fmla="*/ 345 h 345"/>
                  <a:gd name="T6" fmla="*/ 310 w 725"/>
                  <a:gd name="T7" fmla="*/ 345 h 345"/>
                  <a:gd name="T8" fmla="*/ 310 w 725"/>
                  <a:gd name="T9" fmla="*/ 258 h 345"/>
                  <a:gd name="T10" fmla="*/ 0 w 725"/>
                  <a:gd name="T11" fmla="*/ 258 h 345"/>
                  <a:gd name="T12" fmla="*/ 0 w 725"/>
                  <a:gd name="T13" fmla="*/ 86 h 345"/>
                  <a:gd name="T14" fmla="*/ 310 w 725"/>
                  <a:gd name="T15" fmla="*/ 86 h 345"/>
                  <a:gd name="T16" fmla="*/ 310 w 725"/>
                  <a:gd name="T17" fmla="*/ 0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5" h="345">
                    <a:moveTo>
                      <a:pt x="310" y="0"/>
                    </a:moveTo>
                    <a:lnTo>
                      <a:pt x="725" y="0"/>
                    </a:lnTo>
                    <a:lnTo>
                      <a:pt x="725" y="345"/>
                    </a:lnTo>
                    <a:lnTo>
                      <a:pt x="310" y="345"/>
                    </a:lnTo>
                    <a:lnTo>
                      <a:pt x="310" y="258"/>
                    </a:lnTo>
                    <a:lnTo>
                      <a:pt x="0" y="258"/>
                    </a:lnTo>
                    <a:lnTo>
                      <a:pt x="0" y="86"/>
                    </a:lnTo>
                    <a:lnTo>
                      <a:pt x="310" y="86"/>
                    </a:lnTo>
                    <a:lnTo>
                      <a:pt x="310" y="0"/>
                    </a:lnTo>
                    <a:close/>
                  </a:path>
                </a:pathLst>
              </a:custGeom>
              <a:grp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5192" tIns="47597" rIns="95192" bIns="47597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_tradnl" sz="1837" dirty="0">
                  <a:latin typeface="+mj-lt"/>
                </a:endParaRPr>
              </a:p>
            </p:txBody>
          </p:sp>
          <p:sp>
            <p:nvSpPr>
              <p:cNvPr id="52" name="Freeform 146">
                <a:extLst>
                  <a:ext uri="{FF2B5EF4-FFF2-40B4-BE49-F238E27FC236}">
                    <a16:creationId xmlns:a16="http://schemas.microsoft.com/office/drawing/2014/main" id="{B1AD91C1-34A1-544D-A921-BA56ED5735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73113" y="5224463"/>
                <a:ext cx="250825" cy="296863"/>
              </a:xfrm>
              <a:custGeom>
                <a:avLst/>
                <a:gdLst>
                  <a:gd name="T0" fmla="*/ 320 w 1735"/>
                  <a:gd name="T1" fmla="*/ 196 h 2059"/>
                  <a:gd name="T2" fmla="*/ 289 w 1735"/>
                  <a:gd name="T3" fmla="*/ 199 h 2059"/>
                  <a:gd name="T4" fmla="*/ 261 w 1735"/>
                  <a:gd name="T5" fmla="*/ 208 h 2059"/>
                  <a:gd name="T6" fmla="*/ 236 w 1735"/>
                  <a:gd name="T7" fmla="*/ 222 h 2059"/>
                  <a:gd name="T8" fmla="*/ 214 w 1735"/>
                  <a:gd name="T9" fmla="*/ 240 h 2059"/>
                  <a:gd name="T10" fmla="*/ 196 w 1735"/>
                  <a:gd name="T11" fmla="*/ 262 h 2059"/>
                  <a:gd name="T12" fmla="*/ 182 w 1735"/>
                  <a:gd name="T13" fmla="*/ 287 h 2059"/>
                  <a:gd name="T14" fmla="*/ 174 w 1735"/>
                  <a:gd name="T15" fmla="*/ 315 h 2059"/>
                  <a:gd name="T16" fmla="*/ 171 w 1735"/>
                  <a:gd name="T17" fmla="*/ 344 h 2059"/>
                  <a:gd name="T18" fmla="*/ 174 w 1735"/>
                  <a:gd name="T19" fmla="*/ 375 h 2059"/>
                  <a:gd name="T20" fmla="*/ 182 w 1735"/>
                  <a:gd name="T21" fmla="*/ 403 h 2059"/>
                  <a:gd name="T22" fmla="*/ 196 w 1735"/>
                  <a:gd name="T23" fmla="*/ 428 h 2059"/>
                  <a:gd name="T24" fmla="*/ 214 w 1735"/>
                  <a:gd name="T25" fmla="*/ 451 h 2059"/>
                  <a:gd name="T26" fmla="*/ 236 w 1735"/>
                  <a:gd name="T27" fmla="*/ 469 h 2059"/>
                  <a:gd name="T28" fmla="*/ 261 w 1735"/>
                  <a:gd name="T29" fmla="*/ 483 h 2059"/>
                  <a:gd name="T30" fmla="*/ 289 w 1735"/>
                  <a:gd name="T31" fmla="*/ 491 h 2059"/>
                  <a:gd name="T32" fmla="*/ 320 w 1735"/>
                  <a:gd name="T33" fmla="*/ 494 h 2059"/>
                  <a:gd name="T34" fmla="*/ 349 w 1735"/>
                  <a:gd name="T35" fmla="*/ 491 h 2059"/>
                  <a:gd name="T36" fmla="*/ 377 w 1735"/>
                  <a:gd name="T37" fmla="*/ 483 h 2059"/>
                  <a:gd name="T38" fmla="*/ 403 w 1735"/>
                  <a:gd name="T39" fmla="*/ 469 h 2059"/>
                  <a:gd name="T40" fmla="*/ 424 w 1735"/>
                  <a:gd name="T41" fmla="*/ 451 h 2059"/>
                  <a:gd name="T42" fmla="*/ 443 w 1735"/>
                  <a:gd name="T43" fmla="*/ 428 h 2059"/>
                  <a:gd name="T44" fmla="*/ 456 w 1735"/>
                  <a:gd name="T45" fmla="*/ 403 h 2059"/>
                  <a:gd name="T46" fmla="*/ 465 w 1735"/>
                  <a:gd name="T47" fmla="*/ 375 h 2059"/>
                  <a:gd name="T48" fmla="*/ 467 w 1735"/>
                  <a:gd name="T49" fmla="*/ 344 h 2059"/>
                  <a:gd name="T50" fmla="*/ 465 w 1735"/>
                  <a:gd name="T51" fmla="*/ 314 h 2059"/>
                  <a:gd name="T52" fmla="*/ 456 w 1735"/>
                  <a:gd name="T53" fmla="*/ 287 h 2059"/>
                  <a:gd name="T54" fmla="*/ 443 w 1735"/>
                  <a:gd name="T55" fmla="*/ 261 h 2059"/>
                  <a:gd name="T56" fmla="*/ 424 w 1735"/>
                  <a:gd name="T57" fmla="*/ 240 h 2059"/>
                  <a:gd name="T58" fmla="*/ 403 w 1735"/>
                  <a:gd name="T59" fmla="*/ 222 h 2059"/>
                  <a:gd name="T60" fmla="*/ 377 w 1735"/>
                  <a:gd name="T61" fmla="*/ 208 h 2059"/>
                  <a:gd name="T62" fmla="*/ 349 w 1735"/>
                  <a:gd name="T63" fmla="*/ 199 h 2059"/>
                  <a:gd name="T64" fmla="*/ 320 w 1735"/>
                  <a:gd name="T65" fmla="*/ 196 h 2059"/>
                  <a:gd name="T66" fmla="*/ 72 w 1735"/>
                  <a:gd name="T67" fmla="*/ 0 h 2059"/>
                  <a:gd name="T68" fmla="*/ 1664 w 1735"/>
                  <a:gd name="T69" fmla="*/ 0 h 2059"/>
                  <a:gd name="T70" fmla="*/ 1682 w 1735"/>
                  <a:gd name="T71" fmla="*/ 3 h 2059"/>
                  <a:gd name="T72" fmla="*/ 1699 w 1735"/>
                  <a:gd name="T73" fmla="*/ 10 h 2059"/>
                  <a:gd name="T74" fmla="*/ 1714 w 1735"/>
                  <a:gd name="T75" fmla="*/ 21 h 2059"/>
                  <a:gd name="T76" fmla="*/ 1724 w 1735"/>
                  <a:gd name="T77" fmla="*/ 36 h 2059"/>
                  <a:gd name="T78" fmla="*/ 1732 w 1735"/>
                  <a:gd name="T79" fmla="*/ 53 h 2059"/>
                  <a:gd name="T80" fmla="*/ 1735 w 1735"/>
                  <a:gd name="T81" fmla="*/ 71 h 2059"/>
                  <a:gd name="T82" fmla="*/ 1735 w 1735"/>
                  <a:gd name="T83" fmla="*/ 1987 h 2059"/>
                  <a:gd name="T84" fmla="*/ 1732 w 1735"/>
                  <a:gd name="T85" fmla="*/ 2007 h 2059"/>
                  <a:gd name="T86" fmla="*/ 1724 w 1735"/>
                  <a:gd name="T87" fmla="*/ 2024 h 2059"/>
                  <a:gd name="T88" fmla="*/ 1714 w 1735"/>
                  <a:gd name="T89" fmla="*/ 2037 h 2059"/>
                  <a:gd name="T90" fmla="*/ 1699 w 1735"/>
                  <a:gd name="T91" fmla="*/ 2049 h 2059"/>
                  <a:gd name="T92" fmla="*/ 1682 w 1735"/>
                  <a:gd name="T93" fmla="*/ 2057 h 2059"/>
                  <a:gd name="T94" fmla="*/ 1664 w 1735"/>
                  <a:gd name="T95" fmla="*/ 2059 h 2059"/>
                  <a:gd name="T96" fmla="*/ 72 w 1735"/>
                  <a:gd name="T97" fmla="*/ 2059 h 2059"/>
                  <a:gd name="T98" fmla="*/ 53 w 1735"/>
                  <a:gd name="T99" fmla="*/ 2057 h 2059"/>
                  <a:gd name="T100" fmla="*/ 36 w 1735"/>
                  <a:gd name="T101" fmla="*/ 2049 h 2059"/>
                  <a:gd name="T102" fmla="*/ 21 w 1735"/>
                  <a:gd name="T103" fmla="*/ 2037 h 2059"/>
                  <a:gd name="T104" fmla="*/ 10 w 1735"/>
                  <a:gd name="T105" fmla="*/ 2024 h 2059"/>
                  <a:gd name="T106" fmla="*/ 3 w 1735"/>
                  <a:gd name="T107" fmla="*/ 2007 h 2059"/>
                  <a:gd name="T108" fmla="*/ 0 w 1735"/>
                  <a:gd name="T109" fmla="*/ 1987 h 2059"/>
                  <a:gd name="T110" fmla="*/ 0 w 1735"/>
                  <a:gd name="T111" fmla="*/ 71 h 2059"/>
                  <a:gd name="T112" fmla="*/ 3 w 1735"/>
                  <a:gd name="T113" fmla="*/ 53 h 2059"/>
                  <a:gd name="T114" fmla="*/ 10 w 1735"/>
                  <a:gd name="T115" fmla="*/ 36 h 2059"/>
                  <a:gd name="T116" fmla="*/ 21 w 1735"/>
                  <a:gd name="T117" fmla="*/ 21 h 2059"/>
                  <a:gd name="T118" fmla="*/ 36 w 1735"/>
                  <a:gd name="T119" fmla="*/ 10 h 2059"/>
                  <a:gd name="T120" fmla="*/ 53 w 1735"/>
                  <a:gd name="T121" fmla="*/ 3 h 2059"/>
                  <a:gd name="T122" fmla="*/ 72 w 1735"/>
                  <a:gd name="T123" fmla="*/ 0 h 20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735" h="2059">
                    <a:moveTo>
                      <a:pt x="320" y="196"/>
                    </a:moveTo>
                    <a:lnTo>
                      <a:pt x="289" y="199"/>
                    </a:lnTo>
                    <a:lnTo>
                      <a:pt x="261" y="208"/>
                    </a:lnTo>
                    <a:lnTo>
                      <a:pt x="236" y="222"/>
                    </a:lnTo>
                    <a:lnTo>
                      <a:pt x="214" y="240"/>
                    </a:lnTo>
                    <a:lnTo>
                      <a:pt x="196" y="262"/>
                    </a:lnTo>
                    <a:lnTo>
                      <a:pt x="182" y="287"/>
                    </a:lnTo>
                    <a:lnTo>
                      <a:pt x="174" y="315"/>
                    </a:lnTo>
                    <a:lnTo>
                      <a:pt x="171" y="344"/>
                    </a:lnTo>
                    <a:lnTo>
                      <a:pt x="174" y="375"/>
                    </a:lnTo>
                    <a:lnTo>
                      <a:pt x="182" y="403"/>
                    </a:lnTo>
                    <a:lnTo>
                      <a:pt x="196" y="428"/>
                    </a:lnTo>
                    <a:lnTo>
                      <a:pt x="214" y="451"/>
                    </a:lnTo>
                    <a:lnTo>
                      <a:pt x="236" y="469"/>
                    </a:lnTo>
                    <a:lnTo>
                      <a:pt x="261" y="483"/>
                    </a:lnTo>
                    <a:lnTo>
                      <a:pt x="289" y="491"/>
                    </a:lnTo>
                    <a:lnTo>
                      <a:pt x="320" y="494"/>
                    </a:lnTo>
                    <a:lnTo>
                      <a:pt x="349" y="491"/>
                    </a:lnTo>
                    <a:lnTo>
                      <a:pt x="377" y="483"/>
                    </a:lnTo>
                    <a:lnTo>
                      <a:pt x="403" y="469"/>
                    </a:lnTo>
                    <a:lnTo>
                      <a:pt x="424" y="451"/>
                    </a:lnTo>
                    <a:lnTo>
                      <a:pt x="443" y="428"/>
                    </a:lnTo>
                    <a:lnTo>
                      <a:pt x="456" y="403"/>
                    </a:lnTo>
                    <a:lnTo>
                      <a:pt x="465" y="375"/>
                    </a:lnTo>
                    <a:lnTo>
                      <a:pt x="467" y="344"/>
                    </a:lnTo>
                    <a:lnTo>
                      <a:pt x="465" y="314"/>
                    </a:lnTo>
                    <a:lnTo>
                      <a:pt x="456" y="287"/>
                    </a:lnTo>
                    <a:lnTo>
                      <a:pt x="443" y="261"/>
                    </a:lnTo>
                    <a:lnTo>
                      <a:pt x="424" y="240"/>
                    </a:lnTo>
                    <a:lnTo>
                      <a:pt x="403" y="222"/>
                    </a:lnTo>
                    <a:lnTo>
                      <a:pt x="377" y="208"/>
                    </a:lnTo>
                    <a:lnTo>
                      <a:pt x="349" y="199"/>
                    </a:lnTo>
                    <a:lnTo>
                      <a:pt x="320" y="196"/>
                    </a:lnTo>
                    <a:close/>
                    <a:moveTo>
                      <a:pt x="72" y="0"/>
                    </a:moveTo>
                    <a:lnTo>
                      <a:pt x="1664" y="0"/>
                    </a:lnTo>
                    <a:lnTo>
                      <a:pt x="1682" y="3"/>
                    </a:lnTo>
                    <a:lnTo>
                      <a:pt x="1699" y="10"/>
                    </a:lnTo>
                    <a:lnTo>
                      <a:pt x="1714" y="21"/>
                    </a:lnTo>
                    <a:lnTo>
                      <a:pt x="1724" y="36"/>
                    </a:lnTo>
                    <a:lnTo>
                      <a:pt x="1732" y="53"/>
                    </a:lnTo>
                    <a:lnTo>
                      <a:pt x="1735" y="71"/>
                    </a:lnTo>
                    <a:lnTo>
                      <a:pt x="1735" y="1987"/>
                    </a:lnTo>
                    <a:lnTo>
                      <a:pt x="1732" y="2007"/>
                    </a:lnTo>
                    <a:lnTo>
                      <a:pt x="1724" y="2024"/>
                    </a:lnTo>
                    <a:lnTo>
                      <a:pt x="1714" y="2037"/>
                    </a:lnTo>
                    <a:lnTo>
                      <a:pt x="1699" y="2049"/>
                    </a:lnTo>
                    <a:lnTo>
                      <a:pt x="1682" y="2057"/>
                    </a:lnTo>
                    <a:lnTo>
                      <a:pt x="1664" y="2059"/>
                    </a:lnTo>
                    <a:lnTo>
                      <a:pt x="72" y="2059"/>
                    </a:lnTo>
                    <a:lnTo>
                      <a:pt x="53" y="2057"/>
                    </a:lnTo>
                    <a:lnTo>
                      <a:pt x="36" y="2049"/>
                    </a:lnTo>
                    <a:lnTo>
                      <a:pt x="21" y="2037"/>
                    </a:lnTo>
                    <a:lnTo>
                      <a:pt x="10" y="2024"/>
                    </a:lnTo>
                    <a:lnTo>
                      <a:pt x="3" y="2007"/>
                    </a:lnTo>
                    <a:lnTo>
                      <a:pt x="0" y="1987"/>
                    </a:lnTo>
                    <a:lnTo>
                      <a:pt x="0" y="71"/>
                    </a:lnTo>
                    <a:lnTo>
                      <a:pt x="3" y="53"/>
                    </a:lnTo>
                    <a:lnTo>
                      <a:pt x="10" y="36"/>
                    </a:lnTo>
                    <a:lnTo>
                      <a:pt x="21" y="21"/>
                    </a:lnTo>
                    <a:lnTo>
                      <a:pt x="36" y="10"/>
                    </a:lnTo>
                    <a:lnTo>
                      <a:pt x="53" y="3"/>
                    </a:lnTo>
                    <a:lnTo>
                      <a:pt x="72" y="0"/>
                    </a:lnTo>
                    <a:close/>
                  </a:path>
                </a:pathLst>
              </a:custGeom>
              <a:grp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5192" tIns="47597" rIns="95192" bIns="47597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_tradnl" sz="1837" dirty="0">
                  <a:latin typeface="+mj-lt"/>
                </a:endParaRPr>
              </a:p>
            </p:txBody>
          </p:sp>
        </p:grpSp>
        <p:pic>
          <p:nvPicPr>
            <p:cNvPr id="162" name="Picture 161">
              <a:extLst>
                <a:ext uri="{FF2B5EF4-FFF2-40B4-BE49-F238E27FC236}">
                  <a16:creationId xmlns:a16="http://schemas.microsoft.com/office/drawing/2014/main" id="{A6C2A625-69C4-7D4F-95BA-9E57401E7E7B}"/>
                </a:ext>
              </a:extLst>
            </p:cNvPr>
            <p:cNvPicPr>
              <a:picLocks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488697" y="3109199"/>
              <a:ext cx="1148567" cy="753664"/>
            </a:xfrm>
            <a:prstGeom prst="rect">
              <a:avLst/>
            </a:prstGeom>
            <a:ln w="6350">
              <a:solidFill>
                <a:srgbClr val="D0D0D0"/>
              </a:solidFill>
            </a:ln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EC8BB72-3ADF-47C6-8D71-FDC91C5B341C}"/>
                </a:ext>
              </a:extLst>
            </p:cNvPr>
            <p:cNvSpPr txBox="1"/>
            <p:nvPr/>
          </p:nvSpPr>
          <p:spPr>
            <a:xfrm>
              <a:off x="1329505" y="3109199"/>
              <a:ext cx="3909245" cy="64633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lvl="5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lvl="6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lvl="7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lvl="8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>
                  <a:latin typeface="Arial" panose="020B0604020202020204" pitchFamily="34" charset="0"/>
                </a:rPr>
                <a:t>Defines the attributes of each entity and its definitions </a:t>
              </a:r>
              <a:r>
                <a:rPr lang="en-US" sz="1400" dirty="0">
                  <a:latin typeface="Arial" panose="020B0604020202020204" pitchFamily="34" charset="0"/>
                </a:rPr>
                <a:t>(E.g. Account Entity may contain Account Number, Open Date, etc.) 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9FEFD36-9538-46B1-8800-44D34656064F}"/>
                </a:ext>
              </a:extLst>
            </p:cNvPr>
            <p:cNvSpPr txBox="1"/>
            <p:nvPr/>
          </p:nvSpPr>
          <p:spPr>
            <a:xfrm>
              <a:off x="7396901" y="3109199"/>
              <a:ext cx="2996838" cy="64633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lvl="5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lvl="6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lvl="7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lvl="8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>
                  <a:latin typeface="Arial" panose="020B0604020202020204" pitchFamily="34" charset="0"/>
                </a:rPr>
                <a:t>Phase 2: Logical Level </a:t>
              </a:r>
              <a:r>
                <a:rPr lang="en-US" sz="1400" dirty="0">
                  <a:latin typeface="Arial" panose="020B0604020202020204" pitchFamily="34" charset="0"/>
                </a:rPr>
                <a:t>(Includes all attributes, their data types, and their business definitions)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28A2EE-4DBD-4D6E-9E36-79E2382EC84E}"/>
              </a:ext>
            </a:extLst>
          </p:cNvPr>
          <p:cNvGrpSpPr/>
          <p:nvPr/>
        </p:nvGrpSpPr>
        <p:grpSpPr>
          <a:xfrm>
            <a:off x="554736" y="2936911"/>
            <a:ext cx="11082528" cy="0"/>
            <a:chOff x="554736" y="3000070"/>
            <a:chExt cx="11082528" cy="0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B1929EC7-131F-4A59-89DE-BB96D920EC45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6" y="3000070"/>
              <a:ext cx="4684014" cy="0"/>
            </a:xfrm>
            <a:prstGeom prst="line">
              <a:avLst/>
            </a:prstGeom>
            <a:ln w="635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A0EA3963-3B30-47DC-960B-C82BB2BCB0B7}"/>
                </a:ext>
              </a:extLst>
            </p:cNvPr>
            <p:cNvCxnSpPr>
              <a:cxnSpLocks/>
            </p:cNvCxnSpPr>
            <p:nvPr/>
          </p:nvCxnSpPr>
          <p:spPr>
            <a:xfrm>
              <a:off x="6516130" y="3000070"/>
              <a:ext cx="5121134" cy="0"/>
            </a:xfrm>
            <a:prstGeom prst="line">
              <a:avLst/>
            </a:prstGeom>
            <a:ln w="635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69E8D7E-E363-4728-86AD-F01EA7B2D884}"/>
              </a:ext>
            </a:extLst>
          </p:cNvPr>
          <p:cNvGrpSpPr/>
          <p:nvPr/>
        </p:nvGrpSpPr>
        <p:grpSpPr>
          <a:xfrm>
            <a:off x="554736" y="3807855"/>
            <a:ext cx="11082528" cy="0"/>
            <a:chOff x="554736" y="3971991"/>
            <a:chExt cx="11082528" cy="0"/>
          </a:xfrm>
        </p:grpSpPr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E4DFCC7-3FB1-4E8A-83D1-BEAF7BA526D4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6" y="3971991"/>
              <a:ext cx="4684014" cy="0"/>
            </a:xfrm>
            <a:prstGeom prst="line">
              <a:avLst/>
            </a:prstGeom>
            <a:ln w="635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C4D9203-FF47-4D5C-B3A2-D97C97C0A486}"/>
                </a:ext>
              </a:extLst>
            </p:cNvPr>
            <p:cNvCxnSpPr>
              <a:cxnSpLocks/>
            </p:cNvCxnSpPr>
            <p:nvPr/>
          </p:nvCxnSpPr>
          <p:spPr>
            <a:xfrm>
              <a:off x="6516130" y="3971991"/>
              <a:ext cx="5121134" cy="0"/>
            </a:xfrm>
            <a:prstGeom prst="line">
              <a:avLst/>
            </a:prstGeom>
            <a:ln w="635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2C019DC-5AF1-4416-A04A-E4D0DD1BA43A}"/>
              </a:ext>
            </a:extLst>
          </p:cNvPr>
          <p:cNvGrpSpPr/>
          <p:nvPr/>
        </p:nvGrpSpPr>
        <p:grpSpPr>
          <a:xfrm>
            <a:off x="554736" y="4786909"/>
            <a:ext cx="11082528" cy="0"/>
            <a:chOff x="554736" y="5159355"/>
            <a:chExt cx="11082528" cy="0"/>
          </a:xfrm>
        </p:grpSpPr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8E7C8C3-CC3B-4069-AC35-F5F2269AF7C7}"/>
                </a:ext>
              </a:extLst>
            </p:cNvPr>
            <p:cNvCxnSpPr>
              <a:cxnSpLocks/>
            </p:cNvCxnSpPr>
            <p:nvPr/>
          </p:nvCxnSpPr>
          <p:spPr>
            <a:xfrm>
              <a:off x="554736" y="5159355"/>
              <a:ext cx="4684014" cy="0"/>
            </a:xfrm>
            <a:prstGeom prst="line">
              <a:avLst/>
            </a:prstGeom>
            <a:ln w="635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84F498DA-0C99-4E73-B1C9-5515E53FF041}"/>
                </a:ext>
              </a:extLst>
            </p:cNvPr>
            <p:cNvCxnSpPr>
              <a:cxnSpLocks/>
            </p:cNvCxnSpPr>
            <p:nvPr/>
          </p:nvCxnSpPr>
          <p:spPr>
            <a:xfrm>
              <a:off x="6516130" y="5159355"/>
              <a:ext cx="5121134" cy="0"/>
            </a:xfrm>
            <a:prstGeom prst="line">
              <a:avLst/>
            </a:prstGeom>
            <a:ln w="635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DCCE587-FCD5-4C18-B2AC-2388261160F8}"/>
              </a:ext>
            </a:extLst>
          </p:cNvPr>
          <p:cNvGrpSpPr/>
          <p:nvPr/>
        </p:nvGrpSpPr>
        <p:grpSpPr>
          <a:xfrm>
            <a:off x="580471" y="4845549"/>
            <a:ext cx="11037743" cy="753664"/>
            <a:chOff x="580471" y="5265002"/>
            <a:chExt cx="11037743" cy="753664"/>
          </a:xfrm>
        </p:grpSpPr>
        <p:pic>
          <p:nvPicPr>
            <p:cNvPr id="158" name="Picture 157">
              <a:extLst>
                <a:ext uri="{FF2B5EF4-FFF2-40B4-BE49-F238E27FC236}">
                  <a16:creationId xmlns:a16="http://schemas.microsoft.com/office/drawing/2014/main" id="{F91B196A-AFAE-F241-825C-172342AD22FF}"/>
                </a:ext>
              </a:extLst>
            </p:cNvPr>
            <p:cNvPicPr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469647" y="5265002"/>
              <a:ext cx="1148567" cy="753664"/>
            </a:xfrm>
            <a:prstGeom prst="rect">
              <a:avLst/>
            </a:prstGeom>
            <a:ln w="6350">
              <a:solidFill>
                <a:srgbClr val="D0D0D0"/>
              </a:solidFill>
            </a:ln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4B0F52D-911B-4C36-AEED-701A4CC79A2C}"/>
                </a:ext>
              </a:extLst>
            </p:cNvPr>
            <p:cNvGrpSpPr/>
            <p:nvPr/>
          </p:nvGrpSpPr>
          <p:grpSpPr>
            <a:xfrm>
              <a:off x="580471" y="5265002"/>
              <a:ext cx="9794218" cy="646331"/>
              <a:chOff x="599521" y="5322152"/>
              <a:chExt cx="9794218" cy="646331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2EC184F7-8D41-4336-8E41-0E8F4614A0F1}"/>
                  </a:ext>
                </a:extLst>
              </p:cNvPr>
              <p:cNvGrpSpPr/>
              <p:nvPr/>
            </p:nvGrpSpPr>
            <p:grpSpPr>
              <a:xfrm>
                <a:off x="599521" y="5322152"/>
                <a:ext cx="4639229" cy="646331"/>
                <a:chOff x="599521" y="5322152"/>
                <a:chExt cx="4639229" cy="646331"/>
              </a:xfrm>
            </p:grpSpPr>
            <p:sp>
              <p:nvSpPr>
                <p:cNvPr id="91" name="Freeform 54">
                  <a:extLst>
                    <a:ext uri="{FF2B5EF4-FFF2-40B4-BE49-F238E27FC236}">
                      <a16:creationId xmlns:a16="http://schemas.microsoft.com/office/drawing/2014/main" id="{9AA1AC3F-7728-E74F-A165-BF118653EDA1}"/>
                    </a:ext>
                  </a:extLst>
                </p:cNvPr>
                <p:cNvSpPr>
                  <a:spLocks noChangeAspect="1" noEditPoints="1"/>
                </p:cNvSpPr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599521" y="5322152"/>
                  <a:ext cx="453696" cy="339423"/>
                </a:xfrm>
                <a:custGeom>
                  <a:avLst/>
                  <a:gdLst>
                    <a:gd name="T0" fmla="*/ 249 w 249"/>
                    <a:gd name="T1" fmla="*/ 48 h 131"/>
                    <a:gd name="T2" fmla="*/ 213 w 249"/>
                    <a:gd name="T3" fmla="*/ 11 h 131"/>
                    <a:gd name="T4" fmla="*/ 213 w 249"/>
                    <a:gd name="T5" fmla="*/ 31 h 131"/>
                    <a:gd name="T6" fmla="*/ 186 w 249"/>
                    <a:gd name="T7" fmla="*/ 31 h 131"/>
                    <a:gd name="T8" fmla="*/ 186 w 249"/>
                    <a:gd name="T9" fmla="*/ 0 h 131"/>
                    <a:gd name="T10" fmla="*/ 64 w 249"/>
                    <a:gd name="T11" fmla="*/ 0 h 131"/>
                    <a:gd name="T12" fmla="*/ 64 w 249"/>
                    <a:gd name="T13" fmla="*/ 31 h 131"/>
                    <a:gd name="T14" fmla="*/ 37 w 249"/>
                    <a:gd name="T15" fmla="*/ 31 h 131"/>
                    <a:gd name="T16" fmla="*/ 37 w 249"/>
                    <a:gd name="T17" fmla="*/ 11 h 131"/>
                    <a:gd name="T18" fmla="*/ 0 w 249"/>
                    <a:gd name="T19" fmla="*/ 48 h 131"/>
                    <a:gd name="T20" fmla="*/ 37 w 249"/>
                    <a:gd name="T21" fmla="*/ 85 h 131"/>
                    <a:gd name="T22" fmla="*/ 37 w 249"/>
                    <a:gd name="T23" fmla="*/ 65 h 131"/>
                    <a:gd name="T24" fmla="*/ 64 w 249"/>
                    <a:gd name="T25" fmla="*/ 65 h 131"/>
                    <a:gd name="T26" fmla="*/ 64 w 249"/>
                    <a:gd name="T27" fmla="*/ 97 h 131"/>
                    <a:gd name="T28" fmla="*/ 115 w 249"/>
                    <a:gd name="T29" fmla="*/ 97 h 131"/>
                    <a:gd name="T30" fmla="*/ 115 w 249"/>
                    <a:gd name="T31" fmla="*/ 110 h 131"/>
                    <a:gd name="T32" fmla="*/ 71 w 249"/>
                    <a:gd name="T33" fmla="*/ 110 h 131"/>
                    <a:gd name="T34" fmla="*/ 65 w 249"/>
                    <a:gd name="T35" fmla="*/ 131 h 131"/>
                    <a:gd name="T36" fmla="*/ 186 w 249"/>
                    <a:gd name="T37" fmla="*/ 131 h 131"/>
                    <a:gd name="T38" fmla="*/ 179 w 249"/>
                    <a:gd name="T39" fmla="*/ 110 h 131"/>
                    <a:gd name="T40" fmla="*/ 133 w 249"/>
                    <a:gd name="T41" fmla="*/ 110 h 131"/>
                    <a:gd name="T42" fmla="*/ 133 w 249"/>
                    <a:gd name="T43" fmla="*/ 97 h 131"/>
                    <a:gd name="T44" fmla="*/ 186 w 249"/>
                    <a:gd name="T45" fmla="*/ 97 h 131"/>
                    <a:gd name="T46" fmla="*/ 186 w 249"/>
                    <a:gd name="T47" fmla="*/ 65 h 131"/>
                    <a:gd name="T48" fmla="*/ 213 w 249"/>
                    <a:gd name="T49" fmla="*/ 65 h 131"/>
                    <a:gd name="T50" fmla="*/ 213 w 249"/>
                    <a:gd name="T51" fmla="*/ 85 h 131"/>
                    <a:gd name="T52" fmla="*/ 249 w 249"/>
                    <a:gd name="T53" fmla="*/ 48 h 131"/>
                    <a:gd name="T54" fmla="*/ 176 w 249"/>
                    <a:gd name="T55" fmla="*/ 85 h 131"/>
                    <a:gd name="T56" fmla="*/ 133 w 249"/>
                    <a:gd name="T57" fmla="*/ 85 h 131"/>
                    <a:gd name="T58" fmla="*/ 115 w 249"/>
                    <a:gd name="T59" fmla="*/ 85 h 131"/>
                    <a:gd name="T60" fmla="*/ 75 w 249"/>
                    <a:gd name="T61" fmla="*/ 85 h 131"/>
                    <a:gd name="T62" fmla="*/ 75 w 249"/>
                    <a:gd name="T63" fmla="*/ 12 h 131"/>
                    <a:gd name="T64" fmla="*/ 176 w 249"/>
                    <a:gd name="T65" fmla="*/ 12 h 131"/>
                    <a:gd name="T66" fmla="*/ 176 w 249"/>
                    <a:gd name="T67" fmla="*/ 85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249" h="131">
                      <a:moveTo>
                        <a:pt x="249" y="48"/>
                      </a:moveTo>
                      <a:lnTo>
                        <a:pt x="213" y="11"/>
                      </a:lnTo>
                      <a:lnTo>
                        <a:pt x="213" y="31"/>
                      </a:lnTo>
                      <a:lnTo>
                        <a:pt x="186" y="31"/>
                      </a:lnTo>
                      <a:lnTo>
                        <a:pt x="186" y="0"/>
                      </a:lnTo>
                      <a:lnTo>
                        <a:pt x="64" y="0"/>
                      </a:lnTo>
                      <a:lnTo>
                        <a:pt x="64" y="31"/>
                      </a:lnTo>
                      <a:lnTo>
                        <a:pt x="37" y="31"/>
                      </a:lnTo>
                      <a:lnTo>
                        <a:pt x="37" y="11"/>
                      </a:lnTo>
                      <a:lnTo>
                        <a:pt x="0" y="48"/>
                      </a:lnTo>
                      <a:lnTo>
                        <a:pt x="37" y="85"/>
                      </a:lnTo>
                      <a:lnTo>
                        <a:pt x="37" y="65"/>
                      </a:lnTo>
                      <a:lnTo>
                        <a:pt x="64" y="65"/>
                      </a:lnTo>
                      <a:lnTo>
                        <a:pt x="64" y="97"/>
                      </a:lnTo>
                      <a:lnTo>
                        <a:pt x="115" y="97"/>
                      </a:lnTo>
                      <a:lnTo>
                        <a:pt x="115" y="110"/>
                      </a:lnTo>
                      <a:lnTo>
                        <a:pt x="71" y="110"/>
                      </a:lnTo>
                      <a:lnTo>
                        <a:pt x="65" y="131"/>
                      </a:lnTo>
                      <a:lnTo>
                        <a:pt x="186" y="131"/>
                      </a:lnTo>
                      <a:lnTo>
                        <a:pt x="179" y="110"/>
                      </a:lnTo>
                      <a:lnTo>
                        <a:pt x="133" y="110"/>
                      </a:lnTo>
                      <a:lnTo>
                        <a:pt x="133" y="97"/>
                      </a:lnTo>
                      <a:lnTo>
                        <a:pt x="186" y="97"/>
                      </a:lnTo>
                      <a:lnTo>
                        <a:pt x="186" y="65"/>
                      </a:lnTo>
                      <a:lnTo>
                        <a:pt x="213" y="65"/>
                      </a:lnTo>
                      <a:lnTo>
                        <a:pt x="213" y="85"/>
                      </a:lnTo>
                      <a:lnTo>
                        <a:pt x="249" y="48"/>
                      </a:lnTo>
                      <a:close/>
                      <a:moveTo>
                        <a:pt x="176" y="85"/>
                      </a:moveTo>
                      <a:lnTo>
                        <a:pt x="133" y="85"/>
                      </a:lnTo>
                      <a:lnTo>
                        <a:pt x="115" y="85"/>
                      </a:lnTo>
                      <a:lnTo>
                        <a:pt x="75" y="85"/>
                      </a:lnTo>
                      <a:lnTo>
                        <a:pt x="75" y="12"/>
                      </a:lnTo>
                      <a:lnTo>
                        <a:pt x="176" y="12"/>
                      </a:lnTo>
                      <a:lnTo>
                        <a:pt x="176" y="85"/>
                      </a:lnTo>
                      <a:close/>
                    </a:path>
                  </a:pathLst>
                </a:custGeom>
                <a:noFill/>
                <a:ln w="6350">
                  <a:solidFill>
                    <a:schemeClr val="tx1"/>
                  </a:solidFill>
                </a:ln>
              </p:spPr>
              <p:txBody>
                <a:bodyPr vert="horz" wrap="square" lIns="95192" tIns="47597" rIns="95192" bIns="47597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837" dirty="0">
                    <a:solidFill>
                      <a:srgbClr val="000000"/>
                    </a:solidFill>
                    <a:latin typeface="+mj-lt"/>
                  </a:endParaRP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CCE1AE8C-E8A9-4CE0-97A6-07869F14E8B4}"/>
                    </a:ext>
                  </a:extLst>
                </p:cNvPr>
                <p:cNvSpPr txBox="1"/>
                <p:nvPr/>
              </p:nvSpPr>
              <p:spPr>
                <a:xfrm>
                  <a:off x="1329505" y="5322152"/>
                  <a:ext cx="3909245" cy="646331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lvl="5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lvl="6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lvl="7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lvl="8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n-US" sz="1400" b="1" dirty="0">
                      <a:latin typeface="Arial" panose="020B0604020202020204" pitchFamily="34" charset="0"/>
                    </a:rPr>
                    <a:t>It uses the Physical Data Model and generates a script of physical data structures. </a:t>
                  </a:r>
                  <a:br>
                    <a:rPr lang="en-US" sz="1400" b="1" dirty="0">
                      <a:latin typeface="Arial" panose="020B0604020202020204" pitchFamily="34" charset="0"/>
                    </a:rPr>
                  </a:br>
                  <a:r>
                    <a:rPr lang="en-US" sz="1400" dirty="0">
                      <a:latin typeface="Arial" panose="020B0604020202020204" pitchFamily="34" charset="0"/>
                    </a:rPr>
                    <a:t>(Tables and Fields) </a:t>
                  </a:r>
                </a:p>
              </p:txBody>
            </p:sp>
          </p:grp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63A9361-90F8-457C-8123-2BC30FA8BE5F}"/>
                  </a:ext>
                </a:extLst>
              </p:cNvPr>
              <p:cNvSpPr txBox="1"/>
              <p:nvPr/>
            </p:nvSpPr>
            <p:spPr>
              <a:xfrm>
                <a:off x="7396901" y="5322152"/>
                <a:ext cx="2996838" cy="646331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1085850" lvl="5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lvl="6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lvl="7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lvl="8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en-US" sz="1400" b="1" dirty="0">
                    <a:latin typeface="Arial" panose="020B0604020202020204" pitchFamily="34" charset="0"/>
                  </a:rPr>
                  <a:t>Creates objects in the target repository </a:t>
                </a:r>
                <a:r>
                  <a:rPr lang="en-US" sz="1400" dirty="0">
                    <a:latin typeface="Arial" panose="020B0604020202020204" pitchFamily="34" charset="0"/>
                  </a:rPr>
                  <a:t>deploying the physical data model (E.g. Tables, Views) </a:t>
                </a:r>
              </a:p>
            </p:txBody>
          </p: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C4AC6926-E1E9-4174-A08A-A4C44A0610D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516130" y="5322152"/>
                <a:ext cx="353171" cy="312243"/>
                <a:chOff x="4151313" y="5066307"/>
                <a:chExt cx="633413" cy="622298"/>
              </a:xfrm>
              <a:solidFill>
                <a:schemeClr val="tx1"/>
              </a:solidFill>
            </p:grpSpPr>
            <p:sp>
              <p:nvSpPr>
                <p:cNvPr id="154" name="Freeform 163">
                  <a:extLst>
                    <a:ext uri="{FF2B5EF4-FFF2-40B4-BE49-F238E27FC236}">
                      <a16:creationId xmlns:a16="http://schemas.microsoft.com/office/drawing/2014/main" id="{B4D06585-3154-4FBB-B8E8-5F575E079E6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151313" y="5066307"/>
                  <a:ext cx="633413" cy="622298"/>
                </a:xfrm>
                <a:custGeom>
                  <a:avLst/>
                  <a:gdLst>
                    <a:gd name="T0" fmla="*/ 247 w 3189"/>
                    <a:gd name="T1" fmla="*/ 2523 h 3135"/>
                    <a:gd name="T2" fmla="*/ 730 w 3189"/>
                    <a:gd name="T3" fmla="*/ 2710 h 3135"/>
                    <a:gd name="T4" fmla="*/ 1399 w 3189"/>
                    <a:gd name="T5" fmla="*/ 2740 h 3135"/>
                    <a:gd name="T6" fmla="*/ 1314 w 3189"/>
                    <a:gd name="T7" fmla="*/ 2375 h 3135"/>
                    <a:gd name="T8" fmla="*/ 741 w 3189"/>
                    <a:gd name="T9" fmla="*/ 2276 h 3135"/>
                    <a:gd name="T10" fmla="*/ 214 w 3189"/>
                    <a:gd name="T11" fmla="*/ 2090 h 3135"/>
                    <a:gd name="T12" fmla="*/ 1953 w 3189"/>
                    <a:gd name="T13" fmla="*/ 1485 h 3135"/>
                    <a:gd name="T14" fmla="*/ 1578 w 3189"/>
                    <a:gd name="T15" fmla="*/ 1821 h 3135"/>
                    <a:gd name="T16" fmla="*/ 1485 w 3189"/>
                    <a:gd name="T17" fmla="*/ 2250 h 3135"/>
                    <a:gd name="T18" fmla="*/ 1657 w 3189"/>
                    <a:gd name="T19" fmla="*/ 2669 h 3135"/>
                    <a:gd name="T20" fmla="*/ 2051 w 3189"/>
                    <a:gd name="T21" fmla="*/ 2921 h 3135"/>
                    <a:gd name="T22" fmla="*/ 2566 w 3189"/>
                    <a:gd name="T23" fmla="*/ 2873 h 3135"/>
                    <a:gd name="T24" fmla="*/ 2927 w 3189"/>
                    <a:gd name="T25" fmla="*/ 2511 h 3135"/>
                    <a:gd name="T26" fmla="*/ 2974 w 3189"/>
                    <a:gd name="T27" fmla="*/ 1989 h 3135"/>
                    <a:gd name="T28" fmla="*/ 2692 w 3189"/>
                    <a:gd name="T29" fmla="*/ 1577 h 3135"/>
                    <a:gd name="T30" fmla="*/ 2255 w 3189"/>
                    <a:gd name="T31" fmla="*/ 1428 h 3135"/>
                    <a:gd name="T32" fmla="*/ 211 w 3189"/>
                    <a:gd name="T33" fmla="*/ 1823 h 3135"/>
                    <a:gd name="T34" fmla="*/ 652 w 3189"/>
                    <a:gd name="T35" fmla="*/ 2021 h 3135"/>
                    <a:gd name="T36" fmla="*/ 1260 w 3189"/>
                    <a:gd name="T37" fmla="*/ 2076 h 3135"/>
                    <a:gd name="T38" fmla="*/ 1449 w 3189"/>
                    <a:gd name="T39" fmla="*/ 1671 h 3135"/>
                    <a:gd name="T40" fmla="*/ 907 w 3189"/>
                    <a:gd name="T41" fmla="*/ 1627 h 3135"/>
                    <a:gd name="T42" fmla="*/ 321 w 3189"/>
                    <a:gd name="T43" fmla="*/ 1477 h 3135"/>
                    <a:gd name="T44" fmla="*/ 140 w 3189"/>
                    <a:gd name="T45" fmla="*/ 1050 h 3135"/>
                    <a:gd name="T46" fmla="*/ 448 w 3189"/>
                    <a:gd name="T47" fmla="*/ 1278 h 3135"/>
                    <a:gd name="T48" fmla="*/ 1078 w 3189"/>
                    <a:gd name="T49" fmla="*/ 1396 h 3135"/>
                    <a:gd name="T50" fmla="*/ 1768 w 3189"/>
                    <a:gd name="T51" fmla="*/ 1322 h 3135"/>
                    <a:gd name="T52" fmla="*/ 2167 w 3189"/>
                    <a:gd name="T53" fmla="*/ 1111 h 3135"/>
                    <a:gd name="T54" fmla="*/ 2092 w 3189"/>
                    <a:gd name="T55" fmla="*/ 788 h 3135"/>
                    <a:gd name="T56" fmla="*/ 1567 w 3189"/>
                    <a:gd name="T57" fmla="*/ 924 h 3135"/>
                    <a:gd name="T58" fmla="*/ 936 w 3189"/>
                    <a:gd name="T59" fmla="*/ 940 h 3135"/>
                    <a:gd name="T60" fmla="*/ 367 w 3189"/>
                    <a:gd name="T61" fmla="*/ 833 h 3135"/>
                    <a:gd name="T62" fmla="*/ 983 w 3189"/>
                    <a:gd name="T63" fmla="*/ 132 h 3135"/>
                    <a:gd name="T64" fmla="*/ 399 w 3189"/>
                    <a:gd name="T65" fmla="*/ 237 h 3135"/>
                    <a:gd name="T66" fmla="*/ 158 w 3189"/>
                    <a:gd name="T67" fmla="*/ 402 h 3135"/>
                    <a:gd name="T68" fmla="*/ 305 w 3189"/>
                    <a:gd name="T69" fmla="*/ 566 h 3135"/>
                    <a:gd name="T70" fmla="*/ 809 w 3189"/>
                    <a:gd name="T71" fmla="*/ 696 h 3135"/>
                    <a:gd name="T72" fmla="*/ 1540 w 3189"/>
                    <a:gd name="T73" fmla="*/ 696 h 3135"/>
                    <a:gd name="T74" fmla="*/ 2043 w 3189"/>
                    <a:gd name="T75" fmla="*/ 566 h 3135"/>
                    <a:gd name="T76" fmla="*/ 2191 w 3189"/>
                    <a:gd name="T77" fmla="*/ 402 h 3135"/>
                    <a:gd name="T78" fmla="*/ 1948 w 3189"/>
                    <a:gd name="T79" fmla="*/ 237 h 3135"/>
                    <a:gd name="T80" fmla="*/ 1365 w 3189"/>
                    <a:gd name="T81" fmla="*/ 132 h 3135"/>
                    <a:gd name="T82" fmla="*/ 1521 w 3189"/>
                    <a:gd name="T83" fmla="*/ 19 h 3135"/>
                    <a:gd name="T84" fmla="*/ 2008 w 3189"/>
                    <a:gd name="T85" fmla="*/ 127 h 3135"/>
                    <a:gd name="T86" fmla="*/ 2293 w 3189"/>
                    <a:gd name="T87" fmla="*/ 324 h 3135"/>
                    <a:gd name="T88" fmla="*/ 2326 w 3189"/>
                    <a:gd name="T89" fmla="*/ 546 h 3135"/>
                    <a:gd name="T90" fmla="*/ 2310 w 3189"/>
                    <a:gd name="T91" fmla="*/ 1125 h 3135"/>
                    <a:gd name="T92" fmla="*/ 2618 w 3189"/>
                    <a:gd name="T93" fmla="*/ 1319 h 3135"/>
                    <a:gd name="T94" fmla="*/ 3049 w 3189"/>
                    <a:gd name="T95" fmla="*/ 1692 h 3135"/>
                    <a:gd name="T96" fmla="*/ 3186 w 3189"/>
                    <a:gd name="T97" fmla="*/ 2264 h 3135"/>
                    <a:gd name="T98" fmla="*/ 2960 w 3189"/>
                    <a:gd name="T99" fmla="*/ 2802 h 3135"/>
                    <a:gd name="T100" fmla="*/ 2469 w 3189"/>
                    <a:gd name="T101" fmla="*/ 3106 h 3135"/>
                    <a:gd name="T102" fmla="*/ 1882 w 3189"/>
                    <a:gd name="T103" fmla="*/ 3062 h 3135"/>
                    <a:gd name="T104" fmla="*/ 1557 w 3189"/>
                    <a:gd name="T105" fmla="*/ 2848 h 3135"/>
                    <a:gd name="T106" fmla="*/ 816 w 3189"/>
                    <a:gd name="T107" fmla="*/ 2851 h 3135"/>
                    <a:gd name="T108" fmla="*/ 255 w 3189"/>
                    <a:gd name="T109" fmla="*/ 2678 h 3135"/>
                    <a:gd name="T110" fmla="*/ 3 w 3189"/>
                    <a:gd name="T111" fmla="*/ 2383 h 3135"/>
                    <a:gd name="T112" fmla="*/ 36 w 3189"/>
                    <a:gd name="T113" fmla="*/ 1803 h 3135"/>
                    <a:gd name="T114" fmla="*/ 24 w 3189"/>
                    <a:gd name="T115" fmla="*/ 1222 h 3135"/>
                    <a:gd name="T116" fmla="*/ 0 w 3189"/>
                    <a:gd name="T117" fmla="*/ 649 h 3135"/>
                    <a:gd name="T118" fmla="*/ 28 w 3189"/>
                    <a:gd name="T119" fmla="*/ 421 h 3135"/>
                    <a:gd name="T120" fmla="*/ 202 w 3189"/>
                    <a:gd name="T121" fmla="*/ 191 h 3135"/>
                    <a:gd name="T122" fmla="*/ 630 w 3189"/>
                    <a:gd name="T123" fmla="*/ 48 h 3135"/>
                    <a:gd name="T124" fmla="*/ 1174 w 3189"/>
                    <a:gd name="T125" fmla="*/ 0 h 3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3189" h="3135">
                      <a:moveTo>
                        <a:pt x="125" y="2022"/>
                      </a:moveTo>
                      <a:lnTo>
                        <a:pt x="125" y="2341"/>
                      </a:lnTo>
                      <a:lnTo>
                        <a:pt x="129" y="2372"/>
                      </a:lnTo>
                      <a:lnTo>
                        <a:pt x="140" y="2403"/>
                      </a:lnTo>
                      <a:lnTo>
                        <a:pt x="157" y="2433"/>
                      </a:lnTo>
                      <a:lnTo>
                        <a:pt x="181" y="2464"/>
                      </a:lnTo>
                      <a:lnTo>
                        <a:pt x="211" y="2494"/>
                      </a:lnTo>
                      <a:lnTo>
                        <a:pt x="247" y="2523"/>
                      </a:lnTo>
                      <a:lnTo>
                        <a:pt x="289" y="2552"/>
                      </a:lnTo>
                      <a:lnTo>
                        <a:pt x="336" y="2579"/>
                      </a:lnTo>
                      <a:lnTo>
                        <a:pt x="389" y="2606"/>
                      </a:lnTo>
                      <a:lnTo>
                        <a:pt x="448" y="2631"/>
                      </a:lnTo>
                      <a:lnTo>
                        <a:pt x="512" y="2654"/>
                      </a:lnTo>
                      <a:lnTo>
                        <a:pt x="580" y="2675"/>
                      </a:lnTo>
                      <a:lnTo>
                        <a:pt x="652" y="2694"/>
                      </a:lnTo>
                      <a:lnTo>
                        <a:pt x="730" y="2710"/>
                      </a:lnTo>
                      <a:lnTo>
                        <a:pt x="811" y="2724"/>
                      </a:lnTo>
                      <a:lnTo>
                        <a:pt x="896" y="2735"/>
                      </a:lnTo>
                      <a:lnTo>
                        <a:pt x="986" y="2744"/>
                      </a:lnTo>
                      <a:lnTo>
                        <a:pt x="1078" y="2749"/>
                      </a:lnTo>
                      <a:lnTo>
                        <a:pt x="1174" y="2751"/>
                      </a:lnTo>
                      <a:lnTo>
                        <a:pt x="1252" y="2749"/>
                      </a:lnTo>
                      <a:lnTo>
                        <a:pt x="1327" y="2746"/>
                      </a:lnTo>
                      <a:lnTo>
                        <a:pt x="1399" y="2740"/>
                      </a:lnTo>
                      <a:lnTo>
                        <a:pt x="1470" y="2732"/>
                      </a:lnTo>
                      <a:lnTo>
                        <a:pt x="1446" y="2699"/>
                      </a:lnTo>
                      <a:lnTo>
                        <a:pt x="1424" y="2665"/>
                      </a:lnTo>
                      <a:lnTo>
                        <a:pt x="1404" y="2629"/>
                      </a:lnTo>
                      <a:lnTo>
                        <a:pt x="1375" y="2568"/>
                      </a:lnTo>
                      <a:lnTo>
                        <a:pt x="1350" y="2506"/>
                      </a:lnTo>
                      <a:lnTo>
                        <a:pt x="1330" y="2441"/>
                      </a:lnTo>
                      <a:lnTo>
                        <a:pt x="1314" y="2375"/>
                      </a:lnTo>
                      <a:lnTo>
                        <a:pt x="1303" y="2307"/>
                      </a:lnTo>
                      <a:lnTo>
                        <a:pt x="1238" y="2311"/>
                      </a:lnTo>
                      <a:lnTo>
                        <a:pt x="1174" y="2312"/>
                      </a:lnTo>
                      <a:lnTo>
                        <a:pt x="1083" y="2311"/>
                      </a:lnTo>
                      <a:lnTo>
                        <a:pt x="994" y="2307"/>
                      </a:lnTo>
                      <a:lnTo>
                        <a:pt x="907" y="2298"/>
                      </a:lnTo>
                      <a:lnTo>
                        <a:pt x="823" y="2288"/>
                      </a:lnTo>
                      <a:lnTo>
                        <a:pt x="741" y="2276"/>
                      </a:lnTo>
                      <a:lnTo>
                        <a:pt x="662" y="2261"/>
                      </a:lnTo>
                      <a:lnTo>
                        <a:pt x="586" y="2243"/>
                      </a:lnTo>
                      <a:lnTo>
                        <a:pt x="514" y="2223"/>
                      </a:lnTo>
                      <a:lnTo>
                        <a:pt x="446" y="2201"/>
                      </a:lnTo>
                      <a:lnTo>
                        <a:pt x="381" y="2176"/>
                      </a:lnTo>
                      <a:lnTo>
                        <a:pt x="321" y="2150"/>
                      </a:lnTo>
                      <a:lnTo>
                        <a:pt x="265" y="2121"/>
                      </a:lnTo>
                      <a:lnTo>
                        <a:pt x="214" y="2090"/>
                      </a:lnTo>
                      <a:lnTo>
                        <a:pt x="167" y="2058"/>
                      </a:lnTo>
                      <a:lnTo>
                        <a:pt x="125" y="2022"/>
                      </a:lnTo>
                      <a:close/>
                      <a:moveTo>
                        <a:pt x="2241" y="1427"/>
                      </a:moveTo>
                      <a:lnTo>
                        <a:pt x="2192" y="1429"/>
                      </a:lnTo>
                      <a:lnTo>
                        <a:pt x="2144" y="1434"/>
                      </a:lnTo>
                      <a:lnTo>
                        <a:pt x="2079" y="1445"/>
                      </a:lnTo>
                      <a:lnTo>
                        <a:pt x="2014" y="1462"/>
                      </a:lnTo>
                      <a:lnTo>
                        <a:pt x="1953" y="1485"/>
                      </a:lnTo>
                      <a:lnTo>
                        <a:pt x="1895" y="1512"/>
                      </a:lnTo>
                      <a:lnTo>
                        <a:pt x="1839" y="1544"/>
                      </a:lnTo>
                      <a:lnTo>
                        <a:pt x="1785" y="1581"/>
                      </a:lnTo>
                      <a:lnTo>
                        <a:pt x="1736" y="1621"/>
                      </a:lnTo>
                      <a:lnTo>
                        <a:pt x="1690" y="1666"/>
                      </a:lnTo>
                      <a:lnTo>
                        <a:pt x="1649" y="1714"/>
                      </a:lnTo>
                      <a:lnTo>
                        <a:pt x="1611" y="1766"/>
                      </a:lnTo>
                      <a:lnTo>
                        <a:pt x="1578" y="1821"/>
                      </a:lnTo>
                      <a:lnTo>
                        <a:pt x="1549" y="1878"/>
                      </a:lnTo>
                      <a:lnTo>
                        <a:pt x="1525" y="1939"/>
                      </a:lnTo>
                      <a:lnTo>
                        <a:pt x="1507" y="1994"/>
                      </a:lnTo>
                      <a:lnTo>
                        <a:pt x="1494" y="2051"/>
                      </a:lnTo>
                      <a:lnTo>
                        <a:pt x="1486" y="2115"/>
                      </a:lnTo>
                      <a:lnTo>
                        <a:pt x="1482" y="2180"/>
                      </a:lnTo>
                      <a:lnTo>
                        <a:pt x="1482" y="2186"/>
                      </a:lnTo>
                      <a:lnTo>
                        <a:pt x="1485" y="2250"/>
                      </a:lnTo>
                      <a:lnTo>
                        <a:pt x="1493" y="2313"/>
                      </a:lnTo>
                      <a:lnTo>
                        <a:pt x="1505" y="2373"/>
                      </a:lnTo>
                      <a:lnTo>
                        <a:pt x="1524" y="2432"/>
                      </a:lnTo>
                      <a:lnTo>
                        <a:pt x="1546" y="2488"/>
                      </a:lnTo>
                      <a:lnTo>
                        <a:pt x="1572" y="2542"/>
                      </a:lnTo>
                      <a:lnTo>
                        <a:pt x="1602" y="2595"/>
                      </a:lnTo>
                      <a:lnTo>
                        <a:pt x="1628" y="2633"/>
                      </a:lnTo>
                      <a:lnTo>
                        <a:pt x="1657" y="2669"/>
                      </a:lnTo>
                      <a:lnTo>
                        <a:pt x="1687" y="2703"/>
                      </a:lnTo>
                      <a:lnTo>
                        <a:pt x="1730" y="2746"/>
                      </a:lnTo>
                      <a:lnTo>
                        <a:pt x="1776" y="2785"/>
                      </a:lnTo>
                      <a:lnTo>
                        <a:pt x="1827" y="2820"/>
                      </a:lnTo>
                      <a:lnTo>
                        <a:pt x="1879" y="2852"/>
                      </a:lnTo>
                      <a:lnTo>
                        <a:pt x="1934" y="2880"/>
                      </a:lnTo>
                      <a:lnTo>
                        <a:pt x="1991" y="2903"/>
                      </a:lnTo>
                      <a:lnTo>
                        <a:pt x="2051" y="2921"/>
                      </a:lnTo>
                      <a:lnTo>
                        <a:pt x="2113" y="2935"/>
                      </a:lnTo>
                      <a:lnTo>
                        <a:pt x="2176" y="2943"/>
                      </a:lnTo>
                      <a:lnTo>
                        <a:pt x="2241" y="2946"/>
                      </a:lnTo>
                      <a:lnTo>
                        <a:pt x="2310" y="2942"/>
                      </a:lnTo>
                      <a:lnTo>
                        <a:pt x="2378" y="2933"/>
                      </a:lnTo>
                      <a:lnTo>
                        <a:pt x="2443" y="2918"/>
                      </a:lnTo>
                      <a:lnTo>
                        <a:pt x="2506" y="2898"/>
                      </a:lnTo>
                      <a:lnTo>
                        <a:pt x="2566" y="2873"/>
                      </a:lnTo>
                      <a:lnTo>
                        <a:pt x="2624" y="2841"/>
                      </a:lnTo>
                      <a:lnTo>
                        <a:pt x="2679" y="2806"/>
                      </a:lnTo>
                      <a:lnTo>
                        <a:pt x="2730" y="2766"/>
                      </a:lnTo>
                      <a:lnTo>
                        <a:pt x="2777" y="2723"/>
                      </a:lnTo>
                      <a:lnTo>
                        <a:pt x="2821" y="2675"/>
                      </a:lnTo>
                      <a:lnTo>
                        <a:pt x="2861" y="2624"/>
                      </a:lnTo>
                      <a:lnTo>
                        <a:pt x="2896" y="2569"/>
                      </a:lnTo>
                      <a:lnTo>
                        <a:pt x="2927" y="2511"/>
                      </a:lnTo>
                      <a:lnTo>
                        <a:pt x="2953" y="2451"/>
                      </a:lnTo>
                      <a:lnTo>
                        <a:pt x="2973" y="2388"/>
                      </a:lnTo>
                      <a:lnTo>
                        <a:pt x="2988" y="2323"/>
                      </a:lnTo>
                      <a:lnTo>
                        <a:pt x="2997" y="2255"/>
                      </a:lnTo>
                      <a:lnTo>
                        <a:pt x="3000" y="2186"/>
                      </a:lnTo>
                      <a:lnTo>
                        <a:pt x="2997" y="2119"/>
                      </a:lnTo>
                      <a:lnTo>
                        <a:pt x="2988" y="2054"/>
                      </a:lnTo>
                      <a:lnTo>
                        <a:pt x="2974" y="1989"/>
                      </a:lnTo>
                      <a:lnTo>
                        <a:pt x="2955" y="1927"/>
                      </a:lnTo>
                      <a:lnTo>
                        <a:pt x="2930" y="1868"/>
                      </a:lnTo>
                      <a:lnTo>
                        <a:pt x="2901" y="1812"/>
                      </a:lnTo>
                      <a:lnTo>
                        <a:pt x="2866" y="1758"/>
                      </a:lnTo>
                      <a:lnTo>
                        <a:pt x="2828" y="1707"/>
                      </a:lnTo>
                      <a:lnTo>
                        <a:pt x="2787" y="1660"/>
                      </a:lnTo>
                      <a:lnTo>
                        <a:pt x="2741" y="1616"/>
                      </a:lnTo>
                      <a:lnTo>
                        <a:pt x="2692" y="1577"/>
                      </a:lnTo>
                      <a:lnTo>
                        <a:pt x="2639" y="1541"/>
                      </a:lnTo>
                      <a:lnTo>
                        <a:pt x="2583" y="1510"/>
                      </a:lnTo>
                      <a:lnTo>
                        <a:pt x="2525" y="1484"/>
                      </a:lnTo>
                      <a:lnTo>
                        <a:pt x="2464" y="1461"/>
                      </a:lnTo>
                      <a:lnTo>
                        <a:pt x="2402" y="1445"/>
                      </a:lnTo>
                      <a:lnTo>
                        <a:pt x="2336" y="1434"/>
                      </a:lnTo>
                      <a:lnTo>
                        <a:pt x="2269" y="1429"/>
                      </a:lnTo>
                      <a:lnTo>
                        <a:pt x="2255" y="1428"/>
                      </a:lnTo>
                      <a:lnTo>
                        <a:pt x="2241" y="1427"/>
                      </a:lnTo>
                      <a:close/>
                      <a:moveTo>
                        <a:pt x="125" y="1351"/>
                      </a:moveTo>
                      <a:lnTo>
                        <a:pt x="125" y="1669"/>
                      </a:lnTo>
                      <a:lnTo>
                        <a:pt x="129" y="1699"/>
                      </a:lnTo>
                      <a:lnTo>
                        <a:pt x="140" y="1730"/>
                      </a:lnTo>
                      <a:lnTo>
                        <a:pt x="157" y="1762"/>
                      </a:lnTo>
                      <a:lnTo>
                        <a:pt x="181" y="1792"/>
                      </a:lnTo>
                      <a:lnTo>
                        <a:pt x="211" y="1823"/>
                      </a:lnTo>
                      <a:lnTo>
                        <a:pt x="247" y="1852"/>
                      </a:lnTo>
                      <a:lnTo>
                        <a:pt x="289" y="1880"/>
                      </a:lnTo>
                      <a:lnTo>
                        <a:pt x="336" y="1908"/>
                      </a:lnTo>
                      <a:lnTo>
                        <a:pt x="389" y="1934"/>
                      </a:lnTo>
                      <a:lnTo>
                        <a:pt x="448" y="1959"/>
                      </a:lnTo>
                      <a:lnTo>
                        <a:pt x="512" y="1982"/>
                      </a:lnTo>
                      <a:lnTo>
                        <a:pt x="580" y="2002"/>
                      </a:lnTo>
                      <a:lnTo>
                        <a:pt x="652" y="2021"/>
                      </a:lnTo>
                      <a:lnTo>
                        <a:pt x="730" y="2039"/>
                      </a:lnTo>
                      <a:lnTo>
                        <a:pt x="811" y="2053"/>
                      </a:lnTo>
                      <a:lnTo>
                        <a:pt x="896" y="2064"/>
                      </a:lnTo>
                      <a:lnTo>
                        <a:pt x="986" y="2072"/>
                      </a:lnTo>
                      <a:lnTo>
                        <a:pt x="1078" y="2078"/>
                      </a:lnTo>
                      <a:lnTo>
                        <a:pt x="1174" y="2079"/>
                      </a:lnTo>
                      <a:lnTo>
                        <a:pt x="1217" y="2078"/>
                      </a:lnTo>
                      <a:lnTo>
                        <a:pt x="1260" y="2076"/>
                      </a:lnTo>
                      <a:lnTo>
                        <a:pt x="1302" y="2074"/>
                      </a:lnTo>
                      <a:lnTo>
                        <a:pt x="1310" y="2019"/>
                      </a:lnTo>
                      <a:lnTo>
                        <a:pt x="1321" y="1966"/>
                      </a:lnTo>
                      <a:lnTo>
                        <a:pt x="1338" y="1903"/>
                      </a:lnTo>
                      <a:lnTo>
                        <a:pt x="1360" y="1842"/>
                      </a:lnTo>
                      <a:lnTo>
                        <a:pt x="1386" y="1783"/>
                      </a:lnTo>
                      <a:lnTo>
                        <a:pt x="1416" y="1726"/>
                      </a:lnTo>
                      <a:lnTo>
                        <a:pt x="1449" y="1671"/>
                      </a:lnTo>
                      <a:lnTo>
                        <a:pt x="1486" y="1619"/>
                      </a:lnTo>
                      <a:lnTo>
                        <a:pt x="1411" y="1628"/>
                      </a:lnTo>
                      <a:lnTo>
                        <a:pt x="1334" y="1634"/>
                      </a:lnTo>
                      <a:lnTo>
                        <a:pt x="1255" y="1638"/>
                      </a:lnTo>
                      <a:lnTo>
                        <a:pt x="1174" y="1640"/>
                      </a:lnTo>
                      <a:lnTo>
                        <a:pt x="1083" y="1638"/>
                      </a:lnTo>
                      <a:lnTo>
                        <a:pt x="994" y="1634"/>
                      </a:lnTo>
                      <a:lnTo>
                        <a:pt x="907" y="1627"/>
                      </a:lnTo>
                      <a:lnTo>
                        <a:pt x="823" y="1617"/>
                      </a:lnTo>
                      <a:lnTo>
                        <a:pt x="741" y="1604"/>
                      </a:lnTo>
                      <a:lnTo>
                        <a:pt x="662" y="1589"/>
                      </a:lnTo>
                      <a:lnTo>
                        <a:pt x="586" y="1571"/>
                      </a:lnTo>
                      <a:lnTo>
                        <a:pt x="514" y="1551"/>
                      </a:lnTo>
                      <a:lnTo>
                        <a:pt x="446" y="1529"/>
                      </a:lnTo>
                      <a:lnTo>
                        <a:pt x="381" y="1504"/>
                      </a:lnTo>
                      <a:lnTo>
                        <a:pt x="321" y="1477"/>
                      </a:lnTo>
                      <a:lnTo>
                        <a:pt x="265" y="1448"/>
                      </a:lnTo>
                      <a:lnTo>
                        <a:pt x="214" y="1417"/>
                      </a:lnTo>
                      <a:lnTo>
                        <a:pt x="167" y="1385"/>
                      </a:lnTo>
                      <a:lnTo>
                        <a:pt x="125" y="1351"/>
                      </a:lnTo>
                      <a:close/>
                      <a:moveTo>
                        <a:pt x="125" y="707"/>
                      </a:moveTo>
                      <a:lnTo>
                        <a:pt x="125" y="988"/>
                      </a:lnTo>
                      <a:lnTo>
                        <a:pt x="129" y="1019"/>
                      </a:lnTo>
                      <a:lnTo>
                        <a:pt x="140" y="1050"/>
                      </a:lnTo>
                      <a:lnTo>
                        <a:pt x="157" y="1081"/>
                      </a:lnTo>
                      <a:lnTo>
                        <a:pt x="181" y="1111"/>
                      </a:lnTo>
                      <a:lnTo>
                        <a:pt x="211" y="1141"/>
                      </a:lnTo>
                      <a:lnTo>
                        <a:pt x="247" y="1171"/>
                      </a:lnTo>
                      <a:lnTo>
                        <a:pt x="289" y="1199"/>
                      </a:lnTo>
                      <a:lnTo>
                        <a:pt x="336" y="1227"/>
                      </a:lnTo>
                      <a:lnTo>
                        <a:pt x="389" y="1254"/>
                      </a:lnTo>
                      <a:lnTo>
                        <a:pt x="448" y="1278"/>
                      </a:lnTo>
                      <a:lnTo>
                        <a:pt x="512" y="1301"/>
                      </a:lnTo>
                      <a:lnTo>
                        <a:pt x="580" y="1322"/>
                      </a:lnTo>
                      <a:lnTo>
                        <a:pt x="652" y="1341"/>
                      </a:lnTo>
                      <a:lnTo>
                        <a:pt x="730" y="1358"/>
                      </a:lnTo>
                      <a:lnTo>
                        <a:pt x="811" y="1372"/>
                      </a:lnTo>
                      <a:lnTo>
                        <a:pt x="896" y="1383"/>
                      </a:lnTo>
                      <a:lnTo>
                        <a:pt x="986" y="1391"/>
                      </a:lnTo>
                      <a:lnTo>
                        <a:pt x="1078" y="1396"/>
                      </a:lnTo>
                      <a:lnTo>
                        <a:pt x="1174" y="1398"/>
                      </a:lnTo>
                      <a:lnTo>
                        <a:pt x="1270" y="1396"/>
                      </a:lnTo>
                      <a:lnTo>
                        <a:pt x="1363" y="1391"/>
                      </a:lnTo>
                      <a:lnTo>
                        <a:pt x="1451" y="1383"/>
                      </a:lnTo>
                      <a:lnTo>
                        <a:pt x="1537" y="1372"/>
                      </a:lnTo>
                      <a:lnTo>
                        <a:pt x="1619" y="1358"/>
                      </a:lnTo>
                      <a:lnTo>
                        <a:pt x="1695" y="1341"/>
                      </a:lnTo>
                      <a:lnTo>
                        <a:pt x="1768" y="1322"/>
                      </a:lnTo>
                      <a:lnTo>
                        <a:pt x="1837" y="1301"/>
                      </a:lnTo>
                      <a:lnTo>
                        <a:pt x="1900" y="1278"/>
                      </a:lnTo>
                      <a:lnTo>
                        <a:pt x="1958" y="1254"/>
                      </a:lnTo>
                      <a:lnTo>
                        <a:pt x="2011" y="1227"/>
                      </a:lnTo>
                      <a:lnTo>
                        <a:pt x="2059" y="1199"/>
                      </a:lnTo>
                      <a:lnTo>
                        <a:pt x="2101" y="1171"/>
                      </a:lnTo>
                      <a:lnTo>
                        <a:pt x="2137" y="1141"/>
                      </a:lnTo>
                      <a:lnTo>
                        <a:pt x="2167" y="1111"/>
                      </a:lnTo>
                      <a:lnTo>
                        <a:pt x="2191" y="1081"/>
                      </a:lnTo>
                      <a:lnTo>
                        <a:pt x="2208" y="1050"/>
                      </a:lnTo>
                      <a:lnTo>
                        <a:pt x="2218" y="1019"/>
                      </a:lnTo>
                      <a:lnTo>
                        <a:pt x="2222" y="988"/>
                      </a:lnTo>
                      <a:lnTo>
                        <a:pt x="2222" y="707"/>
                      </a:lnTo>
                      <a:lnTo>
                        <a:pt x="2184" y="736"/>
                      </a:lnTo>
                      <a:lnTo>
                        <a:pt x="2141" y="763"/>
                      </a:lnTo>
                      <a:lnTo>
                        <a:pt x="2092" y="788"/>
                      </a:lnTo>
                      <a:lnTo>
                        <a:pt x="2038" y="812"/>
                      </a:lnTo>
                      <a:lnTo>
                        <a:pt x="1981" y="833"/>
                      </a:lnTo>
                      <a:lnTo>
                        <a:pt x="1919" y="853"/>
                      </a:lnTo>
                      <a:lnTo>
                        <a:pt x="1855" y="871"/>
                      </a:lnTo>
                      <a:lnTo>
                        <a:pt x="1786" y="887"/>
                      </a:lnTo>
                      <a:lnTo>
                        <a:pt x="1715" y="901"/>
                      </a:lnTo>
                      <a:lnTo>
                        <a:pt x="1642" y="914"/>
                      </a:lnTo>
                      <a:lnTo>
                        <a:pt x="1567" y="924"/>
                      </a:lnTo>
                      <a:lnTo>
                        <a:pt x="1489" y="934"/>
                      </a:lnTo>
                      <a:lnTo>
                        <a:pt x="1412" y="940"/>
                      </a:lnTo>
                      <a:lnTo>
                        <a:pt x="1333" y="945"/>
                      </a:lnTo>
                      <a:lnTo>
                        <a:pt x="1254" y="948"/>
                      </a:lnTo>
                      <a:lnTo>
                        <a:pt x="1174" y="949"/>
                      </a:lnTo>
                      <a:lnTo>
                        <a:pt x="1095" y="948"/>
                      </a:lnTo>
                      <a:lnTo>
                        <a:pt x="1016" y="945"/>
                      </a:lnTo>
                      <a:lnTo>
                        <a:pt x="936" y="940"/>
                      </a:lnTo>
                      <a:lnTo>
                        <a:pt x="858" y="934"/>
                      </a:lnTo>
                      <a:lnTo>
                        <a:pt x="782" y="924"/>
                      </a:lnTo>
                      <a:lnTo>
                        <a:pt x="707" y="914"/>
                      </a:lnTo>
                      <a:lnTo>
                        <a:pt x="633" y="901"/>
                      </a:lnTo>
                      <a:lnTo>
                        <a:pt x="562" y="887"/>
                      </a:lnTo>
                      <a:lnTo>
                        <a:pt x="494" y="871"/>
                      </a:lnTo>
                      <a:lnTo>
                        <a:pt x="429" y="853"/>
                      </a:lnTo>
                      <a:lnTo>
                        <a:pt x="367" y="833"/>
                      </a:lnTo>
                      <a:lnTo>
                        <a:pt x="309" y="812"/>
                      </a:lnTo>
                      <a:lnTo>
                        <a:pt x="256" y="788"/>
                      </a:lnTo>
                      <a:lnTo>
                        <a:pt x="208" y="763"/>
                      </a:lnTo>
                      <a:lnTo>
                        <a:pt x="164" y="736"/>
                      </a:lnTo>
                      <a:lnTo>
                        <a:pt x="125" y="707"/>
                      </a:lnTo>
                      <a:close/>
                      <a:moveTo>
                        <a:pt x="1174" y="126"/>
                      </a:moveTo>
                      <a:lnTo>
                        <a:pt x="1076" y="128"/>
                      </a:lnTo>
                      <a:lnTo>
                        <a:pt x="983" y="132"/>
                      </a:lnTo>
                      <a:lnTo>
                        <a:pt x="893" y="138"/>
                      </a:lnTo>
                      <a:lnTo>
                        <a:pt x="809" y="147"/>
                      </a:lnTo>
                      <a:lnTo>
                        <a:pt x="729" y="158"/>
                      </a:lnTo>
                      <a:lnTo>
                        <a:pt x="652" y="171"/>
                      </a:lnTo>
                      <a:lnTo>
                        <a:pt x="582" y="185"/>
                      </a:lnTo>
                      <a:lnTo>
                        <a:pt x="516" y="201"/>
                      </a:lnTo>
                      <a:lnTo>
                        <a:pt x="456" y="218"/>
                      </a:lnTo>
                      <a:lnTo>
                        <a:pt x="399" y="237"/>
                      </a:lnTo>
                      <a:lnTo>
                        <a:pt x="349" y="256"/>
                      </a:lnTo>
                      <a:lnTo>
                        <a:pt x="305" y="276"/>
                      </a:lnTo>
                      <a:lnTo>
                        <a:pt x="266" y="297"/>
                      </a:lnTo>
                      <a:lnTo>
                        <a:pt x="232" y="317"/>
                      </a:lnTo>
                      <a:lnTo>
                        <a:pt x="205" y="338"/>
                      </a:lnTo>
                      <a:lnTo>
                        <a:pt x="183" y="359"/>
                      </a:lnTo>
                      <a:lnTo>
                        <a:pt x="167" y="381"/>
                      </a:lnTo>
                      <a:lnTo>
                        <a:pt x="158" y="402"/>
                      </a:lnTo>
                      <a:lnTo>
                        <a:pt x="155" y="421"/>
                      </a:lnTo>
                      <a:lnTo>
                        <a:pt x="158" y="441"/>
                      </a:lnTo>
                      <a:lnTo>
                        <a:pt x="167" y="461"/>
                      </a:lnTo>
                      <a:lnTo>
                        <a:pt x="183" y="482"/>
                      </a:lnTo>
                      <a:lnTo>
                        <a:pt x="205" y="503"/>
                      </a:lnTo>
                      <a:lnTo>
                        <a:pt x="232" y="524"/>
                      </a:lnTo>
                      <a:lnTo>
                        <a:pt x="266" y="545"/>
                      </a:lnTo>
                      <a:lnTo>
                        <a:pt x="305" y="566"/>
                      </a:lnTo>
                      <a:lnTo>
                        <a:pt x="349" y="586"/>
                      </a:lnTo>
                      <a:lnTo>
                        <a:pt x="399" y="605"/>
                      </a:lnTo>
                      <a:lnTo>
                        <a:pt x="456" y="624"/>
                      </a:lnTo>
                      <a:lnTo>
                        <a:pt x="516" y="641"/>
                      </a:lnTo>
                      <a:lnTo>
                        <a:pt x="582" y="658"/>
                      </a:lnTo>
                      <a:lnTo>
                        <a:pt x="652" y="672"/>
                      </a:lnTo>
                      <a:lnTo>
                        <a:pt x="729" y="685"/>
                      </a:lnTo>
                      <a:lnTo>
                        <a:pt x="809" y="696"/>
                      </a:lnTo>
                      <a:lnTo>
                        <a:pt x="893" y="705"/>
                      </a:lnTo>
                      <a:lnTo>
                        <a:pt x="983" y="711"/>
                      </a:lnTo>
                      <a:lnTo>
                        <a:pt x="1076" y="715"/>
                      </a:lnTo>
                      <a:lnTo>
                        <a:pt x="1174" y="716"/>
                      </a:lnTo>
                      <a:lnTo>
                        <a:pt x="1272" y="715"/>
                      </a:lnTo>
                      <a:lnTo>
                        <a:pt x="1365" y="711"/>
                      </a:lnTo>
                      <a:lnTo>
                        <a:pt x="1454" y="705"/>
                      </a:lnTo>
                      <a:lnTo>
                        <a:pt x="1540" y="696"/>
                      </a:lnTo>
                      <a:lnTo>
                        <a:pt x="1620" y="685"/>
                      </a:lnTo>
                      <a:lnTo>
                        <a:pt x="1695" y="672"/>
                      </a:lnTo>
                      <a:lnTo>
                        <a:pt x="1766" y="658"/>
                      </a:lnTo>
                      <a:lnTo>
                        <a:pt x="1832" y="641"/>
                      </a:lnTo>
                      <a:lnTo>
                        <a:pt x="1893" y="624"/>
                      </a:lnTo>
                      <a:lnTo>
                        <a:pt x="1948" y="605"/>
                      </a:lnTo>
                      <a:lnTo>
                        <a:pt x="1998" y="586"/>
                      </a:lnTo>
                      <a:lnTo>
                        <a:pt x="2043" y="566"/>
                      </a:lnTo>
                      <a:lnTo>
                        <a:pt x="2083" y="545"/>
                      </a:lnTo>
                      <a:lnTo>
                        <a:pt x="2116" y="524"/>
                      </a:lnTo>
                      <a:lnTo>
                        <a:pt x="2144" y="503"/>
                      </a:lnTo>
                      <a:lnTo>
                        <a:pt x="2166" y="482"/>
                      </a:lnTo>
                      <a:lnTo>
                        <a:pt x="2181" y="461"/>
                      </a:lnTo>
                      <a:lnTo>
                        <a:pt x="2191" y="441"/>
                      </a:lnTo>
                      <a:lnTo>
                        <a:pt x="2194" y="421"/>
                      </a:lnTo>
                      <a:lnTo>
                        <a:pt x="2191" y="402"/>
                      </a:lnTo>
                      <a:lnTo>
                        <a:pt x="2181" y="381"/>
                      </a:lnTo>
                      <a:lnTo>
                        <a:pt x="2166" y="359"/>
                      </a:lnTo>
                      <a:lnTo>
                        <a:pt x="2144" y="338"/>
                      </a:lnTo>
                      <a:lnTo>
                        <a:pt x="2116" y="317"/>
                      </a:lnTo>
                      <a:lnTo>
                        <a:pt x="2083" y="297"/>
                      </a:lnTo>
                      <a:lnTo>
                        <a:pt x="2043" y="276"/>
                      </a:lnTo>
                      <a:lnTo>
                        <a:pt x="1998" y="256"/>
                      </a:lnTo>
                      <a:lnTo>
                        <a:pt x="1948" y="237"/>
                      </a:lnTo>
                      <a:lnTo>
                        <a:pt x="1893" y="218"/>
                      </a:lnTo>
                      <a:lnTo>
                        <a:pt x="1832" y="201"/>
                      </a:lnTo>
                      <a:lnTo>
                        <a:pt x="1766" y="185"/>
                      </a:lnTo>
                      <a:lnTo>
                        <a:pt x="1695" y="171"/>
                      </a:lnTo>
                      <a:lnTo>
                        <a:pt x="1620" y="158"/>
                      </a:lnTo>
                      <a:lnTo>
                        <a:pt x="1540" y="147"/>
                      </a:lnTo>
                      <a:lnTo>
                        <a:pt x="1454" y="138"/>
                      </a:lnTo>
                      <a:lnTo>
                        <a:pt x="1365" y="132"/>
                      </a:lnTo>
                      <a:lnTo>
                        <a:pt x="1272" y="128"/>
                      </a:lnTo>
                      <a:lnTo>
                        <a:pt x="1174" y="126"/>
                      </a:lnTo>
                      <a:close/>
                      <a:moveTo>
                        <a:pt x="1174" y="0"/>
                      </a:moveTo>
                      <a:lnTo>
                        <a:pt x="1244" y="1"/>
                      </a:lnTo>
                      <a:lnTo>
                        <a:pt x="1314" y="3"/>
                      </a:lnTo>
                      <a:lnTo>
                        <a:pt x="1383" y="7"/>
                      </a:lnTo>
                      <a:lnTo>
                        <a:pt x="1451" y="12"/>
                      </a:lnTo>
                      <a:lnTo>
                        <a:pt x="1521" y="19"/>
                      </a:lnTo>
                      <a:lnTo>
                        <a:pt x="1588" y="28"/>
                      </a:lnTo>
                      <a:lnTo>
                        <a:pt x="1653" y="37"/>
                      </a:lnTo>
                      <a:lnTo>
                        <a:pt x="1718" y="48"/>
                      </a:lnTo>
                      <a:lnTo>
                        <a:pt x="1780" y="61"/>
                      </a:lnTo>
                      <a:lnTo>
                        <a:pt x="1842" y="75"/>
                      </a:lnTo>
                      <a:lnTo>
                        <a:pt x="1900" y="91"/>
                      </a:lnTo>
                      <a:lnTo>
                        <a:pt x="1955" y="109"/>
                      </a:lnTo>
                      <a:lnTo>
                        <a:pt x="2008" y="127"/>
                      </a:lnTo>
                      <a:lnTo>
                        <a:pt x="2057" y="147"/>
                      </a:lnTo>
                      <a:lnTo>
                        <a:pt x="2104" y="168"/>
                      </a:lnTo>
                      <a:lnTo>
                        <a:pt x="2147" y="191"/>
                      </a:lnTo>
                      <a:lnTo>
                        <a:pt x="2185" y="215"/>
                      </a:lnTo>
                      <a:lnTo>
                        <a:pt x="2219" y="240"/>
                      </a:lnTo>
                      <a:lnTo>
                        <a:pt x="2249" y="267"/>
                      </a:lnTo>
                      <a:lnTo>
                        <a:pt x="2273" y="295"/>
                      </a:lnTo>
                      <a:lnTo>
                        <a:pt x="2293" y="324"/>
                      </a:lnTo>
                      <a:lnTo>
                        <a:pt x="2308" y="355"/>
                      </a:lnTo>
                      <a:lnTo>
                        <a:pt x="2317" y="388"/>
                      </a:lnTo>
                      <a:lnTo>
                        <a:pt x="2320" y="421"/>
                      </a:lnTo>
                      <a:lnTo>
                        <a:pt x="2317" y="447"/>
                      </a:lnTo>
                      <a:lnTo>
                        <a:pt x="2311" y="473"/>
                      </a:lnTo>
                      <a:lnTo>
                        <a:pt x="2302" y="497"/>
                      </a:lnTo>
                      <a:lnTo>
                        <a:pt x="2309" y="511"/>
                      </a:lnTo>
                      <a:lnTo>
                        <a:pt x="2326" y="546"/>
                      </a:lnTo>
                      <a:lnTo>
                        <a:pt x="2338" y="580"/>
                      </a:lnTo>
                      <a:lnTo>
                        <a:pt x="2345" y="615"/>
                      </a:lnTo>
                      <a:lnTo>
                        <a:pt x="2348" y="649"/>
                      </a:lnTo>
                      <a:lnTo>
                        <a:pt x="2348" y="988"/>
                      </a:lnTo>
                      <a:lnTo>
                        <a:pt x="2345" y="1023"/>
                      </a:lnTo>
                      <a:lnTo>
                        <a:pt x="2338" y="1058"/>
                      </a:lnTo>
                      <a:lnTo>
                        <a:pt x="2326" y="1092"/>
                      </a:lnTo>
                      <a:lnTo>
                        <a:pt x="2310" y="1125"/>
                      </a:lnTo>
                      <a:lnTo>
                        <a:pt x="2289" y="1157"/>
                      </a:lnTo>
                      <a:lnTo>
                        <a:pt x="2306" y="1185"/>
                      </a:lnTo>
                      <a:lnTo>
                        <a:pt x="2320" y="1216"/>
                      </a:lnTo>
                      <a:lnTo>
                        <a:pt x="2331" y="1245"/>
                      </a:lnTo>
                      <a:lnTo>
                        <a:pt x="2407" y="1256"/>
                      </a:lnTo>
                      <a:lnTo>
                        <a:pt x="2479" y="1271"/>
                      </a:lnTo>
                      <a:lnTo>
                        <a:pt x="2550" y="1293"/>
                      </a:lnTo>
                      <a:lnTo>
                        <a:pt x="2618" y="1319"/>
                      </a:lnTo>
                      <a:lnTo>
                        <a:pt x="2684" y="1351"/>
                      </a:lnTo>
                      <a:lnTo>
                        <a:pt x="2747" y="1387"/>
                      </a:lnTo>
                      <a:lnTo>
                        <a:pt x="2806" y="1428"/>
                      </a:lnTo>
                      <a:lnTo>
                        <a:pt x="2862" y="1473"/>
                      </a:lnTo>
                      <a:lnTo>
                        <a:pt x="2915" y="1523"/>
                      </a:lnTo>
                      <a:lnTo>
                        <a:pt x="2964" y="1576"/>
                      </a:lnTo>
                      <a:lnTo>
                        <a:pt x="3008" y="1632"/>
                      </a:lnTo>
                      <a:lnTo>
                        <a:pt x="3049" y="1692"/>
                      </a:lnTo>
                      <a:lnTo>
                        <a:pt x="3084" y="1756"/>
                      </a:lnTo>
                      <a:lnTo>
                        <a:pt x="3115" y="1822"/>
                      </a:lnTo>
                      <a:lnTo>
                        <a:pt x="3141" y="1890"/>
                      </a:lnTo>
                      <a:lnTo>
                        <a:pt x="3161" y="1961"/>
                      </a:lnTo>
                      <a:lnTo>
                        <a:pt x="3177" y="2035"/>
                      </a:lnTo>
                      <a:lnTo>
                        <a:pt x="3186" y="2110"/>
                      </a:lnTo>
                      <a:lnTo>
                        <a:pt x="3189" y="2186"/>
                      </a:lnTo>
                      <a:lnTo>
                        <a:pt x="3186" y="2264"/>
                      </a:lnTo>
                      <a:lnTo>
                        <a:pt x="3177" y="2340"/>
                      </a:lnTo>
                      <a:lnTo>
                        <a:pt x="3160" y="2414"/>
                      </a:lnTo>
                      <a:lnTo>
                        <a:pt x="3140" y="2485"/>
                      </a:lnTo>
                      <a:lnTo>
                        <a:pt x="3114" y="2554"/>
                      </a:lnTo>
                      <a:lnTo>
                        <a:pt x="3082" y="2622"/>
                      </a:lnTo>
                      <a:lnTo>
                        <a:pt x="3046" y="2685"/>
                      </a:lnTo>
                      <a:lnTo>
                        <a:pt x="3005" y="2745"/>
                      </a:lnTo>
                      <a:lnTo>
                        <a:pt x="2960" y="2802"/>
                      </a:lnTo>
                      <a:lnTo>
                        <a:pt x="2911" y="2856"/>
                      </a:lnTo>
                      <a:lnTo>
                        <a:pt x="2857" y="2906"/>
                      </a:lnTo>
                      <a:lnTo>
                        <a:pt x="2800" y="2951"/>
                      </a:lnTo>
                      <a:lnTo>
                        <a:pt x="2740" y="2992"/>
                      </a:lnTo>
                      <a:lnTo>
                        <a:pt x="2676" y="3028"/>
                      </a:lnTo>
                      <a:lnTo>
                        <a:pt x="2609" y="3059"/>
                      </a:lnTo>
                      <a:lnTo>
                        <a:pt x="2540" y="3085"/>
                      </a:lnTo>
                      <a:lnTo>
                        <a:pt x="2469" y="3106"/>
                      </a:lnTo>
                      <a:lnTo>
                        <a:pt x="2395" y="3121"/>
                      </a:lnTo>
                      <a:lnTo>
                        <a:pt x="2318" y="3130"/>
                      </a:lnTo>
                      <a:lnTo>
                        <a:pt x="2241" y="3135"/>
                      </a:lnTo>
                      <a:lnTo>
                        <a:pt x="2166" y="3130"/>
                      </a:lnTo>
                      <a:lnTo>
                        <a:pt x="2092" y="3122"/>
                      </a:lnTo>
                      <a:lnTo>
                        <a:pt x="2019" y="3107"/>
                      </a:lnTo>
                      <a:lnTo>
                        <a:pt x="1949" y="3087"/>
                      </a:lnTo>
                      <a:lnTo>
                        <a:pt x="1882" y="3062"/>
                      </a:lnTo>
                      <a:lnTo>
                        <a:pt x="1817" y="3032"/>
                      </a:lnTo>
                      <a:lnTo>
                        <a:pt x="1753" y="2997"/>
                      </a:lnTo>
                      <a:lnTo>
                        <a:pt x="1694" y="2958"/>
                      </a:lnTo>
                      <a:lnTo>
                        <a:pt x="1638" y="2915"/>
                      </a:lnTo>
                      <a:lnTo>
                        <a:pt x="1585" y="2868"/>
                      </a:lnTo>
                      <a:lnTo>
                        <a:pt x="1536" y="2816"/>
                      </a:lnTo>
                      <a:lnTo>
                        <a:pt x="1546" y="2831"/>
                      </a:lnTo>
                      <a:lnTo>
                        <a:pt x="1557" y="2848"/>
                      </a:lnTo>
                      <a:lnTo>
                        <a:pt x="1465" y="2861"/>
                      </a:lnTo>
                      <a:lnTo>
                        <a:pt x="1371" y="2869"/>
                      </a:lnTo>
                      <a:lnTo>
                        <a:pt x="1274" y="2875"/>
                      </a:lnTo>
                      <a:lnTo>
                        <a:pt x="1174" y="2877"/>
                      </a:lnTo>
                      <a:lnTo>
                        <a:pt x="1081" y="2875"/>
                      </a:lnTo>
                      <a:lnTo>
                        <a:pt x="991" y="2871"/>
                      </a:lnTo>
                      <a:lnTo>
                        <a:pt x="902" y="2863"/>
                      </a:lnTo>
                      <a:lnTo>
                        <a:pt x="816" y="2851"/>
                      </a:lnTo>
                      <a:lnTo>
                        <a:pt x="734" y="2838"/>
                      </a:lnTo>
                      <a:lnTo>
                        <a:pt x="653" y="2822"/>
                      </a:lnTo>
                      <a:lnTo>
                        <a:pt x="577" y="2804"/>
                      </a:lnTo>
                      <a:lnTo>
                        <a:pt x="505" y="2783"/>
                      </a:lnTo>
                      <a:lnTo>
                        <a:pt x="436" y="2760"/>
                      </a:lnTo>
                      <a:lnTo>
                        <a:pt x="371" y="2735"/>
                      </a:lnTo>
                      <a:lnTo>
                        <a:pt x="310" y="2707"/>
                      </a:lnTo>
                      <a:lnTo>
                        <a:pt x="255" y="2678"/>
                      </a:lnTo>
                      <a:lnTo>
                        <a:pt x="204" y="2647"/>
                      </a:lnTo>
                      <a:lnTo>
                        <a:pt x="159" y="2614"/>
                      </a:lnTo>
                      <a:lnTo>
                        <a:pt x="117" y="2578"/>
                      </a:lnTo>
                      <a:lnTo>
                        <a:pt x="82" y="2542"/>
                      </a:lnTo>
                      <a:lnTo>
                        <a:pt x="53" y="2504"/>
                      </a:lnTo>
                      <a:lnTo>
                        <a:pt x="30" y="2465"/>
                      </a:lnTo>
                      <a:lnTo>
                        <a:pt x="14" y="2425"/>
                      </a:lnTo>
                      <a:lnTo>
                        <a:pt x="3" y="2383"/>
                      </a:lnTo>
                      <a:lnTo>
                        <a:pt x="0" y="2341"/>
                      </a:lnTo>
                      <a:lnTo>
                        <a:pt x="0" y="2002"/>
                      </a:lnTo>
                      <a:lnTo>
                        <a:pt x="3" y="1966"/>
                      </a:lnTo>
                      <a:lnTo>
                        <a:pt x="11" y="1930"/>
                      </a:lnTo>
                      <a:lnTo>
                        <a:pt x="24" y="1894"/>
                      </a:lnTo>
                      <a:lnTo>
                        <a:pt x="42" y="1858"/>
                      </a:lnTo>
                      <a:lnTo>
                        <a:pt x="55" y="1835"/>
                      </a:lnTo>
                      <a:lnTo>
                        <a:pt x="36" y="1803"/>
                      </a:lnTo>
                      <a:lnTo>
                        <a:pt x="21" y="1771"/>
                      </a:lnTo>
                      <a:lnTo>
                        <a:pt x="9" y="1737"/>
                      </a:lnTo>
                      <a:lnTo>
                        <a:pt x="2" y="1703"/>
                      </a:lnTo>
                      <a:lnTo>
                        <a:pt x="0" y="1669"/>
                      </a:lnTo>
                      <a:lnTo>
                        <a:pt x="0" y="1331"/>
                      </a:lnTo>
                      <a:lnTo>
                        <a:pt x="3" y="1295"/>
                      </a:lnTo>
                      <a:lnTo>
                        <a:pt x="11" y="1258"/>
                      </a:lnTo>
                      <a:lnTo>
                        <a:pt x="24" y="1222"/>
                      </a:lnTo>
                      <a:lnTo>
                        <a:pt x="42" y="1185"/>
                      </a:lnTo>
                      <a:lnTo>
                        <a:pt x="58" y="1157"/>
                      </a:lnTo>
                      <a:lnTo>
                        <a:pt x="38" y="1125"/>
                      </a:lnTo>
                      <a:lnTo>
                        <a:pt x="22" y="1092"/>
                      </a:lnTo>
                      <a:lnTo>
                        <a:pt x="10" y="1058"/>
                      </a:lnTo>
                      <a:lnTo>
                        <a:pt x="2" y="1023"/>
                      </a:lnTo>
                      <a:lnTo>
                        <a:pt x="0" y="988"/>
                      </a:lnTo>
                      <a:lnTo>
                        <a:pt x="0" y="649"/>
                      </a:lnTo>
                      <a:lnTo>
                        <a:pt x="2" y="615"/>
                      </a:lnTo>
                      <a:lnTo>
                        <a:pt x="10" y="581"/>
                      </a:lnTo>
                      <a:lnTo>
                        <a:pt x="22" y="546"/>
                      </a:lnTo>
                      <a:lnTo>
                        <a:pt x="38" y="511"/>
                      </a:lnTo>
                      <a:lnTo>
                        <a:pt x="46" y="497"/>
                      </a:lnTo>
                      <a:lnTo>
                        <a:pt x="37" y="473"/>
                      </a:lnTo>
                      <a:lnTo>
                        <a:pt x="31" y="448"/>
                      </a:lnTo>
                      <a:lnTo>
                        <a:pt x="28" y="421"/>
                      </a:lnTo>
                      <a:lnTo>
                        <a:pt x="31" y="388"/>
                      </a:lnTo>
                      <a:lnTo>
                        <a:pt x="40" y="355"/>
                      </a:lnTo>
                      <a:lnTo>
                        <a:pt x="55" y="324"/>
                      </a:lnTo>
                      <a:lnTo>
                        <a:pt x="75" y="295"/>
                      </a:lnTo>
                      <a:lnTo>
                        <a:pt x="99" y="267"/>
                      </a:lnTo>
                      <a:lnTo>
                        <a:pt x="129" y="240"/>
                      </a:lnTo>
                      <a:lnTo>
                        <a:pt x="164" y="215"/>
                      </a:lnTo>
                      <a:lnTo>
                        <a:pt x="202" y="191"/>
                      </a:lnTo>
                      <a:lnTo>
                        <a:pt x="245" y="168"/>
                      </a:lnTo>
                      <a:lnTo>
                        <a:pt x="291" y="147"/>
                      </a:lnTo>
                      <a:lnTo>
                        <a:pt x="340" y="127"/>
                      </a:lnTo>
                      <a:lnTo>
                        <a:pt x="392" y="109"/>
                      </a:lnTo>
                      <a:lnTo>
                        <a:pt x="449" y="91"/>
                      </a:lnTo>
                      <a:lnTo>
                        <a:pt x="507" y="75"/>
                      </a:lnTo>
                      <a:lnTo>
                        <a:pt x="567" y="61"/>
                      </a:lnTo>
                      <a:lnTo>
                        <a:pt x="630" y="48"/>
                      </a:lnTo>
                      <a:lnTo>
                        <a:pt x="695" y="37"/>
                      </a:lnTo>
                      <a:lnTo>
                        <a:pt x="761" y="28"/>
                      </a:lnTo>
                      <a:lnTo>
                        <a:pt x="828" y="19"/>
                      </a:lnTo>
                      <a:lnTo>
                        <a:pt x="896" y="12"/>
                      </a:lnTo>
                      <a:lnTo>
                        <a:pt x="965" y="7"/>
                      </a:lnTo>
                      <a:lnTo>
                        <a:pt x="1035" y="3"/>
                      </a:lnTo>
                      <a:lnTo>
                        <a:pt x="1104" y="1"/>
                      </a:lnTo>
                      <a:lnTo>
                        <a:pt x="1174" y="0"/>
                      </a:lnTo>
                      <a:close/>
                    </a:path>
                  </a:pathLst>
                </a:custGeom>
                <a:grpFill/>
                <a:ln w="6350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5192" tIns="47597" rIns="95192" bIns="47597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_tradnl" sz="1837" dirty="0">
                    <a:latin typeface="+mj-lt"/>
                  </a:endParaRPr>
                </a:p>
              </p:txBody>
            </p:sp>
            <p:sp>
              <p:nvSpPr>
                <p:cNvPr id="155" name="Freeform 164">
                  <a:extLst>
                    <a:ext uri="{FF2B5EF4-FFF2-40B4-BE49-F238E27FC236}">
                      <a16:creationId xmlns:a16="http://schemas.microsoft.com/office/drawing/2014/main" id="{B3A6968C-486B-4945-AA60-A2AB60CDFD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6276" y="5427617"/>
                  <a:ext cx="217488" cy="182563"/>
                </a:xfrm>
                <a:custGeom>
                  <a:avLst/>
                  <a:gdLst>
                    <a:gd name="T0" fmla="*/ 471 w 1094"/>
                    <a:gd name="T1" fmla="*/ 0 h 925"/>
                    <a:gd name="T2" fmla="*/ 481 w 1094"/>
                    <a:gd name="T3" fmla="*/ 10 h 925"/>
                    <a:gd name="T4" fmla="*/ 484 w 1094"/>
                    <a:gd name="T5" fmla="*/ 35 h 925"/>
                    <a:gd name="T6" fmla="*/ 1071 w 1094"/>
                    <a:gd name="T7" fmla="*/ 210 h 925"/>
                    <a:gd name="T8" fmla="*/ 1075 w 1094"/>
                    <a:gd name="T9" fmla="*/ 211 h 925"/>
                    <a:gd name="T10" fmla="*/ 1085 w 1094"/>
                    <a:gd name="T11" fmla="*/ 216 h 925"/>
                    <a:gd name="T12" fmla="*/ 1093 w 1094"/>
                    <a:gd name="T13" fmla="*/ 230 h 925"/>
                    <a:gd name="T14" fmla="*/ 1094 w 1094"/>
                    <a:gd name="T15" fmla="*/ 673 h 925"/>
                    <a:gd name="T16" fmla="*/ 1090 w 1094"/>
                    <a:gd name="T17" fmla="*/ 697 h 925"/>
                    <a:gd name="T18" fmla="*/ 1080 w 1094"/>
                    <a:gd name="T19" fmla="*/ 707 h 925"/>
                    <a:gd name="T20" fmla="*/ 1070 w 1094"/>
                    <a:gd name="T21" fmla="*/ 709 h 925"/>
                    <a:gd name="T22" fmla="*/ 1066 w 1094"/>
                    <a:gd name="T23" fmla="*/ 709 h 925"/>
                    <a:gd name="T24" fmla="*/ 473 w 1094"/>
                    <a:gd name="T25" fmla="*/ 899 h 925"/>
                    <a:gd name="T26" fmla="*/ 468 w 1094"/>
                    <a:gd name="T27" fmla="*/ 920 h 925"/>
                    <a:gd name="T28" fmla="*/ 458 w 1094"/>
                    <a:gd name="T29" fmla="*/ 925 h 925"/>
                    <a:gd name="T30" fmla="*/ 445 w 1094"/>
                    <a:gd name="T31" fmla="*/ 921 h 925"/>
                    <a:gd name="T32" fmla="*/ 433 w 1094"/>
                    <a:gd name="T33" fmla="*/ 912 h 925"/>
                    <a:gd name="T34" fmla="*/ 425 w 1094"/>
                    <a:gd name="T35" fmla="*/ 905 h 925"/>
                    <a:gd name="T36" fmla="*/ 16 w 1094"/>
                    <a:gd name="T37" fmla="*/ 484 h 925"/>
                    <a:gd name="T38" fmla="*/ 10 w 1094"/>
                    <a:gd name="T39" fmla="*/ 478 h 925"/>
                    <a:gd name="T40" fmla="*/ 2 w 1094"/>
                    <a:gd name="T41" fmla="*/ 462 h 925"/>
                    <a:gd name="T42" fmla="*/ 4 w 1094"/>
                    <a:gd name="T43" fmla="*/ 440 h 925"/>
                    <a:gd name="T44" fmla="*/ 19 w 1094"/>
                    <a:gd name="T45" fmla="*/ 421 h 925"/>
                    <a:gd name="T46" fmla="*/ 42 w 1094"/>
                    <a:gd name="T47" fmla="*/ 398 h 925"/>
                    <a:gd name="T48" fmla="*/ 75 w 1094"/>
                    <a:gd name="T49" fmla="*/ 366 h 925"/>
                    <a:gd name="T50" fmla="*/ 117 w 1094"/>
                    <a:gd name="T51" fmla="*/ 326 h 925"/>
                    <a:gd name="T52" fmla="*/ 164 w 1094"/>
                    <a:gd name="T53" fmla="*/ 280 h 925"/>
                    <a:gd name="T54" fmla="*/ 213 w 1094"/>
                    <a:gd name="T55" fmla="*/ 232 h 925"/>
                    <a:gd name="T56" fmla="*/ 263 w 1094"/>
                    <a:gd name="T57" fmla="*/ 184 h 925"/>
                    <a:gd name="T58" fmla="*/ 311 w 1094"/>
                    <a:gd name="T59" fmla="*/ 138 h 925"/>
                    <a:gd name="T60" fmla="*/ 354 w 1094"/>
                    <a:gd name="T61" fmla="*/ 96 h 925"/>
                    <a:gd name="T62" fmla="*/ 391 w 1094"/>
                    <a:gd name="T63" fmla="*/ 61 h 925"/>
                    <a:gd name="T64" fmla="*/ 417 w 1094"/>
                    <a:gd name="T65" fmla="*/ 35 h 925"/>
                    <a:gd name="T66" fmla="*/ 432 w 1094"/>
                    <a:gd name="T67" fmla="*/ 20 h 925"/>
                    <a:gd name="T68" fmla="*/ 435 w 1094"/>
                    <a:gd name="T69" fmla="*/ 17 h 925"/>
                    <a:gd name="T70" fmla="*/ 442 w 1094"/>
                    <a:gd name="T71" fmla="*/ 11 h 925"/>
                    <a:gd name="T72" fmla="*/ 453 w 1094"/>
                    <a:gd name="T73" fmla="*/ 4 h 925"/>
                    <a:gd name="T74" fmla="*/ 465 w 1094"/>
                    <a:gd name="T75" fmla="*/ 0 h 9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094" h="925">
                      <a:moveTo>
                        <a:pt x="465" y="0"/>
                      </a:moveTo>
                      <a:lnTo>
                        <a:pt x="471" y="0"/>
                      </a:lnTo>
                      <a:lnTo>
                        <a:pt x="477" y="3"/>
                      </a:lnTo>
                      <a:lnTo>
                        <a:pt x="481" y="10"/>
                      </a:lnTo>
                      <a:lnTo>
                        <a:pt x="483" y="20"/>
                      </a:lnTo>
                      <a:lnTo>
                        <a:pt x="484" y="35"/>
                      </a:lnTo>
                      <a:lnTo>
                        <a:pt x="484" y="210"/>
                      </a:lnTo>
                      <a:lnTo>
                        <a:pt x="1071" y="210"/>
                      </a:lnTo>
                      <a:lnTo>
                        <a:pt x="1072" y="210"/>
                      </a:lnTo>
                      <a:lnTo>
                        <a:pt x="1075" y="211"/>
                      </a:lnTo>
                      <a:lnTo>
                        <a:pt x="1080" y="213"/>
                      </a:lnTo>
                      <a:lnTo>
                        <a:pt x="1085" y="216"/>
                      </a:lnTo>
                      <a:lnTo>
                        <a:pt x="1090" y="221"/>
                      </a:lnTo>
                      <a:lnTo>
                        <a:pt x="1093" y="230"/>
                      </a:lnTo>
                      <a:lnTo>
                        <a:pt x="1094" y="241"/>
                      </a:lnTo>
                      <a:lnTo>
                        <a:pt x="1094" y="673"/>
                      </a:lnTo>
                      <a:lnTo>
                        <a:pt x="1093" y="687"/>
                      </a:lnTo>
                      <a:lnTo>
                        <a:pt x="1090" y="697"/>
                      </a:lnTo>
                      <a:lnTo>
                        <a:pt x="1085" y="703"/>
                      </a:lnTo>
                      <a:lnTo>
                        <a:pt x="1080" y="707"/>
                      </a:lnTo>
                      <a:lnTo>
                        <a:pt x="1075" y="709"/>
                      </a:lnTo>
                      <a:lnTo>
                        <a:pt x="1070" y="709"/>
                      </a:lnTo>
                      <a:lnTo>
                        <a:pt x="1067" y="709"/>
                      </a:lnTo>
                      <a:lnTo>
                        <a:pt x="1066" y="709"/>
                      </a:lnTo>
                      <a:lnTo>
                        <a:pt x="473" y="709"/>
                      </a:lnTo>
                      <a:lnTo>
                        <a:pt x="473" y="899"/>
                      </a:lnTo>
                      <a:lnTo>
                        <a:pt x="472" y="912"/>
                      </a:lnTo>
                      <a:lnTo>
                        <a:pt x="468" y="920"/>
                      </a:lnTo>
                      <a:lnTo>
                        <a:pt x="464" y="924"/>
                      </a:lnTo>
                      <a:lnTo>
                        <a:pt x="458" y="925"/>
                      </a:lnTo>
                      <a:lnTo>
                        <a:pt x="452" y="924"/>
                      </a:lnTo>
                      <a:lnTo>
                        <a:pt x="445" y="921"/>
                      </a:lnTo>
                      <a:lnTo>
                        <a:pt x="439" y="917"/>
                      </a:lnTo>
                      <a:lnTo>
                        <a:pt x="433" y="912"/>
                      </a:lnTo>
                      <a:lnTo>
                        <a:pt x="428" y="908"/>
                      </a:lnTo>
                      <a:lnTo>
                        <a:pt x="425" y="905"/>
                      </a:lnTo>
                      <a:lnTo>
                        <a:pt x="424" y="904"/>
                      </a:lnTo>
                      <a:lnTo>
                        <a:pt x="16" y="484"/>
                      </a:lnTo>
                      <a:lnTo>
                        <a:pt x="14" y="483"/>
                      </a:lnTo>
                      <a:lnTo>
                        <a:pt x="10" y="478"/>
                      </a:lnTo>
                      <a:lnTo>
                        <a:pt x="5" y="471"/>
                      </a:lnTo>
                      <a:lnTo>
                        <a:pt x="2" y="462"/>
                      </a:lnTo>
                      <a:lnTo>
                        <a:pt x="0" y="451"/>
                      </a:lnTo>
                      <a:lnTo>
                        <a:pt x="4" y="440"/>
                      </a:lnTo>
                      <a:lnTo>
                        <a:pt x="12" y="427"/>
                      </a:lnTo>
                      <a:lnTo>
                        <a:pt x="19" y="421"/>
                      </a:lnTo>
                      <a:lnTo>
                        <a:pt x="29" y="411"/>
                      </a:lnTo>
                      <a:lnTo>
                        <a:pt x="42" y="398"/>
                      </a:lnTo>
                      <a:lnTo>
                        <a:pt x="57" y="383"/>
                      </a:lnTo>
                      <a:lnTo>
                        <a:pt x="75" y="366"/>
                      </a:lnTo>
                      <a:lnTo>
                        <a:pt x="95" y="347"/>
                      </a:lnTo>
                      <a:lnTo>
                        <a:pt x="117" y="326"/>
                      </a:lnTo>
                      <a:lnTo>
                        <a:pt x="140" y="303"/>
                      </a:lnTo>
                      <a:lnTo>
                        <a:pt x="164" y="280"/>
                      </a:lnTo>
                      <a:lnTo>
                        <a:pt x="188" y="256"/>
                      </a:lnTo>
                      <a:lnTo>
                        <a:pt x="213" y="232"/>
                      </a:lnTo>
                      <a:lnTo>
                        <a:pt x="238" y="208"/>
                      </a:lnTo>
                      <a:lnTo>
                        <a:pt x="263" y="184"/>
                      </a:lnTo>
                      <a:lnTo>
                        <a:pt x="287" y="160"/>
                      </a:lnTo>
                      <a:lnTo>
                        <a:pt x="311" y="138"/>
                      </a:lnTo>
                      <a:lnTo>
                        <a:pt x="333" y="116"/>
                      </a:lnTo>
                      <a:lnTo>
                        <a:pt x="354" y="96"/>
                      </a:lnTo>
                      <a:lnTo>
                        <a:pt x="373" y="77"/>
                      </a:lnTo>
                      <a:lnTo>
                        <a:pt x="391" y="61"/>
                      </a:lnTo>
                      <a:lnTo>
                        <a:pt x="406" y="47"/>
                      </a:lnTo>
                      <a:lnTo>
                        <a:pt x="417" y="35"/>
                      </a:lnTo>
                      <a:lnTo>
                        <a:pt x="426" y="25"/>
                      </a:lnTo>
                      <a:lnTo>
                        <a:pt x="432" y="20"/>
                      </a:lnTo>
                      <a:lnTo>
                        <a:pt x="434" y="18"/>
                      </a:lnTo>
                      <a:lnTo>
                        <a:pt x="435" y="17"/>
                      </a:lnTo>
                      <a:lnTo>
                        <a:pt x="438" y="15"/>
                      </a:lnTo>
                      <a:lnTo>
                        <a:pt x="442" y="11"/>
                      </a:lnTo>
                      <a:lnTo>
                        <a:pt x="447" y="7"/>
                      </a:lnTo>
                      <a:lnTo>
                        <a:pt x="453" y="4"/>
                      </a:lnTo>
                      <a:lnTo>
                        <a:pt x="459" y="1"/>
                      </a:lnTo>
                      <a:lnTo>
                        <a:pt x="465" y="0"/>
                      </a:lnTo>
                      <a:close/>
                    </a:path>
                  </a:pathLst>
                </a:custGeom>
                <a:noFill/>
                <a:ln w="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5192" tIns="47597" rIns="95192" bIns="47597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_tradnl" sz="1837" dirty="0">
                    <a:latin typeface="+mj-lt"/>
                  </a:endParaRPr>
                </a:p>
              </p:txBody>
            </p:sp>
          </p:grpSp>
        </p:grpSp>
      </p:grp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A8FD558D-1830-4C2A-850D-EF5CCFD3AF00}"/>
              </a:ext>
            </a:extLst>
          </p:cNvPr>
          <p:cNvCxnSpPr>
            <a:cxnSpLocks/>
            <a:stCxn id="132" idx="4"/>
          </p:cNvCxnSpPr>
          <p:nvPr/>
        </p:nvCxnSpPr>
        <p:spPr>
          <a:xfrm>
            <a:off x="5877441" y="2018075"/>
            <a:ext cx="0" cy="3581138"/>
          </a:xfrm>
          <a:prstGeom prst="line">
            <a:avLst/>
          </a:prstGeom>
          <a:ln w="6350" cap="sq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1048953C-02A8-40B5-A618-0671B5FBF787}"/>
              </a:ext>
            </a:extLst>
          </p:cNvPr>
          <p:cNvGrpSpPr/>
          <p:nvPr/>
        </p:nvGrpSpPr>
        <p:grpSpPr>
          <a:xfrm>
            <a:off x="619562" y="3866495"/>
            <a:ext cx="11017702" cy="861774"/>
            <a:chOff x="619562" y="4134786"/>
            <a:chExt cx="11017702" cy="861774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BCC37960-6E48-8F4A-ADB0-98F786CDC145}"/>
                </a:ext>
              </a:extLst>
            </p:cNvPr>
            <p:cNvGrpSpPr>
              <a:grpSpLocks noChangeAspect="1"/>
            </p:cNvGrpSpPr>
            <p:nvPr>
              <p:custDataLst>
                <p:tags r:id="rId7"/>
              </p:custDataLst>
            </p:nvPr>
          </p:nvGrpSpPr>
          <p:grpSpPr>
            <a:xfrm>
              <a:off x="6516130" y="4134786"/>
              <a:ext cx="453224" cy="403293"/>
              <a:chOff x="439270" y="1729813"/>
              <a:chExt cx="503992" cy="518481"/>
            </a:xfrm>
            <a:noFill/>
          </p:grpSpPr>
          <p:sp>
            <p:nvSpPr>
              <p:cNvPr id="137" name="Rectangle 29">
                <a:extLst>
                  <a:ext uri="{FF2B5EF4-FFF2-40B4-BE49-F238E27FC236}">
                    <a16:creationId xmlns:a16="http://schemas.microsoft.com/office/drawing/2014/main" id="{95718A62-FE0C-DE44-AC0A-2F2BE19686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270" y="1729813"/>
                <a:ext cx="96245" cy="9935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vert="horz" wrap="square" lIns="93291" tIns="46647" rIns="93291" bIns="46647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37" dirty="0">
                  <a:latin typeface="+mj-lt"/>
                </a:endParaRPr>
              </a:p>
            </p:txBody>
          </p:sp>
          <p:sp>
            <p:nvSpPr>
              <p:cNvPr id="138" name="Rectangle 30">
                <a:extLst>
                  <a:ext uri="{FF2B5EF4-FFF2-40B4-BE49-F238E27FC236}">
                    <a16:creationId xmlns:a16="http://schemas.microsoft.com/office/drawing/2014/main" id="{25C99DE3-CDD6-9343-92E6-6D2EFF416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631" y="1729813"/>
                <a:ext cx="98315" cy="9935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vert="horz" wrap="square" lIns="93291" tIns="46647" rIns="93291" bIns="46647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37" dirty="0">
                  <a:latin typeface="+mj-lt"/>
                </a:endParaRPr>
              </a:p>
            </p:txBody>
          </p:sp>
          <p:sp>
            <p:nvSpPr>
              <p:cNvPr id="139" name="Rectangle 31">
                <a:extLst>
                  <a:ext uri="{FF2B5EF4-FFF2-40B4-BE49-F238E27FC236}">
                    <a16:creationId xmlns:a16="http://schemas.microsoft.com/office/drawing/2014/main" id="{84AD2454-1DCB-DA40-A0FE-479630303A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9027" y="1729813"/>
                <a:ext cx="97280" cy="9935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vert="horz" wrap="square" lIns="93291" tIns="46647" rIns="93291" bIns="46647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37" dirty="0">
                  <a:latin typeface="+mj-lt"/>
                </a:endParaRPr>
              </a:p>
            </p:txBody>
          </p:sp>
          <p:sp>
            <p:nvSpPr>
              <p:cNvPr id="140" name="Rectangle 32">
                <a:extLst>
                  <a:ext uri="{FF2B5EF4-FFF2-40B4-BE49-F238E27FC236}">
                    <a16:creationId xmlns:a16="http://schemas.microsoft.com/office/drawing/2014/main" id="{7D1FFF2C-AF79-B445-B2DA-F42C6300E4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270" y="1851930"/>
                <a:ext cx="96245" cy="9728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vert="horz" wrap="square" lIns="93291" tIns="46647" rIns="93291" bIns="46647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37" dirty="0">
                  <a:latin typeface="+mj-lt"/>
                </a:endParaRPr>
              </a:p>
            </p:txBody>
          </p:sp>
          <p:sp>
            <p:nvSpPr>
              <p:cNvPr id="141" name="Rectangle 33">
                <a:extLst>
                  <a:ext uri="{FF2B5EF4-FFF2-40B4-BE49-F238E27FC236}">
                    <a16:creationId xmlns:a16="http://schemas.microsoft.com/office/drawing/2014/main" id="{3CEBCD71-4991-204A-8487-33E293A0C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631" y="1851930"/>
                <a:ext cx="98315" cy="9728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vert="horz" wrap="square" lIns="93291" tIns="46647" rIns="93291" bIns="46647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37" dirty="0">
                  <a:latin typeface="+mj-lt"/>
                </a:endParaRPr>
              </a:p>
            </p:txBody>
          </p:sp>
          <p:sp>
            <p:nvSpPr>
              <p:cNvPr id="142" name="Rectangle 34">
                <a:extLst>
                  <a:ext uri="{FF2B5EF4-FFF2-40B4-BE49-F238E27FC236}">
                    <a16:creationId xmlns:a16="http://schemas.microsoft.com/office/drawing/2014/main" id="{493B9702-A61A-B344-AC43-B173DF8F89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9027" y="1851930"/>
                <a:ext cx="97280" cy="9728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vert="horz" wrap="square" lIns="93291" tIns="46647" rIns="93291" bIns="46647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37" dirty="0">
                  <a:latin typeface="+mj-lt"/>
                </a:endParaRPr>
              </a:p>
            </p:txBody>
          </p:sp>
          <p:sp>
            <p:nvSpPr>
              <p:cNvPr id="143" name="Rectangle 35">
                <a:extLst>
                  <a:ext uri="{FF2B5EF4-FFF2-40B4-BE49-F238E27FC236}">
                    <a16:creationId xmlns:a16="http://schemas.microsoft.com/office/drawing/2014/main" id="{1ACCEAB0-8156-4746-BCA4-F0A74EE1B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270" y="1971978"/>
                <a:ext cx="96245" cy="9935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vert="horz" wrap="square" lIns="93291" tIns="46647" rIns="93291" bIns="46647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37" dirty="0">
                  <a:latin typeface="+mj-lt"/>
                </a:endParaRPr>
              </a:p>
            </p:txBody>
          </p:sp>
          <p:sp>
            <p:nvSpPr>
              <p:cNvPr id="144" name="Rectangle 36">
                <a:extLst>
                  <a:ext uri="{FF2B5EF4-FFF2-40B4-BE49-F238E27FC236}">
                    <a16:creationId xmlns:a16="http://schemas.microsoft.com/office/drawing/2014/main" id="{6F6DF6A6-ADF2-9843-BD91-235B930B0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631" y="1971978"/>
                <a:ext cx="98315" cy="9935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vert="horz" wrap="square" lIns="93291" tIns="46647" rIns="93291" bIns="46647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37" dirty="0">
                  <a:latin typeface="+mj-lt"/>
                </a:endParaRPr>
              </a:p>
            </p:txBody>
          </p:sp>
          <p:sp>
            <p:nvSpPr>
              <p:cNvPr id="145" name="Freeform 93">
                <a:extLst>
                  <a:ext uri="{FF2B5EF4-FFF2-40B4-BE49-F238E27FC236}">
                    <a16:creationId xmlns:a16="http://schemas.microsoft.com/office/drawing/2014/main" id="{882AB452-CAD9-5349-AFD0-FE4D3D1F33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272" y="1984396"/>
                <a:ext cx="236990" cy="263898"/>
              </a:xfrm>
              <a:custGeom>
                <a:avLst/>
                <a:gdLst>
                  <a:gd name="T0" fmla="*/ 124 w 132"/>
                  <a:gd name="T1" fmla="*/ 68 h 147"/>
                  <a:gd name="T2" fmla="*/ 123 w 132"/>
                  <a:gd name="T3" fmla="*/ 68 h 147"/>
                  <a:gd name="T4" fmla="*/ 123 w 132"/>
                  <a:gd name="T5" fmla="*/ 67 h 147"/>
                  <a:gd name="T6" fmla="*/ 114 w 132"/>
                  <a:gd name="T7" fmla="*/ 41 h 147"/>
                  <a:gd name="T8" fmla="*/ 103 w 132"/>
                  <a:gd name="T9" fmla="*/ 35 h 147"/>
                  <a:gd name="T10" fmla="*/ 98 w 132"/>
                  <a:gd name="T11" fmla="*/ 46 h 147"/>
                  <a:gd name="T12" fmla="*/ 101 w 132"/>
                  <a:gd name="T13" fmla="*/ 57 h 147"/>
                  <a:gd name="T14" fmla="*/ 99 w 132"/>
                  <a:gd name="T15" fmla="*/ 57 h 147"/>
                  <a:gd name="T16" fmla="*/ 93 w 132"/>
                  <a:gd name="T17" fmla="*/ 38 h 147"/>
                  <a:gd name="T18" fmla="*/ 80 w 132"/>
                  <a:gd name="T19" fmla="*/ 32 h 147"/>
                  <a:gd name="T20" fmla="*/ 74 w 132"/>
                  <a:gd name="T21" fmla="*/ 45 h 147"/>
                  <a:gd name="T22" fmla="*/ 79 w 132"/>
                  <a:gd name="T23" fmla="*/ 59 h 147"/>
                  <a:gd name="T24" fmla="*/ 76 w 132"/>
                  <a:gd name="T25" fmla="*/ 59 h 147"/>
                  <a:gd name="T26" fmla="*/ 70 w 132"/>
                  <a:gd name="T27" fmla="*/ 40 h 147"/>
                  <a:gd name="T28" fmla="*/ 55 w 132"/>
                  <a:gd name="T29" fmla="*/ 33 h 147"/>
                  <a:gd name="T30" fmla="*/ 48 w 132"/>
                  <a:gd name="T31" fmla="*/ 48 h 147"/>
                  <a:gd name="T32" fmla="*/ 53 w 132"/>
                  <a:gd name="T33" fmla="*/ 61 h 147"/>
                  <a:gd name="T34" fmla="*/ 51 w 132"/>
                  <a:gd name="T35" fmla="*/ 61 h 147"/>
                  <a:gd name="T36" fmla="*/ 33 w 132"/>
                  <a:gd name="T37" fmla="*/ 9 h 147"/>
                  <a:gd name="T38" fmla="*/ 18 w 132"/>
                  <a:gd name="T39" fmla="*/ 2 h 147"/>
                  <a:gd name="T40" fmla="*/ 11 w 132"/>
                  <a:gd name="T41" fmla="*/ 17 h 147"/>
                  <a:gd name="T42" fmla="*/ 35 w 132"/>
                  <a:gd name="T43" fmla="*/ 87 h 147"/>
                  <a:gd name="T44" fmla="*/ 34 w 132"/>
                  <a:gd name="T45" fmla="*/ 89 h 147"/>
                  <a:gd name="T46" fmla="*/ 19 w 132"/>
                  <a:gd name="T47" fmla="*/ 80 h 147"/>
                  <a:gd name="T48" fmla="*/ 4 w 132"/>
                  <a:gd name="T49" fmla="*/ 83 h 147"/>
                  <a:gd name="T50" fmla="*/ 7 w 132"/>
                  <a:gd name="T51" fmla="*/ 99 h 147"/>
                  <a:gd name="T52" fmla="*/ 47 w 132"/>
                  <a:gd name="T53" fmla="*/ 124 h 147"/>
                  <a:gd name="T54" fmla="*/ 67 w 132"/>
                  <a:gd name="T55" fmla="*/ 147 h 147"/>
                  <a:gd name="T56" fmla="*/ 131 w 132"/>
                  <a:gd name="T57" fmla="*/ 125 h 147"/>
                  <a:gd name="T58" fmla="*/ 129 w 132"/>
                  <a:gd name="T59" fmla="*/ 110 h 147"/>
                  <a:gd name="T60" fmla="*/ 124 w 132"/>
                  <a:gd name="T61" fmla="*/ 68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2" h="147">
                    <a:moveTo>
                      <a:pt x="124" y="68"/>
                    </a:moveTo>
                    <a:cubicBezTo>
                      <a:pt x="124" y="68"/>
                      <a:pt x="123" y="68"/>
                      <a:pt x="123" y="68"/>
                    </a:cubicBezTo>
                    <a:cubicBezTo>
                      <a:pt x="123" y="67"/>
                      <a:pt x="123" y="67"/>
                      <a:pt x="123" y="67"/>
                    </a:cubicBezTo>
                    <a:cubicBezTo>
                      <a:pt x="114" y="41"/>
                      <a:pt x="114" y="41"/>
                      <a:pt x="114" y="41"/>
                    </a:cubicBezTo>
                    <a:cubicBezTo>
                      <a:pt x="113" y="36"/>
                      <a:pt x="108" y="34"/>
                      <a:pt x="103" y="35"/>
                    </a:cubicBezTo>
                    <a:cubicBezTo>
                      <a:pt x="98" y="37"/>
                      <a:pt x="96" y="42"/>
                      <a:pt x="98" y="46"/>
                    </a:cubicBezTo>
                    <a:cubicBezTo>
                      <a:pt x="101" y="57"/>
                      <a:pt x="101" y="57"/>
                      <a:pt x="101" y="57"/>
                    </a:cubicBezTo>
                    <a:cubicBezTo>
                      <a:pt x="101" y="57"/>
                      <a:pt x="100" y="57"/>
                      <a:pt x="99" y="57"/>
                    </a:cubicBezTo>
                    <a:cubicBezTo>
                      <a:pt x="93" y="38"/>
                      <a:pt x="93" y="38"/>
                      <a:pt x="93" y="38"/>
                    </a:cubicBezTo>
                    <a:cubicBezTo>
                      <a:pt x="91" y="33"/>
                      <a:pt x="86" y="31"/>
                      <a:pt x="80" y="32"/>
                    </a:cubicBezTo>
                    <a:cubicBezTo>
                      <a:pt x="75" y="34"/>
                      <a:pt x="73" y="40"/>
                      <a:pt x="74" y="45"/>
                    </a:cubicBezTo>
                    <a:cubicBezTo>
                      <a:pt x="79" y="59"/>
                      <a:pt x="79" y="59"/>
                      <a:pt x="79" y="59"/>
                    </a:cubicBezTo>
                    <a:cubicBezTo>
                      <a:pt x="78" y="59"/>
                      <a:pt x="77" y="59"/>
                      <a:pt x="76" y="59"/>
                    </a:cubicBezTo>
                    <a:cubicBezTo>
                      <a:pt x="70" y="40"/>
                      <a:pt x="70" y="40"/>
                      <a:pt x="70" y="40"/>
                    </a:cubicBezTo>
                    <a:cubicBezTo>
                      <a:pt x="68" y="34"/>
                      <a:pt x="61" y="31"/>
                      <a:pt x="55" y="33"/>
                    </a:cubicBezTo>
                    <a:cubicBezTo>
                      <a:pt x="49" y="35"/>
                      <a:pt x="46" y="42"/>
                      <a:pt x="48" y="48"/>
                    </a:cubicBezTo>
                    <a:cubicBezTo>
                      <a:pt x="53" y="61"/>
                      <a:pt x="53" y="61"/>
                      <a:pt x="53" y="61"/>
                    </a:cubicBezTo>
                    <a:cubicBezTo>
                      <a:pt x="52" y="61"/>
                      <a:pt x="52" y="61"/>
                      <a:pt x="51" y="61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1" y="3"/>
                      <a:pt x="24" y="0"/>
                      <a:pt x="18" y="2"/>
                    </a:cubicBezTo>
                    <a:cubicBezTo>
                      <a:pt x="12" y="4"/>
                      <a:pt x="9" y="11"/>
                      <a:pt x="11" y="17"/>
                    </a:cubicBezTo>
                    <a:cubicBezTo>
                      <a:pt x="35" y="87"/>
                      <a:pt x="35" y="87"/>
                      <a:pt x="35" y="87"/>
                    </a:cubicBezTo>
                    <a:cubicBezTo>
                      <a:pt x="35" y="88"/>
                      <a:pt x="35" y="88"/>
                      <a:pt x="34" y="89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4" y="76"/>
                      <a:pt x="7" y="78"/>
                      <a:pt x="4" y="83"/>
                    </a:cubicBezTo>
                    <a:cubicBezTo>
                      <a:pt x="0" y="88"/>
                      <a:pt x="2" y="95"/>
                      <a:pt x="7" y="99"/>
                    </a:cubicBezTo>
                    <a:cubicBezTo>
                      <a:pt x="47" y="124"/>
                      <a:pt x="47" y="124"/>
                      <a:pt x="47" y="124"/>
                    </a:cubicBezTo>
                    <a:cubicBezTo>
                      <a:pt x="60" y="135"/>
                      <a:pt x="67" y="147"/>
                      <a:pt x="67" y="147"/>
                    </a:cubicBezTo>
                    <a:cubicBezTo>
                      <a:pt x="131" y="125"/>
                      <a:pt x="131" y="125"/>
                      <a:pt x="131" y="125"/>
                    </a:cubicBezTo>
                    <a:cubicBezTo>
                      <a:pt x="131" y="125"/>
                      <a:pt x="128" y="116"/>
                      <a:pt x="129" y="110"/>
                    </a:cubicBezTo>
                    <a:cubicBezTo>
                      <a:pt x="132" y="89"/>
                      <a:pt x="124" y="68"/>
                      <a:pt x="124" y="68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txBody>
              <a:bodyPr vert="horz" wrap="square" lIns="93291" tIns="46647" rIns="93291" bIns="46647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37" dirty="0">
                  <a:latin typeface="+mj-lt"/>
                </a:endParaRPr>
              </a:p>
            </p:txBody>
          </p:sp>
          <p:sp>
            <p:nvSpPr>
              <p:cNvPr id="146" name="Freeform 94">
                <a:extLst>
                  <a:ext uri="{FF2B5EF4-FFF2-40B4-BE49-F238E27FC236}">
                    <a16:creationId xmlns:a16="http://schemas.microsoft.com/office/drawing/2014/main" id="{DED8B3A9-C97A-1640-B41B-24C6E775F2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1783" y="1964733"/>
                <a:ext cx="110734" cy="113838"/>
              </a:xfrm>
              <a:custGeom>
                <a:avLst/>
                <a:gdLst>
                  <a:gd name="T0" fmla="*/ 14 w 107"/>
                  <a:gd name="T1" fmla="*/ 96 h 110"/>
                  <a:gd name="T2" fmla="*/ 14 w 107"/>
                  <a:gd name="T3" fmla="*/ 14 h 110"/>
                  <a:gd name="T4" fmla="*/ 94 w 107"/>
                  <a:gd name="T5" fmla="*/ 14 h 110"/>
                  <a:gd name="T6" fmla="*/ 94 w 107"/>
                  <a:gd name="T7" fmla="*/ 59 h 110"/>
                  <a:gd name="T8" fmla="*/ 99 w 107"/>
                  <a:gd name="T9" fmla="*/ 71 h 110"/>
                  <a:gd name="T10" fmla="*/ 107 w 107"/>
                  <a:gd name="T11" fmla="*/ 71 h 110"/>
                  <a:gd name="T12" fmla="*/ 107 w 107"/>
                  <a:gd name="T13" fmla="*/ 7 h 110"/>
                  <a:gd name="T14" fmla="*/ 107 w 107"/>
                  <a:gd name="T15" fmla="*/ 0 h 110"/>
                  <a:gd name="T16" fmla="*/ 101 w 107"/>
                  <a:gd name="T17" fmla="*/ 0 h 110"/>
                  <a:gd name="T18" fmla="*/ 7 w 107"/>
                  <a:gd name="T19" fmla="*/ 0 h 110"/>
                  <a:gd name="T20" fmla="*/ 0 w 107"/>
                  <a:gd name="T21" fmla="*/ 0 h 110"/>
                  <a:gd name="T22" fmla="*/ 0 w 107"/>
                  <a:gd name="T23" fmla="*/ 7 h 110"/>
                  <a:gd name="T24" fmla="*/ 0 w 107"/>
                  <a:gd name="T25" fmla="*/ 103 h 110"/>
                  <a:gd name="T26" fmla="*/ 0 w 107"/>
                  <a:gd name="T27" fmla="*/ 110 h 110"/>
                  <a:gd name="T28" fmla="*/ 7 w 107"/>
                  <a:gd name="T29" fmla="*/ 110 h 110"/>
                  <a:gd name="T30" fmla="*/ 40 w 107"/>
                  <a:gd name="T31" fmla="*/ 110 h 110"/>
                  <a:gd name="T32" fmla="*/ 35 w 107"/>
                  <a:gd name="T33" fmla="*/ 96 h 110"/>
                  <a:gd name="T34" fmla="*/ 14 w 107"/>
                  <a:gd name="T35" fmla="*/ 96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7" h="110">
                    <a:moveTo>
                      <a:pt x="14" y="96"/>
                    </a:moveTo>
                    <a:lnTo>
                      <a:pt x="14" y="14"/>
                    </a:lnTo>
                    <a:lnTo>
                      <a:pt x="94" y="14"/>
                    </a:lnTo>
                    <a:lnTo>
                      <a:pt x="94" y="59"/>
                    </a:lnTo>
                    <a:lnTo>
                      <a:pt x="99" y="71"/>
                    </a:lnTo>
                    <a:lnTo>
                      <a:pt x="107" y="71"/>
                    </a:lnTo>
                    <a:lnTo>
                      <a:pt x="107" y="7"/>
                    </a:lnTo>
                    <a:lnTo>
                      <a:pt x="107" y="0"/>
                    </a:lnTo>
                    <a:lnTo>
                      <a:pt x="101" y="0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7"/>
                    </a:lnTo>
                    <a:lnTo>
                      <a:pt x="0" y="103"/>
                    </a:lnTo>
                    <a:lnTo>
                      <a:pt x="0" y="110"/>
                    </a:lnTo>
                    <a:lnTo>
                      <a:pt x="7" y="110"/>
                    </a:lnTo>
                    <a:lnTo>
                      <a:pt x="40" y="110"/>
                    </a:lnTo>
                    <a:lnTo>
                      <a:pt x="35" y="96"/>
                    </a:lnTo>
                    <a:lnTo>
                      <a:pt x="14" y="96"/>
                    </a:lnTo>
                    <a:close/>
                  </a:path>
                </a:pathLst>
              </a:custGeom>
              <a:grpFill/>
              <a:ln w="6350">
                <a:solidFill>
                  <a:schemeClr val="tx1"/>
                </a:solidFill>
              </a:ln>
            </p:spPr>
            <p:txBody>
              <a:bodyPr vert="horz" wrap="square" lIns="93291" tIns="46647" rIns="93291" bIns="46647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37" dirty="0">
                  <a:latin typeface="+mj-lt"/>
                </a:endParaRPr>
              </a:p>
            </p:txBody>
          </p:sp>
        </p:grpSp>
        <p:pic>
          <p:nvPicPr>
            <p:cNvPr id="164" name="Picture 163">
              <a:extLst>
                <a:ext uri="{FF2B5EF4-FFF2-40B4-BE49-F238E27FC236}">
                  <a16:creationId xmlns:a16="http://schemas.microsoft.com/office/drawing/2014/main" id="{C18CF882-AA86-9E4D-8CC5-7590CAAA3896}"/>
                </a:ext>
              </a:extLst>
            </p:cNvPr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488697" y="4134786"/>
              <a:ext cx="1148567" cy="753664"/>
            </a:xfrm>
            <a:prstGeom prst="rect">
              <a:avLst/>
            </a:prstGeom>
            <a:ln w="6350">
              <a:solidFill>
                <a:srgbClr val="D0D0D0"/>
              </a:solidFill>
            </a:ln>
          </p:spPr>
        </p:pic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37457D34-64A1-4817-8472-38209776B78A}"/>
                </a:ext>
              </a:extLst>
            </p:cNvPr>
            <p:cNvSpPr txBox="1"/>
            <p:nvPr/>
          </p:nvSpPr>
          <p:spPr>
            <a:xfrm>
              <a:off x="7396901" y="4134786"/>
              <a:ext cx="2996838" cy="86177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lvl="5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lvl="6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lvl="7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lvl="8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>
                  <a:latin typeface="Arial" panose="020B0604020202020204" pitchFamily="34" charset="0"/>
                </a:rPr>
                <a:t>Phase 3: Physical Level </a:t>
              </a:r>
              <a:r>
                <a:rPr lang="en-US" sz="1400" dirty="0">
                  <a:latin typeface="Arial" panose="020B0604020202020204" pitchFamily="34" charset="0"/>
                </a:rPr>
                <a:t>(Makes the model efficient for physical deployment according to the target repository) 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F09909D-74C4-488F-93E3-7C40DCB0F1FC}"/>
                </a:ext>
              </a:extLst>
            </p:cNvPr>
            <p:cNvGrpSpPr/>
            <p:nvPr/>
          </p:nvGrpSpPr>
          <p:grpSpPr>
            <a:xfrm>
              <a:off x="619562" y="4134786"/>
              <a:ext cx="4619188" cy="861774"/>
              <a:chOff x="619562" y="4134786"/>
              <a:chExt cx="4619188" cy="861774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8C1E1A4-1E5A-4E1E-B608-D8D7DD1873E8}"/>
                  </a:ext>
                </a:extLst>
              </p:cNvPr>
              <p:cNvSpPr txBox="1"/>
              <p:nvPr/>
            </p:nvSpPr>
            <p:spPr>
              <a:xfrm>
                <a:off x="1329505" y="4134786"/>
                <a:ext cx="3909245" cy="861774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1085850" lvl="5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lvl="6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lvl="7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lvl="8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en-US" sz="1400" b="1" dirty="0">
                    <a:latin typeface="Arial" panose="020B0604020202020204" pitchFamily="34" charset="0"/>
                  </a:rPr>
                  <a:t>Meets the requirements of the target repository and the current state of the data. </a:t>
                </a:r>
                <a:r>
                  <a:rPr lang="en-US" sz="1400" dirty="0">
                    <a:latin typeface="Arial" panose="020B0604020202020204" pitchFamily="34" charset="0"/>
                  </a:rPr>
                  <a:t>(For example; degree of normalization, granularity, data types, etc.) </a:t>
                </a:r>
              </a:p>
            </p:txBody>
          </p: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08E86AE8-9E59-4389-8C56-4C28AD86FEB8}"/>
                  </a:ext>
                </a:extLst>
              </p:cNvPr>
              <p:cNvGrpSpPr/>
              <p:nvPr/>
            </p:nvGrpSpPr>
            <p:grpSpPr>
              <a:xfrm>
                <a:off x="619562" y="4134786"/>
                <a:ext cx="433655" cy="427362"/>
                <a:chOff x="703382" y="4107105"/>
                <a:chExt cx="433655" cy="427362"/>
              </a:xfrm>
            </p:grpSpPr>
            <p:pic>
              <p:nvPicPr>
                <p:cNvPr id="124" name="CustomIcon">
                  <a:extLst>
                    <a:ext uri="{FF2B5EF4-FFF2-40B4-BE49-F238E27FC236}">
                      <a16:creationId xmlns:a16="http://schemas.microsoft.com/office/drawing/2014/main" id="{643A6239-AFD1-44E5-A5EE-C517B46A6E24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8"/>
                  </p:custDataLst>
                </p:nvPr>
              </p:nvPicPr>
              <p:blipFill>
                <a:blip r:embed="rId16">
                  <a:extLst>
                    <a:ext uri="{96DAC541-7B7A-43D3-8B79-37D633B846F1}">
                      <asvg:svgBlip xmlns=""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 rot="19887717">
                  <a:off x="703382" y="4107105"/>
                  <a:ext cx="258531" cy="258531"/>
                </a:xfrm>
                <a:prstGeom prst="rect">
                  <a:avLst/>
                </a:prstGeom>
              </p:spPr>
            </p:pic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C4D6705-7914-1746-A446-03BD9681CA9A}"/>
                    </a:ext>
                  </a:extLst>
                </p:cNvPr>
                <p:cNvGrpSpPr/>
                <p:nvPr/>
              </p:nvGrpSpPr>
              <p:grpSpPr>
                <a:xfrm>
                  <a:off x="851712" y="4196785"/>
                  <a:ext cx="285325" cy="337682"/>
                  <a:chOff x="-4956175" y="3443288"/>
                  <a:chExt cx="2705100" cy="3557588"/>
                </a:xfrm>
                <a:noFill/>
              </p:grpSpPr>
              <p:sp>
                <p:nvSpPr>
                  <p:cNvPr id="62" name="Freeform 124">
                    <a:extLst>
                      <a:ext uri="{FF2B5EF4-FFF2-40B4-BE49-F238E27FC236}">
                        <a16:creationId xmlns:a16="http://schemas.microsoft.com/office/drawing/2014/main" id="{37FA4D63-89D4-474F-B0B8-72BAFC52E4E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4319588" y="3443288"/>
                    <a:ext cx="1431925" cy="1739900"/>
                  </a:xfrm>
                  <a:custGeom>
                    <a:avLst/>
                    <a:gdLst>
                      <a:gd name="T0" fmla="*/ 993 w 1805"/>
                      <a:gd name="T1" fmla="*/ 2 h 2191"/>
                      <a:gd name="T2" fmla="*/ 1153 w 1805"/>
                      <a:gd name="T3" fmla="*/ 20 h 2191"/>
                      <a:gd name="T4" fmla="*/ 1293 w 1805"/>
                      <a:gd name="T5" fmla="*/ 55 h 2191"/>
                      <a:gd name="T6" fmla="*/ 1411 w 1805"/>
                      <a:gd name="T7" fmla="*/ 107 h 2191"/>
                      <a:gd name="T8" fmla="*/ 1510 w 1805"/>
                      <a:gd name="T9" fmla="*/ 173 h 2191"/>
                      <a:gd name="T10" fmla="*/ 1591 w 1805"/>
                      <a:gd name="T11" fmla="*/ 252 h 2191"/>
                      <a:gd name="T12" fmla="*/ 1658 w 1805"/>
                      <a:gd name="T13" fmla="*/ 345 h 2191"/>
                      <a:gd name="T14" fmla="*/ 1710 w 1805"/>
                      <a:gd name="T15" fmla="*/ 448 h 2191"/>
                      <a:gd name="T16" fmla="*/ 1748 w 1805"/>
                      <a:gd name="T17" fmla="*/ 562 h 2191"/>
                      <a:gd name="T18" fmla="*/ 1775 w 1805"/>
                      <a:gd name="T19" fmla="*/ 684 h 2191"/>
                      <a:gd name="T20" fmla="*/ 1792 w 1805"/>
                      <a:gd name="T21" fmla="*/ 816 h 2191"/>
                      <a:gd name="T22" fmla="*/ 1802 w 1805"/>
                      <a:gd name="T23" fmla="*/ 953 h 2191"/>
                      <a:gd name="T24" fmla="*/ 1805 w 1805"/>
                      <a:gd name="T25" fmla="*/ 1096 h 2191"/>
                      <a:gd name="T26" fmla="*/ 1790 w 1805"/>
                      <a:gd name="T27" fmla="*/ 1292 h 2191"/>
                      <a:gd name="T28" fmla="*/ 1749 w 1805"/>
                      <a:gd name="T29" fmla="*/ 1478 h 2191"/>
                      <a:gd name="T30" fmla="*/ 1681 w 1805"/>
                      <a:gd name="T31" fmla="*/ 1648 h 2191"/>
                      <a:gd name="T32" fmla="*/ 1593 w 1805"/>
                      <a:gd name="T33" fmla="*/ 1802 h 2191"/>
                      <a:gd name="T34" fmla="*/ 1484 w 1805"/>
                      <a:gd name="T35" fmla="*/ 1933 h 2191"/>
                      <a:gd name="T36" fmla="*/ 1358 w 1805"/>
                      <a:gd name="T37" fmla="*/ 2042 h 2191"/>
                      <a:gd name="T38" fmla="*/ 1218 w 1805"/>
                      <a:gd name="T39" fmla="*/ 2122 h 2191"/>
                      <a:gd name="T40" fmla="*/ 1065 w 1805"/>
                      <a:gd name="T41" fmla="*/ 2174 h 2191"/>
                      <a:gd name="T42" fmla="*/ 902 w 1805"/>
                      <a:gd name="T43" fmla="*/ 2191 h 2191"/>
                      <a:gd name="T44" fmla="*/ 740 w 1805"/>
                      <a:gd name="T45" fmla="*/ 2174 h 2191"/>
                      <a:gd name="T46" fmla="*/ 588 w 1805"/>
                      <a:gd name="T47" fmla="*/ 2122 h 2191"/>
                      <a:gd name="T48" fmla="*/ 447 w 1805"/>
                      <a:gd name="T49" fmla="*/ 2042 h 2191"/>
                      <a:gd name="T50" fmla="*/ 322 w 1805"/>
                      <a:gd name="T51" fmla="*/ 1933 h 2191"/>
                      <a:gd name="T52" fmla="*/ 213 w 1805"/>
                      <a:gd name="T53" fmla="*/ 1802 h 2191"/>
                      <a:gd name="T54" fmla="*/ 124 w 1805"/>
                      <a:gd name="T55" fmla="*/ 1648 h 2191"/>
                      <a:gd name="T56" fmla="*/ 57 w 1805"/>
                      <a:gd name="T57" fmla="*/ 1478 h 2191"/>
                      <a:gd name="T58" fmla="*/ 15 w 1805"/>
                      <a:gd name="T59" fmla="*/ 1292 h 2191"/>
                      <a:gd name="T60" fmla="*/ 0 w 1805"/>
                      <a:gd name="T61" fmla="*/ 1096 h 2191"/>
                      <a:gd name="T62" fmla="*/ 4 w 1805"/>
                      <a:gd name="T63" fmla="*/ 953 h 2191"/>
                      <a:gd name="T64" fmla="*/ 12 w 1805"/>
                      <a:gd name="T65" fmla="*/ 816 h 2191"/>
                      <a:gd name="T66" fmla="*/ 30 w 1805"/>
                      <a:gd name="T67" fmla="*/ 684 h 2191"/>
                      <a:gd name="T68" fmla="*/ 58 w 1805"/>
                      <a:gd name="T69" fmla="*/ 562 h 2191"/>
                      <a:gd name="T70" fmla="*/ 96 w 1805"/>
                      <a:gd name="T71" fmla="*/ 448 h 2191"/>
                      <a:gd name="T72" fmla="*/ 148 w 1805"/>
                      <a:gd name="T73" fmla="*/ 345 h 2191"/>
                      <a:gd name="T74" fmla="*/ 215 w 1805"/>
                      <a:gd name="T75" fmla="*/ 252 h 2191"/>
                      <a:gd name="T76" fmla="*/ 296 w 1805"/>
                      <a:gd name="T77" fmla="*/ 173 h 2191"/>
                      <a:gd name="T78" fmla="*/ 395 w 1805"/>
                      <a:gd name="T79" fmla="*/ 107 h 2191"/>
                      <a:gd name="T80" fmla="*/ 513 w 1805"/>
                      <a:gd name="T81" fmla="*/ 55 h 2191"/>
                      <a:gd name="T82" fmla="*/ 652 w 1805"/>
                      <a:gd name="T83" fmla="*/ 20 h 2191"/>
                      <a:gd name="T84" fmla="*/ 813 w 1805"/>
                      <a:gd name="T85" fmla="*/ 2 h 219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</a:cxnLst>
                    <a:rect l="0" t="0" r="r" b="b"/>
                    <a:pathLst>
                      <a:path w="1805" h="2191">
                        <a:moveTo>
                          <a:pt x="902" y="0"/>
                        </a:moveTo>
                        <a:lnTo>
                          <a:pt x="993" y="2"/>
                        </a:lnTo>
                        <a:lnTo>
                          <a:pt x="1075" y="9"/>
                        </a:lnTo>
                        <a:lnTo>
                          <a:pt x="1153" y="20"/>
                        </a:lnTo>
                        <a:lnTo>
                          <a:pt x="1225" y="36"/>
                        </a:lnTo>
                        <a:lnTo>
                          <a:pt x="1293" y="55"/>
                        </a:lnTo>
                        <a:lnTo>
                          <a:pt x="1354" y="80"/>
                        </a:lnTo>
                        <a:lnTo>
                          <a:pt x="1411" y="107"/>
                        </a:lnTo>
                        <a:lnTo>
                          <a:pt x="1462" y="138"/>
                        </a:lnTo>
                        <a:lnTo>
                          <a:pt x="1510" y="173"/>
                        </a:lnTo>
                        <a:lnTo>
                          <a:pt x="1552" y="211"/>
                        </a:lnTo>
                        <a:lnTo>
                          <a:pt x="1591" y="252"/>
                        </a:lnTo>
                        <a:lnTo>
                          <a:pt x="1627" y="297"/>
                        </a:lnTo>
                        <a:lnTo>
                          <a:pt x="1658" y="345"/>
                        </a:lnTo>
                        <a:lnTo>
                          <a:pt x="1685" y="395"/>
                        </a:lnTo>
                        <a:lnTo>
                          <a:pt x="1710" y="448"/>
                        </a:lnTo>
                        <a:lnTo>
                          <a:pt x="1730" y="503"/>
                        </a:lnTo>
                        <a:lnTo>
                          <a:pt x="1748" y="562"/>
                        </a:lnTo>
                        <a:lnTo>
                          <a:pt x="1762" y="623"/>
                        </a:lnTo>
                        <a:lnTo>
                          <a:pt x="1775" y="684"/>
                        </a:lnTo>
                        <a:lnTo>
                          <a:pt x="1784" y="749"/>
                        </a:lnTo>
                        <a:lnTo>
                          <a:pt x="1792" y="816"/>
                        </a:lnTo>
                        <a:lnTo>
                          <a:pt x="1798" y="884"/>
                        </a:lnTo>
                        <a:lnTo>
                          <a:pt x="1802" y="953"/>
                        </a:lnTo>
                        <a:lnTo>
                          <a:pt x="1805" y="1024"/>
                        </a:lnTo>
                        <a:lnTo>
                          <a:pt x="1805" y="1096"/>
                        </a:lnTo>
                        <a:lnTo>
                          <a:pt x="1800" y="1195"/>
                        </a:lnTo>
                        <a:lnTo>
                          <a:pt x="1790" y="1292"/>
                        </a:lnTo>
                        <a:lnTo>
                          <a:pt x="1772" y="1386"/>
                        </a:lnTo>
                        <a:lnTo>
                          <a:pt x="1749" y="1478"/>
                        </a:lnTo>
                        <a:lnTo>
                          <a:pt x="1718" y="1565"/>
                        </a:lnTo>
                        <a:lnTo>
                          <a:pt x="1681" y="1648"/>
                        </a:lnTo>
                        <a:lnTo>
                          <a:pt x="1640" y="1727"/>
                        </a:lnTo>
                        <a:lnTo>
                          <a:pt x="1593" y="1802"/>
                        </a:lnTo>
                        <a:lnTo>
                          <a:pt x="1541" y="1871"/>
                        </a:lnTo>
                        <a:lnTo>
                          <a:pt x="1484" y="1933"/>
                        </a:lnTo>
                        <a:lnTo>
                          <a:pt x="1423" y="1990"/>
                        </a:lnTo>
                        <a:lnTo>
                          <a:pt x="1358" y="2042"/>
                        </a:lnTo>
                        <a:lnTo>
                          <a:pt x="1290" y="2086"/>
                        </a:lnTo>
                        <a:lnTo>
                          <a:pt x="1218" y="2122"/>
                        </a:lnTo>
                        <a:lnTo>
                          <a:pt x="1142" y="2152"/>
                        </a:lnTo>
                        <a:lnTo>
                          <a:pt x="1065" y="2174"/>
                        </a:lnTo>
                        <a:lnTo>
                          <a:pt x="984" y="2187"/>
                        </a:lnTo>
                        <a:lnTo>
                          <a:pt x="902" y="2191"/>
                        </a:lnTo>
                        <a:lnTo>
                          <a:pt x="820" y="2187"/>
                        </a:lnTo>
                        <a:lnTo>
                          <a:pt x="740" y="2174"/>
                        </a:lnTo>
                        <a:lnTo>
                          <a:pt x="663" y="2152"/>
                        </a:lnTo>
                        <a:lnTo>
                          <a:pt x="588" y="2122"/>
                        </a:lnTo>
                        <a:lnTo>
                          <a:pt x="516" y="2086"/>
                        </a:lnTo>
                        <a:lnTo>
                          <a:pt x="447" y="2042"/>
                        </a:lnTo>
                        <a:lnTo>
                          <a:pt x="383" y="1990"/>
                        </a:lnTo>
                        <a:lnTo>
                          <a:pt x="322" y="1933"/>
                        </a:lnTo>
                        <a:lnTo>
                          <a:pt x="265" y="1871"/>
                        </a:lnTo>
                        <a:lnTo>
                          <a:pt x="213" y="1802"/>
                        </a:lnTo>
                        <a:lnTo>
                          <a:pt x="166" y="1727"/>
                        </a:lnTo>
                        <a:lnTo>
                          <a:pt x="124" y="1648"/>
                        </a:lnTo>
                        <a:lnTo>
                          <a:pt x="87" y="1565"/>
                        </a:lnTo>
                        <a:lnTo>
                          <a:pt x="57" y="1478"/>
                        </a:lnTo>
                        <a:lnTo>
                          <a:pt x="33" y="1386"/>
                        </a:lnTo>
                        <a:lnTo>
                          <a:pt x="15" y="1292"/>
                        </a:lnTo>
                        <a:lnTo>
                          <a:pt x="4" y="1195"/>
                        </a:lnTo>
                        <a:lnTo>
                          <a:pt x="0" y="1096"/>
                        </a:lnTo>
                        <a:lnTo>
                          <a:pt x="1" y="1024"/>
                        </a:lnTo>
                        <a:lnTo>
                          <a:pt x="4" y="953"/>
                        </a:lnTo>
                        <a:lnTo>
                          <a:pt x="7" y="884"/>
                        </a:lnTo>
                        <a:lnTo>
                          <a:pt x="12" y="816"/>
                        </a:lnTo>
                        <a:lnTo>
                          <a:pt x="20" y="749"/>
                        </a:lnTo>
                        <a:lnTo>
                          <a:pt x="30" y="684"/>
                        </a:lnTo>
                        <a:lnTo>
                          <a:pt x="44" y="623"/>
                        </a:lnTo>
                        <a:lnTo>
                          <a:pt x="58" y="562"/>
                        </a:lnTo>
                        <a:lnTo>
                          <a:pt x="76" y="503"/>
                        </a:lnTo>
                        <a:lnTo>
                          <a:pt x="96" y="448"/>
                        </a:lnTo>
                        <a:lnTo>
                          <a:pt x="121" y="395"/>
                        </a:lnTo>
                        <a:lnTo>
                          <a:pt x="148" y="345"/>
                        </a:lnTo>
                        <a:lnTo>
                          <a:pt x="179" y="297"/>
                        </a:lnTo>
                        <a:lnTo>
                          <a:pt x="215" y="252"/>
                        </a:lnTo>
                        <a:lnTo>
                          <a:pt x="253" y="211"/>
                        </a:lnTo>
                        <a:lnTo>
                          <a:pt x="296" y="173"/>
                        </a:lnTo>
                        <a:lnTo>
                          <a:pt x="344" y="138"/>
                        </a:lnTo>
                        <a:lnTo>
                          <a:pt x="395" y="107"/>
                        </a:lnTo>
                        <a:lnTo>
                          <a:pt x="452" y="80"/>
                        </a:lnTo>
                        <a:lnTo>
                          <a:pt x="513" y="55"/>
                        </a:lnTo>
                        <a:lnTo>
                          <a:pt x="580" y="36"/>
                        </a:lnTo>
                        <a:lnTo>
                          <a:pt x="652" y="20"/>
                        </a:lnTo>
                        <a:lnTo>
                          <a:pt x="731" y="9"/>
                        </a:lnTo>
                        <a:lnTo>
                          <a:pt x="813" y="2"/>
                        </a:lnTo>
                        <a:lnTo>
                          <a:pt x="902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5192" tIns="47597" rIns="95192" bIns="4759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ES_tradnl" sz="1837" dirty="0">
                      <a:latin typeface="+mj-lt"/>
                    </a:endParaRPr>
                  </a:p>
                </p:txBody>
              </p:sp>
              <p:sp>
                <p:nvSpPr>
                  <p:cNvPr id="63" name="Freeform 125">
                    <a:extLst>
                      <a:ext uri="{FF2B5EF4-FFF2-40B4-BE49-F238E27FC236}">
                        <a16:creationId xmlns:a16="http://schemas.microsoft.com/office/drawing/2014/main" id="{552EAD66-0F4B-DB46-A24A-FF86895A908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4956175" y="5249863"/>
                    <a:ext cx="2705100" cy="1751013"/>
                  </a:xfrm>
                  <a:custGeom>
                    <a:avLst/>
                    <a:gdLst>
                      <a:gd name="T0" fmla="*/ 1218 w 3408"/>
                      <a:gd name="T1" fmla="*/ 9 h 2205"/>
                      <a:gd name="T2" fmla="*/ 1261 w 3408"/>
                      <a:gd name="T3" fmla="*/ 49 h 2205"/>
                      <a:gd name="T4" fmla="*/ 1344 w 3408"/>
                      <a:gd name="T5" fmla="*/ 103 h 2205"/>
                      <a:gd name="T6" fmla="*/ 1468 w 3408"/>
                      <a:gd name="T7" fmla="*/ 156 h 2205"/>
                      <a:gd name="T8" fmla="*/ 1637 w 3408"/>
                      <a:gd name="T9" fmla="*/ 186 h 2205"/>
                      <a:gd name="T10" fmla="*/ 1832 w 3408"/>
                      <a:gd name="T11" fmla="*/ 179 h 2205"/>
                      <a:gd name="T12" fmla="*/ 1985 w 3408"/>
                      <a:gd name="T13" fmla="*/ 140 h 2205"/>
                      <a:gd name="T14" fmla="*/ 2096 w 3408"/>
                      <a:gd name="T15" fmla="*/ 84 h 2205"/>
                      <a:gd name="T16" fmla="*/ 2166 w 3408"/>
                      <a:gd name="T17" fmla="*/ 32 h 2205"/>
                      <a:gd name="T18" fmla="*/ 2196 w 3408"/>
                      <a:gd name="T19" fmla="*/ 2 h 2205"/>
                      <a:gd name="T20" fmla="*/ 2443 w 3408"/>
                      <a:gd name="T21" fmla="*/ 50 h 2205"/>
                      <a:gd name="T22" fmla="*/ 2744 w 3408"/>
                      <a:gd name="T23" fmla="*/ 138 h 2205"/>
                      <a:gd name="T24" fmla="*/ 2975 w 3408"/>
                      <a:gd name="T25" fmla="*/ 249 h 2205"/>
                      <a:gd name="T26" fmla="*/ 3146 w 3408"/>
                      <a:gd name="T27" fmla="*/ 392 h 2205"/>
                      <a:gd name="T28" fmla="*/ 3264 w 3408"/>
                      <a:gd name="T29" fmla="*/ 573 h 2205"/>
                      <a:gd name="T30" fmla="*/ 3340 w 3408"/>
                      <a:gd name="T31" fmla="*/ 798 h 2205"/>
                      <a:gd name="T32" fmla="*/ 3384 w 3408"/>
                      <a:gd name="T33" fmla="*/ 1077 h 2205"/>
                      <a:gd name="T34" fmla="*/ 3403 w 3408"/>
                      <a:gd name="T35" fmla="*/ 1416 h 2205"/>
                      <a:gd name="T36" fmla="*/ 3407 w 3408"/>
                      <a:gd name="T37" fmla="*/ 1594 h 2205"/>
                      <a:gd name="T38" fmla="*/ 3407 w 3408"/>
                      <a:gd name="T39" fmla="*/ 1618 h 2205"/>
                      <a:gd name="T40" fmla="*/ 3408 w 3408"/>
                      <a:gd name="T41" fmla="*/ 1666 h 2205"/>
                      <a:gd name="T42" fmla="*/ 3404 w 3408"/>
                      <a:gd name="T43" fmla="*/ 1705 h 2205"/>
                      <a:gd name="T44" fmla="*/ 3384 w 3408"/>
                      <a:gd name="T45" fmla="*/ 1735 h 2205"/>
                      <a:gd name="T46" fmla="*/ 3341 w 3408"/>
                      <a:gd name="T47" fmla="*/ 1783 h 2205"/>
                      <a:gd name="T48" fmla="*/ 3270 w 3408"/>
                      <a:gd name="T49" fmla="*/ 1845 h 2205"/>
                      <a:gd name="T50" fmla="*/ 3166 w 3408"/>
                      <a:gd name="T51" fmla="*/ 1916 h 2205"/>
                      <a:gd name="T52" fmla="*/ 3024 w 3408"/>
                      <a:gd name="T53" fmla="*/ 1989 h 2205"/>
                      <a:gd name="T54" fmla="*/ 2839 w 3408"/>
                      <a:gd name="T55" fmla="*/ 2060 h 2205"/>
                      <a:gd name="T56" fmla="*/ 2604 w 3408"/>
                      <a:gd name="T57" fmla="*/ 2121 h 2205"/>
                      <a:gd name="T58" fmla="*/ 2316 w 3408"/>
                      <a:gd name="T59" fmla="*/ 2170 h 2205"/>
                      <a:gd name="T60" fmla="*/ 1970 w 3408"/>
                      <a:gd name="T61" fmla="*/ 2200 h 2205"/>
                      <a:gd name="T62" fmla="*/ 1567 w 3408"/>
                      <a:gd name="T63" fmla="*/ 2204 h 2205"/>
                      <a:gd name="T64" fmla="*/ 1199 w 3408"/>
                      <a:gd name="T65" fmla="*/ 2182 h 2205"/>
                      <a:gd name="T66" fmla="*/ 892 w 3408"/>
                      <a:gd name="T67" fmla="*/ 2140 h 2205"/>
                      <a:gd name="T68" fmla="*/ 641 w 3408"/>
                      <a:gd name="T69" fmla="*/ 2081 h 2205"/>
                      <a:gd name="T70" fmla="*/ 440 w 3408"/>
                      <a:gd name="T71" fmla="*/ 2012 h 2205"/>
                      <a:gd name="T72" fmla="*/ 284 w 3408"/>
                      <a:gd name="T73" fmla="*/ 1940 h 2205"/>
                      <a:gd name="T74" fmla="*/ 168 w 3408"/>
                      <a:gd name="T75" fmla="*/ 1868 h 2205"/>
                      <a:gd name="T76" fmla="*/ 87 w 3408"/>
                      <a:gd name="T77" fmla="*/ 1803 h 2205"/>
                      <a:gd name="T78" fmla="*/ 35 w 3408"/>
                      <a:gd name="T79" fmla="*/ 1749 h 2205"/>
                      <a:gd name="T80" fmla="*/ 8 w 3408"/>
                      <a:gd name="T81" fmla="*/ 1712 h 2205"/>
                      <a:gd name="T82" fmla="*/ 0 w 3408"/>
                      <a:gd name="T83" fmla="*/ 1700 h 2205"/>
                      <a:gd name="T84" fmla="*/ 0 w 3408"/>
                      <a:gd name="T85" fmla="*/ 1605 h 2205"/>
                      <a:gd name="T86" fmla="*/ 0 w 3408"/>
                      <a:gd name="T87" fmla="*/ 1593 h 2205"/>
                      <a:gd name="T88" fmla="*/ 1 w 3408"/>
                      <a:gd name="T89" fmla="*/ 1564 h 2205"/>
                      <a:gd name="T90" fmla="*/ 5 w 3408"/>
                      <a:gd name="T91" fmla="*/ 1386 h 2205"/>
                      <a:gd name="T92" fmla="*/ 26 w 3408"/>
                      <a:gd name="T93" fmla="*/ 1055 h 2205"/>
                      <a:gd name="T94" fmla="*/ 71 w 3408"/>
                      <a:gd name="T95" fmla="*/ 783 h 2205"/>
                      <a:gd name="T96" fmla="*/ 148 w 3408"/>
                      <a:gd name="T97" fmla="*/ 562 h 2205"/>
                      <a:gd name="T98" fmla="*/ 267 w 3408"/>
                      <a:gd name="T99" fmla="*/ 387 h 2205"/>
                      <a:gd name="T100" fmla="*/ 439 w 3408"/>
                      <a:gd name="T101" fmla="*/ 247 h 2205"/>
                      <a:gd name="T102" fmla="*/ 668 w 3408"/>
                      <a:gd name="T103" fmla="*/ 137 h 2205"/>
                      <a:gd name="T104" fmla="*/ 968 w 3408"/>
                      <a:gd name="T105" fmla="*/ 49 h 22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3408" h="2205">
                        <a:moveTo>
                          <a:pt x="1210" y="0"/>
                        </a:moveTo>
                        <a:lnTo>
                          <a:pt x="1211" y="2"/>
                        </a:lnTo>
                        <a:lnTo>
                          <a:pt x="1218" y="9"/>
                        </a:lnTo>
                        <a:lnTo>
                          <a:pt x="1227" y="19"/>
                        </a:lnTo>
                        <a:lnTo>
                          <a:pt x="1242" y="32"/>
                        </a:lnTo>
                        <a:lnTo>
                          <a:pt x="1261" y="49"/>
                        </a:lnTo>
                        <a:lnTo>
                          <a:pt x="1284" y="66"/>
                        </a:lnTo>
                        <a:lnTo>
                          <a:pt x="1312" y="84"/>
                        </a:lnTo>
                        <a:lnTo>
                          <a:pt x="1344" y="103"/>
                        </a:lnTo>
                        <a:lnTo>
                          <a:pt x="1381" y="122"/>
                        </a:lnTo>
                        <a:lnTo>
                          <a:pt x="1422" y="140"/>
                        </a:lnTo>
                        <a:lnTo>
                          <a:pt x="1468" y="156"/>
                        </a:lnTo>
                        <a:lnTo>
                          <a:pt x="1519" y="169"/>
                        </a:lnTo>
                        <a:lnTo>
                          <a:pt x="1576" y="179"/>
                        </a:lnTo>
                        <a:lnTo>
                          <a:pt x="1637" y="186"/>
                        </a:lnTo>
                        <a:lnTo>
                          <a:pt x="1703" y="188"/>
                        </a:lnTo>
                        <a:lnTo>
                          <a:pt x="1771" y="186"/>
                        </a:lnTo>
                        <a:lnTo>
                          <a:pt x="1832" y="179"/>
                        </a:lnTo>
                        <a:lnTo>
                          <a:pt x="1887" y="169"/>
                        </a:lnTo>
                        <a:lnTo>
                          <a:pt x="1939" y="156"/>
                        </a:lnTo>
                        <a:lnTo>
                          <a:pt x="1985" y="140"/>
                        </a:lnTo>
                        <a:lnTo>
                          <a:pt x="2027" y="122"/>
                        </a:lnTo>
                        <a:lnTo>
                          <a:pt x="2064" y="103"/>
                        </a:lnTo>
                        <a:lnTo>
                          <a:pt x="2096" y="84"/>
                        </a:lnTo>
                        <a:lnTo>
                          <a:pt x="2124" y="66"/>
                        </a:lnTo>
                        <a:lnTo>
                          <a:pt x="2147" y="49"/>
                        </a:lnTo>
                        <a:lnTo>
                          <a:pt x="2166" y="32"/>
                        </a:lnTo>
                        <a:lnTo>
                          <a:pt x="2179" y="19"/>
                        </a:lnTo>
                        <a:lnTo>
                          <a:pt x="2190" y="9"/>
                        </a:lnTo>
                        <a:lnTo>
                          <a:pt x="2196" y="2"/>
                        </a:lnTo>
                        <a:lnTo>
                          <a:pt x="2198" y="0"/>
                        </a:lnTo>
                        <a:lnTo>
                          <a:pt x="2325" y="24"/>
                        </a:lnTo>
                        <a:lnTo>
                          <a:pt x="2443" y="50"/>
                        </a:lnTo>
                        <a:lnTo>
                          <a:pt x="2551" y="77"/>
                        </a:lnTo>
                        <a:lnTo>
                          <a:pt x="2652" y="107"/>
                        </a:lnTo>
                        <a:lnTo>
                          <a:pt x="2744" y="138"/>
                        </a:lnTo>
                        <a:lnTo>
                          <a:pt x="2828" y="172"/>
                        </a:lnTo>
                        <a:lnTo>
                          <a:pt x="2906" y="210"/>
                        </a:lnTo>
                        <a:lnTo>
                          <a:pt x="2975" y="249"/>
                        </a:lnTo>
                        <a:lnTo>
                          <a:pt x="3039" y="294"/>
                        </a:lnTo>
                        <a:lnTo>
                          <a:pt x="3096" y="340"/>
                        </a:lnTo>
                        <a:lnTo>
                          <a:pt x="3146" y="392"/>
                        </a:lnTo>
                        <a:lnTo>
                          <a:pt x="3191" y="448"/>
                        </a:lnTo>
                        <a:lnTo>
                          <a:pt x="3230" y="508"/>
                        </a:lnTo>
                        <a:lnTo>
                          <a:pt x="3264" y="573"/>
                        </a:lnTo>
                        <a:lnTo>
                          <a:pt x="3294" y="642"/>
                        </a:lnTo>
                        <a:lnTo>
                          <a:pt x="3320" y="718"/>
                        </a:lnTo>
                        <a:lnTo>
                          <a:pt x="3340" y="798"/>
                        </a:lnTo>
                        <a:lnTo>
                          <a:pt x="3358" y="885"/>
                        </a:lnTo>
                        <a:lnTo>
                          <a:pt x="3373" y="977"/>
                        </a:lnTo>
                        <a:lnTo>
                          <a:pt x="3384" y="1077"/>
                        </a:lnTo>
                        <a:lnTo>
                          <a:pt x="3392" y="1182"/>
                        </a:lnTo>
                        <a:lnTo>
                          <a:pt x="3398" y="1297"/>
                        </a:lnTo>
                        <a:lnTo>
                          <a:pt x="3403" y="1416"/>
                        </a:lnTo>
                        <a:lnTo>
                          <a:pt x="3405" y="1544"/>
                        </a:lnTo>
                        <a:lnTo>
                          <a:pt x="3407" y="1574"/>
                        </a:lnTo>
                        <a:lnTo>
                          <a:pt x="3407" y="1594"/>
                        </a:lnTo>
                        <a:lnTo>
                          <a:pt x="3407" y="1609"/>
                        </a:lnTo>
                        <a:lnTo>
                          <a:pt x="3407" y="1616"/>
                        </a:lnTo>
                        <a:lnTo>
                          <a:pt x="3407" y="1618"/>
                        </a:lnTo>
                        <a:lnTo>
                          <a:pt x="3408" y="1617"/>
                        </a:lnTo>
                        <a:lnTo>
                          <a:pt x="3408" y="1639"/>
                        </a:lnTo>
                        <a:lnTo>
                          <a:pt x="3408" y="1666"/>
                        </a:lnTo>
                        <a:lnTo>
                          <a:pt x="3408" y="1700"/>
                        </a:lnTo>
                        <a:lnTo>
                          <a:pt x="3407" y="1701"/>
                        </a:lnTo>
                        <a:lnTo>
                          <a:pt x="3404" y="1705"/>
                        </a:lnTo>
                        <a:lnTo>
                          <a:pt x="3400" y="1712"/>
                        </a:lnTo>
                        <a:lnTo>
                          <a:pt x="3393" y="1723"/>
                        </a:lnTo>
                        <a:lnTo>
                          <a:pt x="3384" y="1735"/>
                        </a:lnTo>
                        <a:lnTo>
                          <a:pt x="3373" y="1749"/>
                        </a:lnTo>
                        <a:lnTo>
                          <a:pt x="3358" y="1765"/>
                        </a:lnTo>
                        <a:lnTo>
                          <a:pt x="3341" y="1783"/>
                        </a:lnTo>
                        <a:lnTo>
                          <a:pt x="3321" y="1803"/>
                        </a:lnTo>
                        <a:lnTo>
                          <a:pt x="3297" y="1823"/>
                        </a:lnTo>
                        <a:lnTo>
                          <a:pt x="3270" y="1845"/>
                        </a:lnTo>
                        <a:lnTo>
                          <a:pt x="3240" y="1868"/>
                        </a:lnTo>
                        <a:lnTo>
                          <a:pt x="3204" y="1891"/>
                        </a:lnTo>
                        <a:lnTo>
                          <a:pt x="3166" y="1916"/>
                        </a:lnTo>
                        <a:lnTo>
                          <a:pt x="3123" y="1940"/>
                        </a:lnTo>
                        <a:lnTo>
                          <a:pt x="3077" y="1965"/>
                        </a:lnTo>
                        <a:lnTo>
                          <a:pt x="3024" y="1989"/>
                        </a:lnTo>
                        <a:lnTo>
                          <a:pt x="2968" y="2012"/>
                        </a:lnTo>
                        <a:lnTo>
                          <a:pt x="2906" y="2037"/>
                        </a:lnTo>
                        <a:lnTo>
                          <a:pt x="2839" y="2060"/>
                        </a:lnTo>
                        <a:lnTo>
                          <a:pt x="2766" y="2081"/>
                        </a:lnTo>
                        <a:lnTo>
                          <a:pt x="2688" y="2102"/>
                        </a:lnTo>
                        <a:lnTo>
                          <a:pt x="2604" y="2121"/>
                        </a:lnTo>
                        <a:lnTo>
                          <a:pt x="2515" y="2140"/>
                        </a:lnTo>
                        <a:lnTo>
                          <a:pt x="2420" y="2156"/>
                        </a:lnTo>
                        <a:lnTo>
                          <a:pt x="2316" y="2170"/>
                        </a:lnTo>
                        <a:lnTo>
                          <a:pt x="2208" y="2182"/>
                        </a:lnTo>
                        <a:lnTo>
                          <a:pt x="2092" y="2191"/>
                        </a:lnTo>
                        <a:lnTo>
                          <a:pt x="1970" y="2200"/>
                        </a:lnTo>
                        <a:lnTo>
                          <a:pt x="1841" y="2204"/>
                        </a:lnTo>
                        <a:lnTo>
                          <a:pt x="1703" y="2205"/>
                        </a:lnTo>
                        <a:lnTo>
                          <a:pt x="1567" y="2204"/>
                        </a:lnTo>
                        <a:lnTo>
                          <a:pt x="1438" y="2200"/>
                        </a:lnTo>
                        <a:lnTo>
                          <a:pt x="1314" y="2191"/>
                        </a:lnTo>
                        <a:lnTo>
                          <a:pt x="1199" y="2182"/>
                        </a:lnTo>
                        <a:lnTo>
                          <a:pt x="1090" y="2170"/>
                        </a:lnTo>
                        <a:lnTo>
                          <a:pt x="988" y="2156"/>
                        </a:lnTo>
                        <a:lnTo>
                          <a:pt x="892" y="2140"/>
                        </a:lnTo>
                        <a:lnTo>
                          <a:pt x="802" y="2121"/>
                        </a:lnTo>
                        <a:lnTo>
                          <a:pt x="720" y="2102"/>
                        </a:lnTo>
                        <a:lnTo>
                          <a:pt x="641" y="2081"/>
                        </a:lnTo>
                        <a:lnTo>
                          <a:pt x="569" y="2060"/>
                        </a:lnTo>
                        <a:lnTo>
                          <a:pt x="502" y="2037"/>
                        </a:lnTo>
                        <a:lnTo>
                          <a:pt x="440" y="2012"/>
                        </a:lnTo>
                        <a:lnTo>
                          <a:pt x="383" y="1989"/>
                        </a:lnTo>
                        <a:lnTo>
                          <a:pt x="331" y="1965"/>
                        </a:lnTo>
                        <a:lnTo>
                          <a:pt x="284" y="1940"/>
                        </a:lnTo>
                        <a:lnTo>
                          <a:pt x="242" y="1916"/>
                        </a:lnTo>
                        <a:lnTo>
                          <a:pt x="202" y="1891"/>
                        </a:lnTo>
                        <a:lnTo>
                          <a:pt x="168" y="1868"/>
                        </a:lnTo>
                        <a:lnTo>
                          <a:pt x="137" y="1845"/>
                        </a:lnTo>
                        <a:lnTo>
                          <a:pt x="110" y="1823"/>
                        </a:lnTo>
                        <a:lnTo>
                          <a:pt x="87" y="1803"/>
                        </a:lnTo>
                        <a:lnTo>
                          <a:pt x="67" y="1783"/>
                        </a:lnTo>
                        <a:lnTo>
                          <a:pt x="49" y="1765"/>
                        </a:lnTo>
                        <a:lnTo>
                          <a:pt x="35" y="1749"/>
                        </a:lnTo>
                        <a:lnTo>
                          <a:pt x="23" y="1735"/>
                        </a:lnTo>
                        <a:lnTo>
                          <a:pt x="15" y="1723"/>
                        </a:lnTo>
                        <a:lnTo>
                          <a:pt x="8" y="1712"/>
                        </a:lnTo>
                        <a:lnTo>
                          <a:pt x="4" y="1705"/>
                        </a:lnTo>
                        <a:lnTo>
                          <a:pt x="1" y="1701"/>
                        </a:lnTo>
                        <a:lnTo>
                          <a:pt x="0" y="1700"/>
                        </a:lnTo>
                        <a:lnTo>
                          <a:pt x="0" y="1659"/>
                        </a:lnTo>
                        <a:lnTo>
                          <a:pt x="0" y="1629"/>
                        </a:lnTo>
                        <a:lnTo>
                          <a:pt x="0" y="1605"/>
                        </a:lnTo>
                        <a:lnTo>
                          <a:pt x="0" y="1588"/>
                        </a:lnTo>
                        <a:lnTo>
                          <a:pt x="0" y="1591"/>
                        </a:lnTo>
                        <a:lnTo>
                          <a:pt x="0" y="1593"/>
                        </a:lnTo>
                        <a:lnTo>
                          <a:pt x="0" y="1588"/>
                        </a:lnTo>
                        <a:lnTo>
                          <a:pt x="1" y="1579"/>
                        </a:lnTo>
                        <a:lnTo>
                          <a:pt x="1" y="1564"/>
                        </a:lnTo>
                        <a:lnTo>
                          <a:pt x="1" y="1541"/>
                        </a:lnTo>
                        <a:lnTo>
                          <a:pt x="3" y="1510"/>
                        </a:lnTo>
                        <a:lnTo>
                          <a:pt x="5" y="1386"/>
                        </a:lnTo>
                        <a:lnTo>
                          <a:pt x="11" y="1268"/>
                        </a:lnTo>
                        <a:lnTo>
                          <a:pt x="18" y="1158"/>
                        </a:lnTo>
                        <a:lnTo>
                          <a:pt x="26" y="1055"/>
                        </a:lnTo>
                        <a:lnTo>
                          <a:pt x="38" y="958"/>
                        </a:lnTo>
                        <a:lnTo>
                          <a:pt x="53" y="867"/>
                        </a:lnTo>
                        <a:lnTo>
                          <a:pt x="71" y="783"/>
                        </a:lnTo>
                        <a:lnTo>
                          <a:pt x="92" y="704"/>
                        </a:lnTo>
                        <a:lnTo>
                          <a:pt x="118" y="631"/>
                        </a:lnTo>
                        <a:lnTo>
                          <a:pt x="148" y="562"/>
                        </a:lnTo>
                        <a:lnTo>
                          <a:pt x="183" y="499"/>
                        </a:lnTo>
                        <a:lnTo>
                          <a:pt x="223" y="441"/>
                        </a:lnTo>
                        <a:lnTo>
                          <a:pt x="267" y="387"/>
                        </a:lnTo>
                        <a:lnTo>
                          <a:pt x="318" y="336"/>
                        </a:lnTo>
                        <a:lnTo>
                          <a:pt x="375" y="289"/>
                        </a:lnTo>
                        <a:lnTo>
                          <a:pt x="439" y="247"/>
                        </a:lnTo>
                        <a:lnTo>
                          <a:pt x="508" y="207"/>
                        </a:lnTo>
                        <a:lnTo>
                          <a:pt x="584" y="171"/>
                        </a:lnTo>
                        <a:lnTo>
                          <a:pt x="668" y="137"/>
                        </a:lnTo>
                        <a:lnTo>
                          <a:pt x="760" y="106"/>
                        </a:lnTo>
                        <a:lnTo>
                          <a:pt x="859" y="76"/>
                        </a:lnTo>
                        <a:lnTo>
                          <a:pt x="968" y="49"/>
                        </a:lnTo>
                        <a:lnTo>
                          <a:pt x="1083" y="24"/>
                        </a:lnTo>
                        <a:lnTo>
                          <a:pt x="1210" y="0"/>
                        </a:lnTo>
                        <a:close/>
                      </a:path>
                    </a:pathLst>
                  </a:custGeom>
                  <a:grpFill/>
                  <a:ln w="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5192" tIns="47597" rIns="95192" bIns="4759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ES_tradnl" sz="1837" dirty="0">
                      <a:latin typeface="+mj-lt"/>
                    </a:endParaRPr>
                  </a:p>
                </p:txBody>
              </p:sp>
            </p:grpSp>
          </p:grp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615133C-6764-4304-A5A3-5FC23F2BF336}"/>
              </a:ext>
            </a:extLst>
          </p:cNvPr>
          <p:cNvGrpSpPr/>
          <p:nvPr/>
        </p:nvGrpSpPr>
        <p:grpSpPr>
          <a:xfrm>
            <a:off x="636852" y="2124607"/>
            <a:ext cx="11000412" cy="753664"/>
            <a:chOff x="636852" y="2190944"/>
            <a:chExt cx="11000412" cy="75366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AA2636B-4C5A-D54B-835F-20FDC79300F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516130" y="2190944"/>
              <a:ext cx="528745" cy="441830"/>
              <a:chOff x="6393175" y="1569828"/>
              <a:chExt cx="765067" cy="710414"/>
            </a:xfrm>
            <a:noFill/>
          </p:grpSpPr>
          <p:sp>
            <p:nvSpPr>
              <p:cNvPr id="27" name="Rectangle 151">
                <a:extLst>
                  <a:ext uri="{FF2B5EF4-FFF2-40B4-BE49-F238E27FC236}">
                    <a16:creationId xmlns:a16="http://schemas.microsoft.com/office/drawing/2014/main" id="{125070FA-875B-4C4C-BD86-3900A7FD59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85930" y="1569828"/>
                <a:ext cx="80020" cy="78067"/>
              </a:xfrm>
              <a:prstGeom prst="rect">
                <a:avLst/>
              </a:prstGeom>
              <a:grpFill/>
              <a:ln w="0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5192" tIns="47597" rIns="95192" bIns="47597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_tradnl" sz="1837" dirty="0">
                  <a:latin typeface="+mj-lt"/>
                </a:endParaRPr>
              </a:p>
            </p:txBody>
          </p:sp>
          <p:sp>
            <p:nvSpPr>
              <p:cNvPr id="28" name="Rectangle 152">
                <a:extLst>
                  <a:ext uri="{FF2B5EF4-FFF2-40B4-BE49-F238E27FC236}">
                    <a16:creationId xmlns:a16="http://schemas.microsoft.com/office/drawing/2014/main" id="{E2DDBFBF-BEF4-D048-B488-FC5CF2AA6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96151" y="1679122"/>
                <a:ext cx="48793" cy="46840"/>
              </a:xfrm>
              <a:prstGeom prst="rect">
                <a:avLst/>
              </a:prstGeom>
              <a:grpFill/>
              <a:ln w="0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5192" tIns="47597" rIns="95192" bIns="47597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_tradnl" sz="1837" dirty="0">
                  <a:latin typeface="+mj-lt"/>
                </a:endParaRPr>
              </a:p>
            </p:txBody>
          </p:sp>
          <p:sp>
            <p:nvSpPr>
              <p:cNvPr id="29" name="Freeform 153">
                <a:extLst>
                  <a:ext uri="{FF2B5EF4-FFF2-40B4-BE49-F238E27FC236}">
                    <a16:creationId xmlns:a16="http://schemas.microsoft.com/office/drawing/2014/main" id="{7E2A4CCA-7A7C-A744-B242-0721D31DC5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3031" y="1614716"/>
                <a:ext cx="158088" cy="156134"/>
              </a:xfrm>
              <a:custGeom>
                <a:avLst/>
                <a:gdLst>
                  <a:gd name="T0" fmla="*/ 0 w 724"/>
                  <a:gd name="T1" fmla="*/ 0 h 724"/>
                  <a:gd name="T2" fmla="*/ 724 w 724"/>
                  <a:gd name="T3" fmla="*/ 0 h 724"/>
                  <a:gd name="T4" fmla="*/ 724 w 724"/>
                  <a:gd name="T5" fmla="*/ 434 h 724"/>
                  <a:gd name="T6" fmla="*/ 434 w 724"/>
                  <a:gd name="T7" fmla="*/ 434 h 724"/>
                  <a:gd name="T8" fmla="*/ 434 w 724"/>
                  <a:gd name="T9" fmla="*/ 724 h 724"/>
                  <a:gd name="T10" fmla="*/ 0 w 724"/>
                  <a:gd name="T11" fmla="*/ 724 h 724"/>
                  <a:gd name="T12" fmla="*/ 0 w 724"/>
                  <a:gd name="T13" fmla="*/ 0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4" h="724">
                    <a:moveTo>
                      <a:pt x="0" y="0"/>
                    </a:moveTo>
                    <a:lnTo>
                      <a:pt x="724" y="0"/>
                    </a:lnTo>
                    <a:lnTo>
                      <a:pt x="724" y="434"/>
                    </a:lnTo>
                    <a:lnTo>
                      <a:pt x="434" y="434"/>
                    </a:lnTo>
                    <a:lnTo>
                      <a:pt x="434" y="724"/>
                    </a:lnTo>
                    <a:lnTo>
                      <a:pt x="0" y="72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5192" tIns="47597" rIns="95192" bIns="47597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_tradnl" sz="1837" dirty="0">
                  <a:latin typeface="+mj-lt"/>
                </a:endParaRPr>
              </a:p>
            </p:txBody>
          </p:sp>
          <p:sp>
            <p:nvSpPr>
              <p:cNvPr id="30" name="Freeform 154">
                <a:extLst>
                  <a:ext uri="{FF2B5EF4-FFF2-40B4-BE49-F238E27FC236}">
                    <a16:creationId xmlns:a16="http://schemas.microsoft.com/office/drawing/2014/main" id="{CA5826CF-2B0A-BF42-9222-BFD503AA3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18183" y="1729866"/>
                <a:ext cx="240059" cy="240058"/>
              </a:xfrm>
              <a:custGeom>
                <a:avLst/>
                <a:gdLst>
                  <a:gd name="T0" fmla="*/ 0 w 1107"/>
                  <a:gd name="T1" fmla="*/ 0 h 1108"/>
                  <a:gd name="T2" fmla="*/ 1107 w 1107"/>
                  <a:gd name="T3" fmla="*/ 0 h 1108"/>
                  <a:gd name="T4" fmla="*/ 1107 w 1107"/>
                  <a:gd name="T5" fmla="*/ 1108 h 1108"/>
                  <a:gd name="T6" fmla="*/ 393 w 1107"/>
                  <a:gd name="T7" fmla="*/ 1108 h 1108"/>
                  <a:gd name="T8" fmla="*/ 393 w 1107"/>
                  <a:gd name="T9" fmla="*/ 753 h 1108"/>
                  <a:gd name="T10" fmla="*/ 0 w 1107"/>
                  <a:gd name="T11" fmla="*/ 753 h 1108"/>
                  <a:gd name="T12" fmla="*/ 0 w 1107"/>
                  <a:gd name="T13" fmla="*/ 0 h 1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07" h="1108">
                    <a:moveTo>
                      <a:pt x="0" y="0"/>
                    </a:moveTo>
                    <a:lnTo>
                      <a:pt x="1107" y="0"/>
                    </a:lnTo>
                    <a:lnTo>
                      <a:pt x="1107" y="1108"/>
                    </a:lnTo>
                    <a:lnTo>
                      <a:pt x="393" y="1108"/>
                    </a:lnTo>
                    <a:lnTo>
                      <a:pt x="393" y="753"/>
                    </a:lnTo>
                    <a:lnTo>
                      <a:pt x="0" y="75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5192" tIns="47597" rIns="95192" bIns="47597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_tradnl" sz="1837" dirty="0">
                  <a:latin typeface="+mj-lt"/>
                </a:endParaRPr>
              </a:p>
            </p:txBody>
          </p:sp>
          <p:sp>
            <p:nvSpPr>
              <p:cNvPr id="31" name="Freeform 155">
                <a:extLst>
                  <a:ext uri="{FF2B5EF4-FFF2-40B4-BE49-F238E27FC236}">
                    <a16:creationId xmlns:a16="http://schemas.microsoft.com/office/drawing/2014/main" id="{712AB00F-D27E-4D49-9D98-32B06186E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3175" y="1761093"/>
                <a:ext cx="292755" cy="294705"/>
              </a:xfrm>
              <a:custGeom>
                <a:avLst/>
                <a:gdLst>
                  <a:gd name="T0" fmla="*/ 0 w 1353"/>
                  <a:gd name="T1" fmla="*/ 0 h 1354"/>
                  <a:gd name="T2" fmla="*/ 1353 w 1353"/>
                  <a:gd name="T3" fmla="*/ 0 h 1354"/>
                  <a:gd name="T4" fmla="*/ 1353 w 1353"/>
                  <a:gd name="T5" fmla="*/ 604 h 1354"/>
                  <a:gd name="T6" fmla="*/ 808 w 1353"/>
                  <a:gd name="T7" fmla="*/ 604 h 1354"/>
                  <a:gd name="T8" fmla="*/ 808 w 1353"/>
                  <a:gd name="T9" fmla="*/ 1354 h 1354"/>
                  <a:gd name="T10" fmla="*/ 0 w 1353"/>
                  <a:gd name="T11" fmla="*/ 1354 h 1354"/>
                  <a:gd name="T12" fmla="*/ 0 w 1353"/>
                  <a:gd name="T13" fmla="*/ 0 h 1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3" h="1354">
                    <a:moveTo>
                      <a:pt x="0" y="0"/>
                    </a:moveTo>
                    <a:lnTo>
                      <a:pt x="1353" y="0"/>
                    </a:lnTo>
                    <a:lnTo>
                      <a:pt x="1353" y="604"/>
                    </a:lnTo>
                    <a:lnTo>
                      <a:pt x="808" y="604"/>
                    </a:lnTo>
                    <a:lnTo>
                      <a:pt x="808" y="1354"/>
                    </a:lnTo>
                    <a:lnTo>
                      <a:pt x="0" y="135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5192" tIns="47597" rIns="95192" bIns="47597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_tradnl" sz="1837" dirty="0">
                  <a:latin typeface="+mj-lt"/>
                </a:endParaRPr>
              </a:p>
            </p:txBody>
          </p:sp>
          <p:sp>
            <p:nvSpPr>
              <p:cNvPr id="32" name="Rectangle 156">
                <a:extLst>
                  <a:ext uri="{FF2B5EF4-FFF2-40B4-BE49-F238E27FC236}">
                    <a16:creationId xmlns:a16="http://schemas.microsoft.com/office/drawing/2014/main" id="{92DAF850-AF1E-4445-AF0C-17B03F96B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17621" y="1940648"/>
                <a:ext cx="337644" cy="339594"/>
              </a:xfrm>
              <a:prstGeom prst="rect">
                <a:avLst/>
              </a:prstGeom>
              <a:grpFill/>
              <a:ln w="0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5192" tIns="47597" rIns="95192" bIns="47597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_tradnl" sz="1837" dirty="0">
                  <a:latin typeface="+mj-lt"/>
                </a:endParaRPr>
              </a:p>
            </p:txBody>
          </p:sp>
        </p:grpSp>
        <p:pic>
          <p:nvPicPr>
            <p:cNvPr id="161" name="Picture 160">
              <a:extLst>
                <a:ext uri="{FF2B5EF4-FFF2-40B4-BE49-F238E27FC236}">
                  <a16:creationId xmlns:a16="http://schemas.microsoft.com/office/drawing/2014/main" id="{132ABB81-1290-7E48-B459-B1B6B41F43B6}"/>
                </a:ext>
              </a:extLst>
            </p:cNvPr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488697" y="2190944"/>
              <a:ext cx="1148567" cy="753664"/>
            </a:xfrm>
            <a:prstGeom prst="rect">
              <a:avLst/>
            </a:prstGeom>
            <a:ln w="6350">
              <a:solidFill>
                <a:srgbClr val="D0D0D0"/>
              </a:solidFill>
            </a:ln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DAD5A57-8353-40F9-B0BE-63FA5E0D08C3}"/>
                </a:ext>
              </a:extLst>
            </p:cNvPr>
            <p:cNvSpPr txBox="1"/>
            <p:nvPr/>
          </p:nvSpPr>
          <p:spPr>
            <a:xfrm>
              <a:off x="1329505" y="2190944"/>
              <a:ext cx="3909245" cy="64633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lvl="5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lvl="6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lvl="7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lvl="8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>
                  <a:latin typeface="Arial" panose="020B0604020202020204" pitchFamily="34" charset="0"/>
                </a:rPr>
                <a:t>Defines data entities by domain and the relationships between them </a:t>
              </a:r>
              <a:r>
                <a:rPr lang="en-US" sz="1400" dirty="0">
                  <a:latin typeface="Arial" panose="020B0604020202020204" pitchFamily="34" charset="0"/>
                </a:rPr>
                <a:t>(E.g.  customers, accounts, etc.) 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F1F3F3C-C15F-4F46-B32B-0FA60FED7AF0}"/>
                </a:ext>
              </a:extLst>
            </p:cNvPr>
            <p:cNvSpPr txBox="1"/>
            <p:nvPr/>
          </p:nvSpPr>
          <p:spPr>
            <a:xfrm>
              <a:off x="7396901" y="2190944"/>
              <a:ext cx="2996838" cy="64633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lvl="5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lvl="6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lvl="7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lvl="8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>
                  <a:latin typeface="Arial" panose="020B0604020202020204" pitchFamily="34" charset="0"/>
                </a:rPr>
                <a:t>Phase 1: Conceptual Level </a:t>
              </a:r>
              <a:r>
                <a:rPr lang="en-US" sz="1400" dirty="0">
                  <a:latin typeface="Arial" panose="020B0604020202020204" pitchFamily="34" charset="0"/>
                </a:rPr>
                <a:t>(Domain-level data entities and relationships only) </a:t>
              </a:r>
            </a:p>
          </p:txBody>
        </p:sp>
        <p:pic>
          <p:nvPicPr>
            <p:cNvPr id="121" name="CustomIcon">
              <a:extLst>
                <a:ext uri="{FF2B5EF4-FFF2-40B4-BE49-F238E27FC236}">
                  <a16:creationId xmlns:a16="http://schemas.microsoft.com/office/drawing/2014/main" id="{81EE9FDC-B62C-4A4A-B89F-38396AF73821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9">
              <a:extLst>
                <a:ext uri="{96DAC541-7B7A-43D3-8B79-37D633B846F1}">
                  <asvg:svgBlip xmlns=""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36852" y="2190944"/>
              <a:ext cx="416365" cy="416365"/>
            </a:xfrm>
            <a:prstGeom prst="rect">
              <a:avLst/>
            </a:prstGeom>
          </p:spPr>
        </p:pic>
      </p:grpSp>
      <p:grpSp>
        <p:nvGrpSpPr>
          <p:cNvPr id="131" name="ChevronBlue 40">
            <a:extLst>
              <a:ext uri="{FF2B5EF4-FFF2-40B4-BE49-F238E27FC236}">
                <a16:creationId xmlns:a16="http://schemas.microsoft.com/office/drawing/2014/main" id="{97077795-E88E-405D-B867-ED6AD0884F9B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5713710" y="1690614"/>
            <a:ext cx="327461" cy="327461"/>
            <a:chOff x="1016000" y="1016000"/>
            <a:chExt cx="396228" cy="396228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B2B97AFF-D78C-4D8E-A126-07DCF4AE613B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D6E8DF04-933F-4C6C-8723-65D96CC87C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567" y="1118521"/>
              <a:ext cx="103571" cy="195256"/>
            </a:xfrm>
            <a:custGeom>
              <a:avLst/>
              <a:gdLst/>
              <a:ahLst/>
              <a:cxnLst/>
              <a:rect l="0" t="0" r="0" b="0"/>
              <a:pathLst>
                <a:path w="103601" h="195312">
                  <a:moveTo>
                    <a:pt x="9358" y="193790"/>
                  </a:moveTo>
                  <a:lnTo>
                    <a:pt x="101575" y="101574"/>
                  </a:lnTo>
                  <a:lnTo>
                    <a:pt x="103600" y="99549"/>
                  </a:lnTo>
                  <a:lnTo>
                    <a:pt x="103600" y="96266"/>
                  </a:lnTo>
                  <a:lnTo>
                    <a:pt x="101575" y="94241"/>
                  </a:lnTo>
                  <a:lnTo>
                    <a:pt x="9358" y="2025"/>
                  </a:lnTo>
                  <a:lnTo>
                    <a:pt x="7332" y="0"/>
                  </a:lnTo>
                  <a:lnTo>
                    <a:pt x="4049" y="0"/>
                  </a:lnTo>
                  <a:lnTo>
                    <a:pt x="2026" y="2025"/>
                  </a:lnTo>
                  <a:lnTo>
                    <a:pt x="0" y="4048"/>
                  </a:lnTo>
                  <a:lnTo>
                    <a:pt x="0" y="7331"/>
                  </a:lnTo>
                  <a:lnTo>
                    <a:pt x="2026" y="9357"/>
                  </a:lnTo>
                  <a:lnTo>
                    <a:pt x="90576" y="97907"/>
                  </a:lnTo>
                  <a:lnTo>
                    <a:pt x="2026" y="186459"/>
                  </a:lnTo>
                  <a:lnTo>
                    <a:pt x="0" y="188483"/>
                  </a:lnTo>
                  <a:lnTo>
                    <a:pt x="0" y="191766"/>
                  </a:lnTo>
                  <a:lnTo>
                    <a:pt x="2026" y="193790"/>
                  </a:lnTo>
                  <a:lnTo>
                    <a:pt x="3040" y="194805"/>
                  </a:lnTo>
                  <a:lnTo>
                    <a:pt x="4366" y="195311"/>
                  </a:lnTo>
                  <a:lnTo>
                    <a:pt x="5692" y="195311"/>
                  </a:lnTo>
                  <a:lnTo>
                    <a:pt x="7017" y="195311"/>
                  </a:lnTo>
                  <a:lnTo>
                    <a:pt x="8348" y="194805"/>
                  </a:lnTo>
                  <a:close/>
                </a:path>
              </a:pathLst>
            </a:cu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2. Slide Title">
            <a:extLst>
              <a:ext uri="{FF2B5EF4-FFF2-40B4-BE49-F238E27FC236}">
                <a16:creationId xmlns:a16="http://schemas.microsoft.com/office/drawing/2014/main" id="{A5E00389-0103-DE44-8DBB-3AC33E103E9A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an Enterprise Data Model requires 3 phases of data modeling: conceptual, logical and physical</a:t>
            </a:r>
          </a:p>
        </p:txBody>
      </p:sp>
    </p:spTree>
    <p:extLst>
      <p:ext uri="{BB962C8B-B14F-4D97-AF65-F5344CB8AC3E}">
        <p14:creationId xmlns:p14="http://schemas.microsoft.com/office/powerpoint/2010/main" val="3700756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2fV5MrUMO0UGH5FUHiGmQ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2IiKleSfp7wqHA9oSpbZg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0"/>
  <p:tag name="2LEVEL" val="5"/>
  <p:tag name="3LEVEL" val="2.5"/>
  <p:tag name="4LEVEL" val="1.25"/>
  <p:tag name="5LEVEL" val="0.62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0"/>
  <p:tag name="2LEVEL" val="5"/>
  <p:tag name="3LEVEL" val="2.5"/>
  <p:tag name="4LEVEL" val="1.25"/>
  <p:tag name="5LEVEL" val="0.62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0"/>
  <p:tag name="2LEVEL" val="5"/>
  <p:tag name="3LEVEL" val="2.5"/>
  <p:tag name="4LEVEL" val="1.25"/>
  <p:tag name="5LEVEL" val="0.62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ThreeChevron"/>
  <p:tag name="CIRCLESTATUS" val="Blue"/>
  <p:tag name="NAME" val="ThreeChevronBlu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qMw5ev6whuIj4po.aW0Wg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W1bde1rqkOrYkvEutVTFw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W1bde1rqkOrYkvEutVTFw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W1bde1rqkOrYkvEutVTFw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eader2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eader2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W1bde1rqkOrYkvEutVTFw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W1bde1rqkOrYkvEutVTFw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7I09Lel_EqJXDr_ZyHhNQ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NeUi.mSXC13XTf975Sjw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Blue"/>
  <p:tag name="NAME" val="ChevronBlu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LEFT" val="-110.0983"/>
  <p:tag name="ORIGTOP" val="101.8015"/>
  <p:tag name="ORIGHEIGHT" val="40.82528"/>
  <p:tag name="ORIGWIDTH" val="39.6844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LEFT" val="341.996"/>
  <p:tag name="ORIGTOP" val="158.5071"/>
  <p:tag name="ORIGHEIGHT" val="54.18331"/>
  <p:tag name="ORIGWIDTH" val="102.989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Master 1">
  <a:themeElements>
    <a:clrScheme name="Scheme1">
      <a:dk1>
        <a:srgbClr val="1F61AE"/>
      </a:dk1>
      <a:lt1>
        <a:srgbClr val="FFFFFF"/>
      </a:lt1>
      <a:dk2>
        <a:srgbClr val="FFFFFF"/>
      </a:dk2>
      <a:lt2>
        <a:srgbClr val="FFFFFF"/>
      </a:lt2>
      <a:accent1>
        <a:srgbClr val="1F61AE"/>
      </a:accent1>
      <a:accent2>
        <a:srgbClr val="42DFFF"/>
      </a:accent2>
      <a:accent3>
        <a:srgbClr val="1C94FF"/>
      </a:accent3>
      <a:accent4>
        <a:srgbClr val="4CB0EA"/>
      </a:accent4>
      <a:accent5>
        <a:srgbClr val="5F5F5F"/>
      </a:accent5>
      <a:accent6>
        <a:srgbClr val="4D4D4D"/>
      </a:accent6>
      <a:hlink>
        <a:srgbClr val="0000FF"/>
      </a:hlink>
      <a:folHlink>
        <a:srgbClr val="800080"/>
      </a:folHlink>
    </a:clrScheme>
    <a:fontScheme name="Custom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1F61AE"/>
        </a:dk1>
        <a:lt1>
          <a:srgbClr val="FFFFFF"/>
        </a:lt1>
        <a:dk2>
          <a:srgbClr val="FFFFFF"/>
        </a:dk2>
        <a:lt2>
          <a:srgbClr val="FFFFFF"/>
        </a:lt2>
        <a:accent1>
          <a:srgbClr val="1F61AE"/>
        </a:accent1>
        <a:accent2>
          <a:srgbClr val="42DFFF"/>
        </a:accent2>
        <a:accent3>
          <a:srgbClr val="1C94FF"/>
        </a:accent3>
        <a:accent4>
          <a:srgbClr val="4CB0EA"/>
        </a:accent4>
        <a:accent5>
          <a:srgbClr val="5F5F5F"/>
        </a:accent5>
        <a:accent6>
          <a:srgbClr val="4D4D4D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EN_5693KH_16x9_OF_v1.potx" id="{2B8EF242-36CF-40C5-BCBD-59546FBE9AC8}" vid="{1BE2BBF1-AC86-44B4-A130-46C2A360B7EB}"/>
    </a:ext>
  </a:extLst>
</a:theme>
</file>

<file path=ppt/theme/theme3.xml><?xml version="1.0" encoding="utf-8"?>
<a:theme xmlns:a="http://schemas.openxmlformats.org/drawingml/2006/main" name="1_CustomMaster 1">
  <a:themeElements>
    <a:clrScheme name="Scheme1">
      <a:dk1>
        <a:srgbClr val="1F61AE"/>
      </a:dk1>
      <a:lt1>
        <a:srgbClr val="FFFFFF"/>
      </a:lt1>
      <a:dk2>
        <a:srgbClr val="FFFFFF"/>
      </a:dk2>
      <a:lt2>
        <a:srgbClr val="FFFFFF"/>
      </a:lt2>
      <a:accent1>
        <a:srgbClr val="1F61AE"/>
      </a:accent1>
      <a:accent2>
        <a:srgbClr val="42DFFF"/>
      </a:accent2>
      <a:accent3>
        <a:srgbClr val="1C94FF"/>
      </a:accent3>
      <a:accent4>
        <a:srgbClr val="4CB0EA"/>
      </a:accent4>
      <a:accent5>
        <a:srgbClr val="5F5F5F"/>
      </a:accent5>
      <a:accent6>
        <a:srgbClr val="4D4D4D"/>
      </a:accent6>
      <a:hlink>
        <a:srgbClr val="0000FF"/>
      </a:hlink>
      <a:folHlink>
        <a:srgbClr val="800080"/>
      </a:folHlink>
    </a:clrScheme>
    <a:fontScheme name="Custom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1F61AE"/>
        </a:dk1>
        <a:lt1>
          <a:srgbClr val="FFFFFF"/>
        </a:lt1>
        <a:dk2>
          <a:srgbClr val="FFFFFF"/>
        </a:dk2>
        <a:lt2>
          <a:srgbClr val="FFFFFF"/>
        </a:lt2>
        <a:accent1>
          <a:srgbClr val="1F61AE"/>
        </a:accent1>
        <a:accent2>
          <a:srgbClr val="42DFFF"/>
        </a:accent2>
        <a:accent3>
          <a:srgbClr val="1C94FF"/>
        </a:accent3>
        <a:accent4>
          <a:srgbClr val="4CB0EA"/>
        </a:accent4>
        <a:accent5>
          <a:srgbClr val="5F5F5F"/>
        </a:accent5>
        <a:accent6>
          <a:srgbClr val="4D4D4D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EN_5693KH_16x9_OF_v1.potx" id="{2B8EF242-36CF-40C5-BCBD-59546FBE9AC8}" vid="{1BE2BBF1-AC86-44B4-A130-46C2A360B7EB}"/>
    </a:ext>
  </a:extLst>
</a:theme>
</file>

<file path=ppt/theme/theme4.xml><?xml version="1.0" encoding="utf-8"?>
<a:theme xmlns:a="http://schemas.openxmlformats.org/drawingml/2006/main" name="2_CustomMaster 1">
  <a:themeElements>
    <a:clrScheme name="Scheme1">
      <a:dk1>
        <a:srgbClr val="1F61AE"/>
      </a:dk1>
      <a:lt1>
        <a:srgbClr val="FFFFFF"/>
      </a:lt1>
      <a:dk2>
        <a:srgbClr val="FFFFFF"/>
      </a:dk2>
      <a:lt2>
        <a:srgbClr val="FFFFFF"/>
      </a:lt2>
      <a:accent1>
        <a:srgbClr val="1F61AE"/>
      </a:accent1>
      <a:accent2>
        <a:srgbClr val="42DFFF"/>
      </a:accent2>
      <a:accent3>
        <a:srgbClr val="1C94FF"/>
      </a:accent3>
      <a:accent4>
        <a:srgbClr val="4CB0EA"/>
      </a:accent4>
      <a:accent5>
        <a:srgbClr val="5F5F5F"/>
      </a:accent5>
      <a:accent6>
        <a:srgbClr val="4D4D4D"/>
      </a:accent6>
      <a:hlink>
        <a:srgbClr val="0000FF"/>
      </a:hlink>
      <a:folHlink>
        <a:srgbClr val="800080"/>
      </a:folHlink>
    </a:clrScheme>
    <a:fontScheme name="Custom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1F61AE"/>
        </a:dk1>
        <a:lt1>
          <a:srgbClr val="FFFFFF"/>
        </a:lt1>
        <a:dk2>
          <a:srgbClr val="FFFFFF"/>
        </a:dk2>
        <a:lt2>
          <a:srgbClr val="FFFFFF"/>
        </a:lt2>
        <a:accent1>
          <a:srgbClr val="1F61AE"/>
        </a:accent1>
        <a:accent2>
          <a:srgbClr val="42DFFF"/>
        </a:accent2>
        <a:accent3>
          <a:srgbClr val="1C94FF"/>
        </a:accent3>
        <a:accent4>
          <a:srgbClr val="4CB0EA"/>
        </a:accent4>
        <a:accent5>
          <a:srgbClr val="5F5F5F"/>
        </a:accent5>
        <a:accent6>
          <a:srgbClr val="4D4D4D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EN_5693KH_16x9_OF_v1.potx" id="{2B8EF242-36CF-40C5-BCBD-59546FBE9AC8}" vid="{1BE2BBF1-AC86-44B4-A130-46C2A360B7EB}"/>
    </a:ext>
  </a:extLst>
</a:theme>
</file>

<file path=ppt/theme/theme5.xml><?xml version="1.0" encoding="utf-8"?>
<a:theme xmlns:a="http://schemas.openxmlformats.org/drawingml/2006/main" name="3_CustomMaster 1">
  <a:themeElements>
    <a:clrScheme name="Scheme1">
      <a:dk1>
        <a:srgbClr val="1F61AE"/>
      </a:dk1>
      <a:lt1>
        <a:srgbClr val="FFFFFF"/>
      </a:lt1>
      <a:dk2>
        <a:srgbClr val="FFFFFF"/>
      </a:dk2>
      <a:lt2>
        <a:srgbClr val="FFFFFF"/>
      </a:lt2>
      <a:accent1>
        <a:srgbClr val="1F61AE"/>
      </a:accent1>
      <a:accent2>
        <a:srgbClr val="42DFFF"/>
      </a:accent2>
      <a:accent3>
        <a:srgbClr val="1C94FF"/>
      </a:accent3>
      <a:accent4>
        <a:srgbClr val="4CB0EA"/>
      </a:accent4>
      <a:accent5>
        <a:srgbClr val="5F5F5F"/>
      </a:accent5>
      <a:accent6>
        <a:srgbClr val="4D4D4D"/>
      </a:accent6>
      <a:hlink>
        <a:srgbClr val="0000FF"/>
      </a:hlink>
      <a:folHlink>
        <a:srgbClr val="800080"/>
      </a:folHlink>
    </a:clrScheme>
    <a:fontScheme name="Custom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1F61AE"/>
        </a:dk1>
        <a:lt1>
          <a:srgbClr val="FFFFFF"/>
        </a:lt1>
        <a:dk2>
          <a:srgbClr val="FFFFFF"/>
        </a:dk2>
        <a:lt2>
          <a:srgbClr val="FFFFFF"/>
        </a:lt2>
        <a:accent1>
          <a:srgbClr val="1F61AE"/>
        </a:accent1>
        <a:accent2>
          <a:srgbClr val="42DFFF"/>
        </a:accent2>
        <a:accent3>
          <a:srgbClr val="1C94FF"/>
        </a:accent3>
        <a:accent4>
          <a:srgbClr val="4CB0EA"/>
        </a:accent4>
        <a:accent5>
          <a:srgbClr val="5F5F5F"/>
        </a:accent5>
        <a:accent6>
          <a:srgbClr val="4D4D4D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EN_5693KH_16x9_OF_v1.potx" id="{2B8EF242-36CF-40C5-BCBD-59546FBE9AC8}" vid="{1BE2BBF1-AC86-44B4-A130-46C2A360B7EB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3786</TotalTime>
  <Words>2067</Words>
  <Application>Microsoft Office PowerPoint</Application>
  <PresentationFormat>Widescreen</PresentationFormat>
  <Paragraphs>407</Paragraphs>
  <Slides>26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6" baseType="lpstr">
      <vt:lpstr>Arial</vt:lpstr>
      <vt:lpstr>Calibri</vt:lpstr>
      <vt:lpstr>Calibri Light</vt:lpstr>
      <vt:lpstr>Georgia</vt:lpstr>
      <vt:lpstr>Segoe UI</vt:lpstr>
      <vt:lpstr>Tahoma</vt:lpstr>
      <vt:lpstr>Tahoma (Body)</vt:lpstr>
      <vt:lpstr>Theinhardt Pan Light</vt:lpstr>
      <vt:lpstr>Theinhardt Pan Medium</vt:lpstr>
      <vt:lpstr>Times</vt:lpstr>
      <vt:lpstr>Verdana</vt:lpstr>
      <vt:lpstr>Verdana Pro</vt:lpstr>
      <vt:lpstr>Verdana Pro Light</vt:lpstr>
      <vt:lpstr>Wingdings</vt:lpstr>
      <vt:lpstr>Office Theme</vt:lpstr>
      <vt:lpstr>CustomMaster 1</vt:lpstr>
      <vt:lpstr>1_CustomMaster 1</vt:lpstr>
      <vt:lpstr>2_CustomMaster 1</vt:lpstr>
      <vt:lpstr>3_CustomMaster 1</vt:lpstr>
      <vt:lpstr>think-cell Slide</vt:lpstr>
      <vt:lpstr>Big Data Journey of ABB</vt:lpstr>
      <vt:lpstr>WHY the journey started ?</vt:lpstr>
      <vt:lpstr>Business Context &amp; Drivers</vt:lpstr>
      <vt:lpstr>Vision &amp; Objectives</vt:lpstr>
      <vt:lpstr>Legacy Data Landscape</vt:lpstr>
      <vt:lpstr>Architecture Evolution</vt:lpstr>
      <vt:lpstr>Business-Aligned Data Marts &amp; Golden Layer</vt:lpstr>
      <vt:lpstr>Three steps to design domain data mart</vt:lpstr>
      <vt:lpstr>Self Service allows to accelerate reporting process up to 8 times and provide interactive capabilities</vt:lpstr>
      <vt:lpstr>PowerPoint Presentation</vt:lpstr>
      <vt:lpstr>Challenges in Business Data Mart Calculations</vt:lpstr>
      <vt:lpstr>Legacy Data Landscape before transformation</vt:lpstr>
      <vt:lpstr>Data lake provides us a low-cost big data processing and data storage capability, whereas data warehouse still remains important to serve as a refined data store accessible to all bank users </vt:lpstr>
      <vt:lpstr>Data Lake vs Data Warehouse in detail</vt:lpstr>
      <vt:lpstr>Data Governance, Security &amp; Access Control</vt:lpstr>
      <vt:lpstr>We created ABB AI Factory to unify the missing components, and initiated Self Service BI to close the gaps.</vt:lpstr>
      <vt:lpstr>PowerPoint Presentation</vt:lpstr>
      <vt:lpstr>Outcomes &amp; Value Delivered</vt:lpstr>
      <vt:lpstr>Future Roadmap </vt:lpstr>
      <vt:lpstr>ALIK</vt:lpstr>
      <vt:lpstr>Overall tech stack landscape</vt:lpstr>
      <vt:lpstr>Overall tech stack landscape</vt:lpstr>
      <vt:lpstr>Data Governance stack landscape</vt:lpstr>
      <vt:lpstr>Comparison of data virtualization tools</vt:lpstr>
      <vt:lpstr>Avro is best used for data ingestion while Parquet works better for complex analytical processing due to higher compression rate and performance</vt:lpstr>
      <vt:lpstr>Building an Enterprise Data Model requires 3 phases of data modeling: conceptual, logical and physical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ABB Data Warehouse</dc:title>
  <dc:creator>Samir Hacizada</dc:creator>
  <cp:lastModifiedBy>Samir Hacizada</cp:lastModifiedBy>
  <cp:revision>30</cp:revision>
  <dcterms:created xsi:type="dcterms:W3CDTF">2026-02-17T10:32:54Z</dcterms:created>
  <dcterms:modified xsi:type="dcterms:W3CDTF">2026-02-21T14:43:49Z</dcterms:modified>
</cp:coreProperties>
</file>